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acc145ae4448df" /><Relationship Type="http://schemas.openxmlformats.org/officeDocument/2006/relationships/extended-properties" Target="/docProps/app.xml" Id="R29f5db9358e647a6" /><Relationship Type="http://schemas.openxmlformats.org/officeDocument/2006/relationships/officeDocument" Target="/ppt/presentation.xml" Id="Rc5205c9991664b4d" /></Relationships>
</file>

<file path=ppt/presentation.xml><?xml version="1.0" encoding="utf-8"?>
<p:presentation xmlns:p="http://schemas.openxmlformats.org/presentationml/2006/main">
  <p:sldMasterIdLst>
    <p:sldMasterId xmlns:r="http://schemas.openxmlformats.org/officeDocument/2006/relationships" id="2147483648" r:id="Rce95e830fef246cd"/>
  </p:sldMasterIdLst>
  <p:notesMasterIdLst>
    <p:notesMasterId xmlns:r="http://schemas.openxmlformats.org/officeDocument/2006/relationships" r:id="Rf3eed56723fa4404"/>
  </p:notesMasterIdLst>
  <p:sldIdLst>
    <p:sldId xmlns:r="http://schemas.openxmlformats.org/officeDocument/2006/relationships" id="256" r:id="Ra926c6f593a445fd"/>
    <p:sldId xmlns:r="http://schemas.openxmlformats.org/officeDocument/2006/relationships" id="257" r:id="Re6aaa6c31cbf47a1"/>
    <p:sldId xmlns:r="http://schemas.openxmlformats.org/officeDocument/2006/relationships" id="258" r:id="Rdaea61bf40f24ae8"/>
    <p:sldId xmlns:r="http://schemas.openxmlformats.org/officeDocument/2006/relationships" id="259" r:id="R10c19894946f4dd7"/>
    <p:sldId xmlns:r="http://schemas.openxmlformats.org/officeDocument/2006/relationships" id="260" r:id="Rce94b8e5b9514dfd"/>
    <p:sldId xmlns:r="http://schemas.openxmlformats.org/officeDocument/2006/relationships" id="261" r:id="R2a872122f9694c9e"/>
    <p:sldId xmlns:r="http://schemas.openxmlformats.org/officeDocument/2006/relationships" id="262" r:id="Re10dc4c9cb714376"/>
    <p:sldId xmlns:r="http://schemas.openxmlformats.org/officeDocument/2006/relationships" id="263" r:id="Rb402a503d635436f"/>
    <p:sldId xmlns:r="http://schemas.openxmlformats.org/officeDocument/2006/relationships" id="264" r:id="Rcc9abb0574c34a4b"/>
    <p:sldId xmlns:r="http://schemas.openxmlformats.org/officeDocument/2006/relationships" id="265" r:id="R93ad86908e0045c2"/>
    <p:sldId xmlns:r="http://schemas.openxmlformats.org/officeDocument/2006/relationships" id="266" r:id="R5479578b4c3f4885"/>
    <p:sldId xmlns:r="http://schemas.openxmlformats.org/officeDocument/2006/relationships" id="267" r:id="R263afbb9874c4a33"/>
    <p:sldId xmlns:r="http://schemas.openxmlformats.org/officeDocument/2006/relationships" id="268" r:id="R407ac3f31a1f4b22"/>
    <p:sldId xmlns:r="http://schemas.openxmlformats.org/officeDocument/2006/relationships" id="269" r:id="R87e9643539e34726"/>
    <p:sldId xmlns:r="http://schemas.openxmlformats.org/officeDocument/2006/relationships" id="270" r:id="Rcf1f34fae0b44287"/>
    <p:sldId xmlns:r="http://schemas.openxmlformats.org/officeDocument/2006/relationships" id="271" r:id="R1ed01341dcd54272"/>
    <p:sldId xmlns:r="http://schemas.openxmlformats.org/officeDocument/2006/relationships" id="272" r:id="R44f6d81d9efe4f6c"/>
    <p:sldId xmlns:r="http://schemas.openxmlformats.org/officeDocument/2006/relationships" id="273" r:id="Re9f21979f34049bd"/>
    <p:sldId xmlns:r="http://schemas.openxmlformats.org/officeDocument/2006/relationships" id="274" r:id="R9d84c14e558b4783"/>
    <p:sldId xmlns:r="http://schemas.openxmlformats.org/officeDocument/2006/relationships" id="275" r:id="R191bd89b33824f37"/>
    <p:sldId xmlns:r="http://schemas.openxmlformats.org/officeDocument/2006/relationships" id="276" r:id="R0b887d89f2a94d5d"/>
    <p:sldId xmlns:r="http://schemas.openxmlformats.org/officeDocument/2006/relationships" id="277" r:id="Rd21d5cef8f8e4ed8"/>
    <p:sldId xmlns:r="http://schemas.openxmlformats.org/officeDocument/2006/relationships" id="278" r:id="R0b00a939a0a44886"/>
    <p:sldId xmlns:r="http://schemas.openxmlformats.org/officeDocument/2006/relationships" id="279" r:id="Rd724d15cbf674197"/>
    <p:sldId xmlns:r="http://schemas.openxmlformats.org/officeDocument/2006/relationships" id="280" r:id="R6f57bb77b2a446a1"/>
    <p:sldId xmlns:r="http://schemas.openxmlformats.org/officeDocument/2006/relationships" id="281" r:id="Rad6f2e9c9a5a4e2a"/>
    <p:sldId xmlns:r="http://schemas.openxmlformats.org/officeDocument/2006/relationships" id="282" r:id="R216909aa4e5d4868"/>
    <p:sldId xmlns:r="http://schemas.openxmlformats.org/officeDocument/2006/relationships" id="283" r:id="R52458be8dae14bd8"/>
    <p:sldId xmlns:r="http://schemas.openxmlformats.org/officeDocument/2006/relationships" id="284" r:id="R32612351e719417a"/>
    <p:sldId xmlns:r="http://schemas.openxmlformats.org/officeDocument/2006/relationships" id="285" r:id="Rb69da3357e0d4072"/>
    <p:sldId xmlns:r="http://schemas.openxmlformats.org/officeDocument/2006/relationships" id="286" r:id="Re2227934fe7b446e"/>
    <p:sldId xmlns:r="http://schemas.openxmlformats.org/officeDocument/2006/relationships" id="287" r:id="Rc3dd20f3090141c7"/>
    <p:sldId xmlns:r="http://schemas.openxmlformats.org/officeDocument/2006/relationships" id="288" r:id="R0ab661460015486f"/>
    <p:sldId xmlns:r="http://schemas.openxmlformats.org/officeDocument/2006/relationships" id="289" r:id="R0c33a58e1d774a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e4c70734cd4ea0" /><Relationship Type="http://schemas.openxmlformats.org/officeDocument/2006/relationships/slideMaster" Target="/ppt/slideMasters/slideMaster1.xml" Id="Rce95e830fef246cd" /><Relationship Type="http://schemas.openxmlformats.org/officeDocument/2006/relationships/notesMaster" Target="/ppt/notesMasters/notesMaster1.xml" Id="Rf3eed56723fa4404" /><Relationship Type="http://schemas.openxmlformats.org/officeDocument/2006/relationships/presProps" Target="/ppt/presProps.xml" Id="Rcf5fc2e672844659" /><Relationship Type="http://schemas.openxmlformats.org/officeDocument/2006/relationships/tableStyles" Target="/ppt/tableStyles.xml" Id="R6ebdf76c6e834ddb" /><Relationship Type="http://schemas.openxmlformats.org/officeDocument/2006/relationships/slide" Target="/ppt/slides/slide1.xml" Id="Ra926c6f593a445fd" /><Relationship Type="http://schemas.openxmlformats.org/officeDocument/2006/relationships/slide" Target="/ppt/slides/slide2.xml" Id="Re6aaa6c31cbf47a1" /><Relationship Type="http://schemas.openxmlformats.org/officeDocument/2006/relationships/slide" Target="/ppt/slides/slide3.xml" Id="Rdaea61bf40f24ae8" /><Relationship Type="http://schemas.openxmlformats.org/officeDocument/2006/relationships/slide" Target="/ppt/slides/slide4.xml" Id="R10c19894946f4dd7" /><Relationship Type="http://schemas.openxmlformats.org/officeDocument/2006/relationships/slide" Target="/ppt/slides/slide5.xml" Id="Rce94b8e5b9514dfd" /><Relationship Type="http://schemas.openxmlformats.org/officeDocument/2006/relationships/slide" Target="/ppt/slides/slide6.xml" Id="R2a872122f9694c9e" /><Relationship Type="http://schemas.openxmlformats.org/officeDocument/2006/relationships/slide" Target="/ppt/slides/slide7.xml" Id="Re10dc4c9cb714376" /><Relationship Type="http://schemas.openxmlformats.org/officeDocument/2006/relationships/slide" Target="/ppt/slides/slide8.xml" Id="Rb402a503d635436f" /><Relationship Type="http://schemas.openxmlformats.org/officeDocument/2006/relationships/slide" Target="/ppt/slides/slide9.xml" Id="Rcc9abb0574c34a4b" /><Relationship Type="http://schemas.openxmlformats.org/officeDocument/2006/relationships/slide" Target="/ppt/slides/slide10.xml" Id="R93ad86908e0045c2" /><Relationship Type="http://schemas.openxmlformats.org/officeDocument/2006/relationships/slide" Target="/ppt/slides/slide11.xml" Id="R5479578b4c3f4885" /><Relationship Type="http://schemas.openxmlformats.org/officeDocument/2006/relationships/slide" Target="/ppt/slides/slide12.xml" Id="R263afbb9874c4a33" /><Relationship Type="http://schemas.openxmlformats.org/officeDocument/2006/relationships/slide" Target="/ppt/slides/slide13.xml" Id="R407ac3f31a1f4b22" /><Relationship Type="http://schemas.openxmlformats.org/officeDocument/2006/relationships/slide" Target="/ppt/slides/slide14.xml" Id="R87e9643539e34726" /><Relationship Type="http://schemas.openxmlformats.org/officeDocument/2006/relationships/slide" Target="/ppt/slides/slide15.xml" Id="Rcf1f34fae0b44287" /><Relationship Type="http://schemas.openxmlformats.org/officeDocument/2006/relationships/slide" Target="/ppt/slides/slide16.xml" Id="R1ed01341dcd54272" /><Relationship Type="http://schemas.openxmlformats.org/officeDocument/2006/relationships/slide" Target="/ppt/slides/slide17.xml" Id="R44f6d81d9efe4f6c" /><Relationship Type="http://schemas.openxmlformats.org/officeDocument/2006/relationships/slide" Target="/ppt/slides/slide18.xml" Id="Re9f21979f34049bd" /><Relationship Type="http://schemas.openxmlformats.org/officeDocument/2006/relationships/slide" Target="/ppt/slides/slide19.xml" Id="R9d84c14e558b4783" /><Relationship Type="http://schemas.openxmlformats.org/officeDocument/2006/relationships/slide" Target="/ppt/slides/slide20.xml" Id="R191bd89b33824f37" /><Relationship Type="http://schemas.openxmlformats.org/officeDocument/2006/relationships/slide" Target="/ppt/slides/slide21.xml" Id="R0b887d89f2a94d5d" /><Relationship Type="http://schemas.openxmlformats.org/officeDocument/2006/relationships/slide" Target="/ppt/slides/slide22.xml" Id="Rd21d5cef8f8e4ed8" /><Relationship Type="http://schemas.openxmlformats.org/officeDocument/2006/relationships/slide" Target="/ppt/slides/slide23.xml" Id="R0b00a939a0a44886" /><Relationship Type="http://schemas.openxmlformats.org/officeDocument/2006/relationships/slide" Target="/ppt/slides/slide24.xml" Id="Rd724d15cbf674197" /><Relationship Type="http://schemas.openxmlformats.org/officeDocument/2006/relationships/slide" Target="/ppt/slides/slide25.xml" Id="R6f57bb77b2a446a1" /><Relationship Type="http://schemas.openxmlformats.org/officeDocument/2006/relationships/slide" Target="/ppt/slides/slide26.xml" Id="Rad6f2e9c9a5a4e2a" /><Relationship Type="http://schemas.openxmlformats.org/officeDocument/2006/relationships/slide" Target="/ppt/slides/slide27.xml" Id="R216909aa4e5d4868" /><Relationship Type="http://schemas.openxmlformats.org/officeDocument/2006/relationships/slide" Target="/ppt/slides/slide28.xml" Id="R52458be8dae14bd8" /><Relationship Type="http://schemas.openxmlformats.org/officeDocument/2006/relationships/slide" Target="/ppt/slides/slide29.xml" Id="R32612351e719417a" /><Relationship Type="http://schemas.openxmlformats.org/officeDocument/2006/relationships/slide" Target="/ppt/slides/slide30.xml" Id="Rb69da3357e0d4072" /><Relationship Type="http://schemas.openxmlformats.org/officeDocument/2006/relationships/slide" Target="/ppt/slides/slide31.xml" Id="Re2227934fe7b446e" /><Relationship Type="http://schemas.openxmlformats.org/officeDocument/2006/relationships/slide" Target="/ppt/slides/slide32.xml" Id="Rc3dd20f3090141c7" /><Relationship Type="http://schemas.openxmlformats.org/officeDocument/2006/relationships/slide" Target="/ppt/slides/slide33.xml" Id="R0ab661460015486f" /><Relationship Type="http://schemas.openxmlformats.org/officeDocument/2006/relationships/slide" Target="/ppt/slides/slide34.xml" Id="R0c33a58e1d774a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ae465c63a948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70c1b596d548af" /><Relationship Type="http://schemas.openxmlformats.org/officeDocument/2006/relationships/notesMaster" Target="/ppt/notesMasters/notesMaster1.xml" Id="R50339c48779141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e8b2a239804169" /><Relationship Type="http://schemas.openxmlformats.org/officeDocument/2006/relationships/notesMaster" Target="/ppt/notesMasters/notesMaster1.xml" Id="Rdeef59cd0fac46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d33c00128446ab" /><Relationship Type="http://schemas.openxmlformats.org/officeDocument/2006/relationships/notesMaster" Target="/ppt/notesMasters/notesMaster1.xml" Id="Ra0be84dcd64e45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7b5964346d47c8" /><Relationship Type="http://schemas.openxmlformats.org/officeDocument/2006/relationships/notesMaster" Target="/ppt/notesMasters/notesMaster1.xml" Id="R2d4fc7b2a21c45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6d61168b0547d9" /><Relationship Type="http://schemas.openxmlformats.org/officeDocument/2006/relationships/notesMaster" Target="/ppt/notesMasters/notesMaster1.xml" Id="R350d8eedaf884e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e464ef2e9647b0" /><Relationship Type="http://schemas.openxmlformats.org/officeDocument/2006/relationships/notesMaster" Target="/ppt/notesMasters/notesMaster1.xml" Id="R1bb8c2e12d9b49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929308a90841b9" /><Relationship Type="http://schemas.openxmlformats.org/officeDocument/2006/relationships/notesMaster" Target="/ppt/notesMasters/notesMaster1.xml" Id="Ra14bb931915041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b88fdb6f194893" /><Relationship Type="http://schemas.openxmlformats.org/officeDocument/2006/relationships/notesMaster" Target="/ppt/notesMasters/notesMaster1.xml" Id="R83bc7185771f40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055e23c2f0457a" /><Relationship Type="http://schemas.openxmlformats.org/officeDocument/2006/relationships/notesMaster" Target="/ppt/notesMasters/notesMaster1.xml" Id="R42f8be45ee0f4e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b26ef0805b4899" /><Relationship Type="http://schemas.openxmlformats.org/officeDocument/2006/relationships/notesMaster" Target="/ppt/notesMasters/notesMaster1.xml" Id="R2aa1905337704f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a797a7dae04cac" /><Relationship Type="http://schemas.openxmlformats.org/officeDocument/2006/relationships/notesMaster" Target="/ppt/notesMasters/notesMaster1.xml" Id="R00c0f4013b1c49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e0cca5c1c34218" /><Relationship Type="http://schemas.openxmlformats.org/officeDocument/2006/relationships/notesMaster" Target="/ppt/notesMasters/notesMaster1.xml" Id="R34a59986d76447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c0fecc9d9841e4" /><Relationship Type="http://schemas.openxmlformats.org/officeDocument/2006/relationships/notesMaster" Target="/ppt/notesMasters/notesMaster1.xml" Id="Reb31c53c60eb427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6b07540fcf4ac8" /><Relationship Type="http://schemas.openxmlformats.org/officeDocument/2006/relationships/notesMaster" Target="/ppt/notesMasters/notesMaster1.xml" Id="Rddbbbbfac3c641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23fc6271a294c94" /><Relationship Type="http://schemas.openxmlformats.org/officeDocument/2006/relationships/notesMaster" Target="/ppt/notesMasters/notesMaster1.xml" Id="R0c3a2ca0eb6f48e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dbbb861425a4128" /><Relationship Type="http://schemas.openxmlformats.org/officeDocument/2006/relationships/notesMaster" Target="/ppt/notesMasters/notesMaster1.xml" Id="Rd2e61d71fbae4f4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472d2a668064f4d" /><Relationship Type="http://schemas.openxmlformats.org/officeDocument/2006/relationships/notesMaster" Target="/ppt/notesMasters/notesMaster1.xml" Id="R331a0dda32254ea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72de56a54284651" /><Relationship Type="http://schemas.openxmlformats.org/officeDocument/2006/relationships/notesMaster" Target="/ppt/notesMasters/notesMaster1.xml" Id="R1664b665a8bf43d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b214232de34494f" /><Relationship Type="http://schemas.openxmlformats.org/officeDocument/2006/relationships/notesMaster" Target="/ppt/notesMasters/notesMaster1.xml" Id="R2d6ec6fd3ac7469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45951e84c154a79" /><Relationship Type="http://schemas.openxmlformats.org/officeDocument/2006/relationships/notesMaster" Target="/ppt/notesMasters/notesMaster1.xml" Id="R5cb5c7be9765464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6dfa7e6340741a6" /><Relationship Type="http://schemas.openxmlformats.org/officeDocument/2006/relationships/notesMaster" Target="/ppt/notesMasters/notesMaster1.xml" Id="R289d00b4e08d428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ca0211b14934e96" /><Relationship Type="http://schemas.openxmlformats.org/officeDocument/2006/relationships/notesMaster" Target="/ppt/notesMasters/notesMaster1.xml" Id="Rb78b2567c589462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e19cc64827847bf" /><Relationship Type="http://schemas.openxmlformats.org/officeDocument/2006/relationships/notesMaster" Target="/ppt/notesMasters/notesMaster1.xml" Id="R1c5a570ea2714dc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6a558c3b6914935" /><Relationship Type="http://schemas.openxmlformats.org/officeDocument/2006/relationships/notesMaster" Target="/ppt/notesMasters/notesMaster1.xml" Id="R7b73a40069b84ad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562489895264900" /><Relationship Type="http://schemas.openxmlformats.org/officeDocument/2006/relationships/notesMaster" Target="/ppt/notesMasters/notesMaster1.xml" Id="R7bfc4b1ce65e47d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71f8f72038f476d" /><Relationship Type="http://schemas.openxmlformats.org/officeDocument/2006/relationships/notesMaster" Target="/ppt/notesMasters/notesMaster1.xml" Id="R45482bd97d1c426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facf95a89114a5c" /><Relationship Type="http://schemas.openxmlformats.org/officeDocument/2006/relationships/notesMaster" Target="/ppt/notesMasters/notesMaster1.xml" Id="R5965c10989c841b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6d3e55eace048aa" /><Relationship Type="http://schemas.openxmlformats.org/officeDocument/2006/relationships/notesMaster" Target="/ppt/notesMasters/notesMaster1.xml" Id="Rdcdf4d0766cb4e5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8d8b3092e3a41a3" /><Relationship Type="http://schemas.openxmlformats.org/officeDocument/2006/relationships/notesMaster" Target="/ppt/notesMasters/notesMaster1.xml" Id="R0ab56fef9b2e466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ca7c6a28c5b43c7" /><Relationship Type="http://schemas.openxmlformats.org/officeDocument/2006/relationships/notesMaster" Target="/ppt/notesMasters/notesMaster1.xml" Id="Rd8c22427f2ff49d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c8ef96f6add4f78" /><Relationship Type="http://schemas.openxmlformats.org/officeDocument/2006/relationships/notesMaster" Target="/ppt/notesMasters/notesMaster1.xml" Id="R8506ecd8be764d0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e43da829e7e4a36" /><Relationship Type="http://schemas.openxmlformats.org/officeDocument/2006/relationships/notesMaster" Target="/ppt/notesMasters/notesMaster1.xml" Id="R6cec69fdbe3043c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4792bb1a1d847f7" /><Relationship Type="http://schemas.openxmlformats.org/officeDocument/2006/relationships/notesMaster" Target="/ppt/notesMasters/notesMaster1.xml" Id="R5a085a92bff44ed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3e97034212d4d7a" /><Relationship Type="http://schemas.openxmlformats.org/officeDocument/2006/relationships/notesMaster" Target="/ppt/notesMasters/notesMaster1.xml" Id="R78a53d18b6da4d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Dynamic programming solves problems by expressing their answers through smaller subproblems and storing results that will be needed again. Three structures occur frequently: a position in a sequence, a contiguous interval, and a rooted subtree. These structures determine what a state needs to remember and which answers must be available before it can be computed. We will examine increasing subsequences and common subsequences, then use interval states to choose parentheses for matrix multiplication. Finally, we will select a maximum weight independent set in a tree. Each example begins with the meaning of its state. The recurrence follows from the legal choices, and the evaluation order follows from the dependencies. We will also recover the actual sequence, expression, or selected vertices, because the optimal value alone does not identify the solution. The same questions apply throughout: what information does this subproblem need, which choices cover all valid solutions, and why can smaller optimal answers be combined?</a:t>
            </a:r>
          </a:p>
          <a:p xmlns:a="http://schemas.openxmlformats.org/drawingml/2006/main">
            <a:r>
              <a:t/>
            </a:r>
          </a:p>
          <a:p xmlns:a="http://schemas.openxmlformats.org/drawingml/2006/main">
            <a:r>
              <a:t>Sources: Lecture 8; CLRS 4e, §14.3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complete dynamic programming solution includes a precise state definition, a recurrence, base cases, an evaluation order, and the location of the final answer. When the required output is a sequence or a set rather than its value, the solution also needs reconstruction. Correctness can be established by induction in the dependency order. Each transition must construct a legal solution, and every optimal solution must correspond to a choice considered by that transition. For matrix chains, the final multiplication determines the split. For a common subsequence, the final characters determine the two cases. For a tree, the choice at the subtree root determines which child states are allowed. Chapter fourteen of Introduction to Algorithms develops these ideas through rod cutting, matrix-chain multiplication, and longest common subsequences. The company-party problem gives a tree application. Fibonacci and zero-one knapsack provide additional examples of how repeated subproblems and state restrictions affect the implementation.</a:t>
            </a:r>
          </a:p>
          <a:p xmlns:a="http://schemas.openxmlformats.org/drawingml/2006/main">
            <a:r>
              <a:t/>
            </a:r>
          </a:p>
          <a:p xmlns:a="http://schemas.openxmlformats.org/drawingml/2006/main">
            <a:r>
              <a:t>Sources: Lecture 8; CLRS 4e, §14.3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Dynamic programming is useful when a problem can be expressed using smaller subproblems and those subproblems recur. Optimal substructure means that, once a relevant choice is fixed, the remaining parts can use their own optimal solutions. We must justify this property rather than assume it. Overlap means that separate branches of a recursive search ask the same question again. Saving the answer prevents repeated work. Compare this with merge sort. Its two recursive calls work on separate halves, and there is normally no repeated request for the same half within one run. A dynamic programming recurrence often forms a directed acyclic graph of dependencies. This connects directly to topological ordering. A state is sufficient only when two situations with that same state have the same possible future decisions and the same relevant outcome. If capacity affects future choices, for example, the state must include capacity. A table alone does not make an algorithm correct or efficient.</a:t>
            </a:r>
          </a:p>
          <a:p xmlns:a="http://schemas.openxmlformats.org/drawingml/2006/main">
            <a:r>
              <a:t/>
            </a:r>
          </a:p>
          <a:p xmlns:a="http://schemas.openxmlformats.org/drawingml/2006/main">
            <a:r>
              <a:t>Sources: Lecture 8; CLRS 4e, §14.3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Fibonacci numbers, with zero as the zeroth value and one as the first. To compute the fifth value recursively, we request the fourth and third. Computing the fourth requests the third again. The same duplication continues at smaller indices. A memoized function checks whether an answer already exists before making recursive calls. A bottom-up version fills the values in increasing index order. Both compute only a linear number of distinct states, with constant work per state under a fixed-width arithmetic model. The naive recursive method takes exponential time, while these versions take linear time. For the fifth value, the table is zero, one, one, two, three, five. This is a warm-up, not the main intellectual challenge. Fibonacci already gives us the recurrence. In more interesting problems, deciding what the state should mean is the difficult part. Also remember that fixed-width Java integers eventually overflow. If we use arbitrary precision numbers, arithmetic cost grows with the number of bits.</a:t>
            </a:r>
          </a:p>
          <a:p xmlns:a="http://schemas.openxmlformats.org/drawingml/2006/main">
            <a:r>
              <a:t/>
            </a:r>
          </a:p>
          <a:p xmlns:a="http://schemas.openxmlformats.org/drawingml/2006/main">
            <a:r>
              <a:t>Sources: Lecture 8; CLRS 4e, §14.3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two common ways to evaluate the same recurrence. Memoization keeps a recursive description and stores completed answers. It can avoid states that are never reached, but it needs a call stack and a reliable way to distinguish a missing entry from a valid answer. Zero is often a valid answer, so a separate visited flag can be useful. Tabulation chooses a valid order in advance and fills a table with loops. It avoids recursive call overhead and often makes memory compression easier. However, it may also compute states that memoization never needs. Therefore, we should not claim that tabulation is always faster or always uses less memory. These are implementation trade-offs. For either approach, correctness depends on the same state definition and recurrence. Before changing one implementation into the other, list the dependencies of a state. The loop order must make those dependencies available. For interval problems that usually means increasing interval length. For a rooted tree it means processing children before their parent.</a:t>
            </a:r>
          </a:p>
          <a:p xmlns:a="http://schemas.openxmlformats.org/drawingml/2006/main">
            <a:r>
              <a:t/>
            </a:r>
          </a:p>
          <a:p xmlns:a="http://schemas.openxmlformats.org/drawingml/2006/main">
            <a:r>
              <a:t>Sources: Lecture 8; CLRS 4e, §14.3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specification we will use for every example. First, define the state in words, including exactly which input elements it covers and which restrictions apply. Second, list the choices that can produce a valid solution and turn them into a recurrence. Third, handle the smallest subproblems with explicit base cases. Fourth, choose an evaluation order and explain why every dependency is ready. Fifth, locate the answer to the original problem. Sometimes it is the last table entry, but sometimes it is the maximum over many entries. Sixth, decide whether we need an actual sequence, a parenthesization, or a set of selected nodes. These outputs require reconstruction information or an appropriate backtracking procedure. Finally, justify correctness and analyze time and memory. A useful time estimate is the number of states multiplied by the amount of work per state, with separate accounting when the work varies. You should be able to apply this checklist before writing any loops.</a:t>
            </a:r>
          </a:p>
          <a:p xmlns:a="http://schemas.openxmlformats.org/drawingml/2006/main">
            <a:r>
              <a:t/>
            </a:r>
          </a:p>
          <a:p xmlns:a="http://schemas.openxmlformats.org/drawingml/2006/main">
            <a:r>
              <a:t>Sources: Lecture 8; CLRS 4e, §14.3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patterns differ mainly in the structure of their states. In longest increasing subsequence, one useful state records the best subsequence ending at a particular position. In longest common subsequence, the state uses a pair of prefix lengths, because the answer depends on two strings. In matrix-chain multiplication, the natural question is the cheapest way to evaluate a contiguous interval of matrices. In tree independent set, a state refers to a rooted subtree and records whether its root is selected. Notice that the dimensions of the table come from the information the subproblem needs. They are not arbitrary choices. A two-dimensional table can represent two prefixes, two interval boundaries, or a node and a binary condition. Those meanings require different transitions and different orders. A problem can first be classified by writing its state definition. Recognizing a familiar pattern helps, but the definition must still match the exact problem.</a:t>
            </a:r>
          </a:p>
          <a:p xmlns:a="http://schemas.openxmlformats.org/drawingml/2006/main">
            <a:r>
              <a:t/>
            </a:r>
          </a:p>
          <a:p xmlns:a="http://schemas.openxmlformats.org/drawingml/2006/main">
            <a:r>
              <a:t>Sources: Lecture 8; CLRS 4e, §14.3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deriving a recurrence, we need to understand the object we are choosing. A subsequence preserves the order of the original elements, but it may skip positions. A substring uses consecutive positions. In the string A B C D E, A C E is a subsequence because we can keep positions one, three, and five. It is not a substring because those positions are separated. C D is both a substring and a subsequence. E A is neither, because it reverses the order. This distinction changes algorithms. Longest common substring uses a recurrence that resets a value after a mismatch. Longest common subsequence can skip a character and keep the best result from a neighboring prefix state. Ask yourself whether the problem allows gaps before choosing a formula. For our examples, an empty subsequence is allowed, and repeated letters are distinct positions. We match positions in increasing order even when their character values are equal.</a:t>
            </a:r>
          </a:p>
          <a:p xmlns:a="http://schemas.openxmlformats.org/drawingml/2006/main">
            <a:r>
              <a:t/>
            </a:r>
          </a:p>
          <a:p xmlns:a="http://schemas.openxmlformats.org/drawingml/2006/main">
            <a:r>
              <a:t>Sources: Lecture 8, slides 5–10; CLRS 4e, §14.4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find a strictly increasing subsequence in the array three, one, two, five, four. We define dp at index i as the length of the longest increasing subsequence ending exactly at that index. The phrase ending exactly here is essential. It means the current element must belong to the subsequence. To extend an earlier solution, we choose an earlier index j whose value is strictly smaller than the current value. Appending the current element then adds one to the length stored at j. We take the best such predecessor. If no predecessor works, the element alone gives length one. The final answer is the maximum entry of the array, because the best subsequence may end anywhere. It is not automatically the last entry. For empty input we return length zero. Strict increase uses a less-than comparison. Replacing it with less-than-or-equal solves the different problem of longest nondecreasing subsequence, which treats equal adjacent values differently.</a:t>
            </a:r>
          </a:p>
          <a:p xmlns:a="http://schemas.openxmlformats.org/drawingml/2006/main">
            <a:r>
              <a:t/>
            </a:r>
          </a:p>
          <a:p xmlns:a="http://schemas.openxmlformats.org/drawingml/2006/main">
            <a:r>
              <a:t>Sources: Lecture 8, slides 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evaluate the array from left to right. At index zero, value three has no earlier predecessor, so its length is one. At index one, value one cannot extend three, so its length is also one. At index two, value two can extend one and reaches length two. At index three, value five can extend the subsequence one, two, reaching length three. At index four, value four can also extend one, two and reaches length three. It cannot extend five because four is smaller. Our table is therefore one, one, two, three, three. Several optimal answers can exist, and a correct implementation may reconstruct either one, two, five or one, two, four. Now predict the result for three, three, three. A strictly increasing subsequence has length one. For a decreasing array the answer is also one, provided the array is nonempty. These are useful tests for the comparison and initialization rules.</a:t>
            </a:r>
          </a:p>
          <a:p xmlns:a="http://schemas.openxmlformats.org/drawingml/2006/main">
            <a:r>
              <a:t/>
            </a:r>
          </a:p>
          <a:p xmlns:a="http://schemas.openxmlformats.org/drawingml/2006/main">
            <a:r>
              <a:t>Sources: Lecture 8, slides 5–7; original 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length table does not directly contain a chosen subsequence. To reconstruct one, initialize a parent array with minus one. Whenever an earlier index j improves the best length ending at i, store j as the parent of i. After filling the table, find an index with maximum length and follow its parent links until the sentinel minus one. We collect values in reverse order, so we reverse the collected list before returning it. In our example, choosing the last maximum gives indices four, two, one in reverse. Their values become one, two, four after reversal. Different tie rules may produce a different optimal subsequence, so tests should normally check its length, increasing order, and whether it is a subsequence of the input. The double loop takes quadratic time, and the two arrays use linear memory. A binary search method reduces the time to n log n, but its tails array has a different meaning.</a:t>
            </a:r>
          </a:p>
          <a:p xmlns:a="http://schemas.openxmlformats.org/drawingml/2006/main">
            <a:r>
              <a:t/>
            </a:r>
          </a:p>
          <a:p xmlns:a="http://schemas.openxmlformats.org/drawingml/2006/main">
            <a:r>
              <a:t>Sources: Lecture 8, slides 5–7; original Java excerpt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Longest common subsequence compares two sequences. Our first string is A B C D E and the second is A C E. We define L at i, j as the length of a longest common subsequence between the first i characters of A and the first j characters of B. We use half-open prefix notation, so a prefix of length i ends just before index i. This makes the empty prefix natural. The table has one extra row and one extra column. Row zero and column zero contain zeros because an empty sequence has no nonempty common subsequence with any other sequence. The original problem is the table entry at the two full lengths. We are not requiring the current last characters to appear in the answer, which is different from our LIS state. Keep this difference in mind when locating the result. In this simple example, A C E is common to both strings and has length three.</a:t>
            </a:r>
          </a:p>
          <a:p xmlns:a="http://schemas.openxmlformats.org/drawingml/2006/main">
            <a:r>
              <a:t/>
            </a:r>
          </a:p>
          <a:p xmlns:a="http://schemas.openxmlformats.org/drawingml/2006/main">
            <a:r>
              <a:t>Sources: Lecture 8, slides 8–10; CLRS 4e, §14.4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derive the LCS recurrence, compare the last characters of the two prefixes. If they are equal, we can extend an optimal common subsequence of the two shorter prefixes by this matching character. The value is one plus the diagonal entry. If the characters differ, a common subsequence cannot use both as its final matching pair. At least one of these final positions is unused. We therefore consider skipping the last position of A or skipping the last position of B, and take the larger answer. These choices cover all possibilities for an optimal solution. The base cases handle either empty prefix. A row-by-row evaluation from small indices to large indices makes the diagonal, above, and left dependencies available. Notice that a mismatch does not reset the answer to zero. Resetting would discard useful subsequences containing earlier matches. That rule belongs to the longest common substring problem, where consecutive positions are required. Write the state sentence beside the recurrence to keep these problems separate.</a:t>
            </a:r>
          </a:p>
          <a:p xmlns:a="http://schemas.openxmlformats.org/drawingml/2006/main">
            <a:r>
              <a:t/>
            </a:r>
          </a:p>
          <a:p xmlns:a="http://schemas.openxmlformats.org/drawingml/2006/main">
            <a:r>
              <a:t>Sources: Lecture 8, slides 8–10; CLRS 4e, §14.4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fill the complete table for our two strings. The first row and first column are zero. Comparing A with A gives one, and that value remains available as the second prefix grows. On the row for B, no new character matches the current characters of A C E, so the best value stays one. On the row for C and column for C, we add one to the diagonal value one, obtaining two. At the next column we keep that value even though C and E differ. The row for D also preserves the best length two. Finally, E matches E and extends the diagonal length two to three. The bottom-right entry is three. Before looking at the finished row, predict the value at the D row and E column. It is two, representing the common subsequence A C. This table is a record of prefix questions, so every entry has a concrete interpretation beyond its number.</a:t>
            </a:r>
          </a:p>
          <a:p xmlns:a="http://schemas.openxmlformats.org/drawingml/2006/main">
            <a:r>
              <a:t/>
            </a:r>
          </a:p>
          <a:p xmlns:a="http://schemas.openxmlformats.org/drawingml/2006/main">
            <a:r>
              <a:t>Sources: Lecture 8, slide 10; CLRS 4e, §14.4; computed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recover a longest common subsequence, start at the bottom-right corner of the full table. When the two current characters match, record that character and move diagonally to the shorter prefixes. When they do not match, move toward an above or left neighbor that retains the optimal value. Continue until one prefix becomes empty. For our example, we record E, later C, and finally A. Reversing these characters gives A C E. A tie between the above and left values means that more than one optimal route may exist. A deterministic implementation can prefer one direction, but it should not claim that its resulting string is the only answer. The classic textbook example A B C B D A B and B D C A B A has optimal length four and several possible answers. If we compress the table to two rows, the length is still available, but this simple backtracking procedure loses information. Reconstruction requires retaining decisions or using a different method.</a:t>
            </a:r>
          </a:p>
          <a:p xmlns:a="http://schemas.openxmlformats.org/drawingml/2006/main">
            <a:r>
              <a:t/>
            </a:r>
          </a:p>
          <a:p xmlns:a="http://schemas.openxmlformats.org/drawingml/2006/main">
            <a:r>
              <a:t>Sources: CLRS 4e, §14.4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Java fragment directly implements the prefix definition. We allocate n plus one rows and m plus one columns. Java initializes primitive integer arrays to zero, giving the required boundary conditions. The loops begin at one because row zero and column zero already represent empty prefixes. To access a character, subtract one from its prefix length. On a match, use the diagonal value plus one. Otherwise, take the maximum from above and left. The answer is L at n, m. Each table cell uses constant work, so there are order n times m operations and the full table uses the same order of memory. If we only need the length, we can keep the previous row and current row, giving linear memory in the shorter string length. That optimization should follow a correct full-table implementation. These examples use Latin characters. Java char values are UTF-sixteen code units, so a general Unicode application may require code-point processing.</a:t>
            </a:r>
          </a:p>
          <a:p xmlns:a="http://schemas.openxmlformats.org/drawingml/2006/main">
            <a:r>
              <a:t/>
            </a:r>
          </a:p>
          <a:p xmlns:a="http://schemas.openxmlformats.org/drawingml/2006/main">
            <a:r>
              <a:t>Sources: CLRS 4e, §14.4; original Java excerpt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sequence problems include edit distance and longest palindromic subsequence. For edit distance with unit costs, an empty prefix needs one insertion per character of the other prefix. The boundary values are therefore i and j, not all zeros. Each interior state considers deletion, insertion, and replacement or matching. For longest palindromic subsequence, the state refers to an interval within one string. A single character has length one, and an empty interval has length zero. Matching endpoints can contribute two plus the interior answer. Different endpoints require skipping one side and taking the maximum. This example also shows that pattern categories overlap. A problem about a subsequence can use interval states. We choose the state according to dependencies, not according to one keyword in the problem title. In each new problem, derive the bases again instead of copying them from LCS.</a:t>
            </a:r>
          </a:p>
          <a:p xmlns:a="http://schemas.openxmlformats.org/drawingml/2006/main">
            <a:r>
              <a:t/>
            </a:r>
          </a:p>
          <a:p xmlns:a="http://schemas.openxmlformats.org/drawingml/2006/main">
            <a:r>
              <a:t>Sources: Lecture 8, slide 8; CLRS problem 14-2 and problem 14-5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Zero-one knapsack gives another example of choosing or skipping. Suppose the weights are two, three, and four, the values are three, four, and five, and the capacity is five. Selecting the first two items gives weight five and value seven. Define K at i, c as the maximum total value using the first i items with total weight at most c. We can skip the current item and keep the previous row at capacity c. If it fits, we can take it and add its value to the previous row at the remaining capacity. Using the previous row prevents selecting the same item again. The zero-item row is zero when selecting nothing is allowed. With positive integer weights, the time is order n times capacity. This is pseudopolynomial because capacity can be much larger than the number of bits used to write it. Dynamic programming does not automatically guarantee polynomial time in input length.</a:t>
            </a:r>
          </a:p>
          <a:p xmlns:a="http://schemas.openxmlformats.org/drawingml/2006/main">
            <a:r>
              <a:t/>
            </a:r>
          </a:p>
          <a:p xmlns:a="http://schemas.openxmlformats.org/drawingml/2006/main">
            <a:r>
              <a:t>Sources: Syllabus week 8 practice; CLRS 4e, exercise 15.2-2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consider memory compression for zero-one knapsack. If we store only one array, we must ensure that the remaining-capacity value still refers to the previous item stage. Processing capacities from high to low achieves this. A smaller capacity has not yet been updated for the current item, so reading it cannot reuse that item. If we process capacities upward, we may read a value already improved by the same item, accidentally implementing repeated selection. A tiny counterexample makes the issue visible. Take one item of weight two and value three with capacity four. The zero-one optimum is three because we have only one item. An ascending loop first writes three at capacity two, then reads that new value when it reaches capacity four and produces six. That is wrong for zero-one knapsack. The same issue occurs in other compressed recurrences: memory compression changes which time stage a table entry represents, so loop direction becomes part of the correctness argument.</a:t>
            </a:r>
          </a:p>
          <a:p xmlns:a="http://schemas.openxmlformats.org/drawingml/2006/main">
            <a:r>
              <a:t/>
            </a:r>
          </a:p>
          <a:p xmlns:a="http://schemas.openxmlformats.org/drawingml/2006/main">
            <a:r>
              <a:t>Sources: Syllabus week 8 practice; original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next pattern chooses a split inside an interval. Matrix multiplication is associative, so different parenthesizations give the same mathematical product, provided the dimensions are compatible. However, intermediate matrix sizes can change the number of scalar multiplications dramatically. Multiplying a matrix with p rows and q columns by one with q rows and r columns costs p times q times r scalar multiplications using the standard algorithm. Matrix-chain optimization chooses parentheses while preserving the original matrix order. It does not reorder the matrices, and it does not compute the matrix entries themselves. Think of it as planning a computation before executing it. The output can be a minimum cost and an expression describing the order of operations. We will start with three matrices, where there are just two parenthesizations, then generalize to an interval state. The final multiplication always splits the chain into a left contiguous part and a right contiguous part.</a:t>
            </a:r>
          </a:p>
          <a:p xmlns:a="http://schemas.openxmlformats.org/drawingml/2006/main">
            <a:r>
              <a:t/>
            </a:r>
          </a:p>
          <a:p xmlns:a="http://schemas.openxmlformats.org/drawingml/2006/main">
            <a:r>
              <a:t>Sources: Lecture 8, slides 11–14; CLRS 4e, §14.2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calculate both possibilities rather than accept the answer on faith. For open parenthesis A B close parenthesis C, the first multiplication costs ten times thirty times five, which is fifteen hundred. Its result has ten rows and five columns. Multiplying that result by C costs ten times five times sixty, which is three thousand. The total is forty-five hundred. For A open parenthesis B C close parenthesis, the first multiplication costs thirty times five times sixty, which is nine thousand, and creates a thirty by sixty matrix. Multiplying A by that matrix costs ten times thirty times sixty, or eighteen thousand. The total is twenty-seven thousand. Both expressions have the same final dimensions, but one uses six times as many scalar multiplications. Before moving on, identify the dimensions of each intermediate result yourself. That check explains why the transition cost depends on the two interval boundaries and the chosen split.</a:t>
            </a:r>
          </a:p>
          <a:p xmlns:a="http://schemas.openxmlformats.org/drawingml/2006/main">
            <a:r>
              <a:t/>
            </a:r>
          </a:p>
          <a:p xmlns:a="http://schemas.openxmlformats.org/drawingml/2006/main">
            <a:r>
              <a:t>Sources: CLRS 4e, §14.2; original 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one-based matrix indices and an array of dimensions p. Matrix i has dimensions p at i minus one by p at i. Define M at i, j as the minimum cost of multiplying matrices i through j. In the final operation, some split k separates matrices i through k from matrices k plus one through j. The left and right parts must themselves use optimal parenthesizations; otherwise, replacing a more expensive part would improve the full expression. Their result dimensions are p at i minus one by p at k, and p at k by p at j. Combining them therefore costs the product of these three dimensions. We try every k from i through j minus one and choose the minimum total. The base case M at i, i is zero. We compute shorter intervals first. With quadratic many intervals and up to linear many splits each, the time is cubic and memory is quadratic.</a:t>
            </a:r>
          </a:p>
          <a:p xmlns:a="http://schemas.openxmlformats.org/drawingml/2006/main">
            <a:r>
              <a:t/>
            </a:r>
          </a:p>
          <a:p xmlns:a="http://schemas.openxmlformats.org/drawingml/2006/main">
            <a:r>
              <a:t>Sources: Lecture 8, slides 11–14; CLRS 4e, §14.2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dimensions forty, twenty, thirty, ten, thirty. These define four matrices. First solve intervals of length two. Their costs are twenty-four thousand, six thousand, and nine thousand. For matrices one through three, splitting after the first costs fourteen thousand, while splitting after the second costs thirty-six thousand. We keep fourteen thousand. For matrices two through four, the best cost is twelve thousand. Now consider the complete chain. A final split after matrix one costs thirty-six thousand. A split after matrix two costs sixty-nine thousand. A split after matrix three costs twenty-six thousand, so it is the best. To reconstruct the expression, retain that split and recursively reconstruct both sides. The first three matrices use A one multiplied by the product of A two and A three. Then multiply by A four. The resulting expression has total cost twenty-six thousand. These intermediate values are useful for detecting dimension-index errors in an implementation.</a:t>
            </a:r>
          </a:p>
          <a:p xmlns:a="http://schemas.openxmlformats.org/drawingml/2006/main">
            <a:r>
              <a:t/>
            </a:r>
          </a:p>
          <a:p xmlns:a="http://schemas.openxmlformats.org/drawingml/2006/main">
            <a:r>
              <a:t>Sources: Lecture 8, slide 14; computed intermediate states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loop structure should express the dependency order visibly. The outer loop grows the interval length from two to the number of matrices. For each start index i, compute the end index j. Initialize the interval cost to a large value, then try every split k inside it. The diagonal entries remain zero, representing a single matrix. The fragment assumes positive compatible dimensions and that all intermediate costs fit a Java long. Writing one L before the product promotes the arithmetic before multiplication, preventing an accidental integer overflow in that expression. It does not protect against values exceeding the long range, so constraints still matter. A split array can record the k whenever a candidate improves the current minimum. A reconstruction procedure then returns a matrix name for a single-element interval and combines recursively reconstructed left and right expressions otherwise. Iterating intervals by arbitrary start and end indices without considering length can read values that have not yet been computed.</a:t>
            </a:r>
          </a:p>
          <a:p xmlns:a="http://schemas.openxmlformats.org/drawingml/2006/main">
            <a:r>
              <a:t/>
            </a:r>
          </a:p>
          <a:p xmlns:a="http://schemas.openxmlformats.org/drawingml/2006/main">
            <a:r>
              <a:t>Sources: CLRS 4e, §14.2; original Java excerpt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Another interval problem asks for the minimum cost to cut a stick at specified positions. A cut costs the length of the segment being cut at that moment. The order matters because later cuts may operate on shorter segments. Add the two endpoints to the sorted required positions. Define C at l, r as the minimum cost of completing all required cuts strictly inside that interval. If the endpoint indices are adjacent, there is no internal cut and the cost is zero. Otherwise, try each internal required position as the first cut. It costs the current segment length plus the optimal costs of the left and right intervals. For a stick of length ten with required cuts at four and seven, cutting at four first costs ten plus six, giving sixteen. Cutting at seven first costs ten plus seven, giving seventeen. In this example, the interval pattern is familiar, but the combine cost differs from matrix multiplication.</a:t>
            </a:r>
          </a:p>
          <a:p xmlns:a="http://schemas.openxmlformats.org/drawingml/2006/main">
            <a:r>
              <a:t/>
            </a:r>
          </a:p>
          <a:p xmlns:a="http://schemas.openxmlformats.org/drawingml/2006/main">
            <a:r>
              <a:t>Sources: Lecture 8, slide 12; original 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move from intervals to a hierarchy. Imagine a company party where each employee has a contribution to the event, represented by a weight. An employee and their immediate supervisor cannot both attend. The supervisor relation forms a tree, which is the setting of the textbook's company-party problem. In graph language, we want a maximum weight independent set of a tree. Independent means that no edge has both endpoints selected. A locally attractive employee is not necessarily part of the optimal global set, because choosing that employee can exclude valuable children. We root the tree and define subproblems for its subtrees. The key boundary information is whether the subtree's root is selected. That binary decision tells the parent what combinations are legal. Our worked example has root zero with weight five, children one and two with weights three and four, and nodes three and four below node one with weights six and one. We allow selecting no nodes.</a:t>
            </a:r>
          </a:p>
          <a:p xmlns:a="http://schemas.openxmlformats.org/drawingml/2006/main">
            <a:r>
              <a:t/>
            </a:r>
          </a:p>
          <a:p xmlns:a="http://schemas.openxmlformats.org/drawingml/2006/main">
            <a:r>
              <a:t>Sources: Lecture 8, slides 15–18; CLRS 4e, problem 14-6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take at u as the maximum total weight in u's subtree when u must be selected. Define skip at u as the maximum when u must be excluded. If we select u, every child must be excluded, so we add the child's skip value. If we exclude u, each child may be included or excluded, so we add the larger of its two states. For a leaf, take equals its weight and skip equals zero. After processing children before parents, the answer is the larger root state. The two states are necessary because one unconstrained best value would hide whether the child root was selected. The parent needs that information to enforce the edge restriction. On a tree, separate child subtrees have no edges between them, so their legal choices can be combined independently once the decision at u is fixed. That independence is the reason the recurrence works. It does not automatically extend to a general graph containing cycles or cross edges.</a:t>
            </a:r>
          </a:p>
          <a:p xmlns:a="http://schemas.openxmlformats.org/drawingml/2006/main">
            <a:r>
              <a:t/>
            </a:r>
          </a:p>
          <a:p xmlns:a="http://schemas.openxmlformats.org/drawingml/2006/main">
            <a:r>
              <a:t>Sources: Lecture 8, slides 15–18; CLRS 4e, problem 14-6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leaves. Node two has take four and skip zero. Node three has take six and skip zero. Node four has take one and skip zero. At node one, taking the node gives its own weight three plus zero from each excluded child. Skipping it lets us take both children, giving six plus one, or seven. Now compute root zero. Taking the root gives five plus skip one, which is seven, plus skip two, which is zero. The result is twelve. Skipping the root gives the best state of node one, seven, plus the best state of node two, four. The result is eleven. Therefore the optimum is twelve. One selected set is nodes zero, three, and four. They are pairwise nonadjacent and their weights sum to twelve. Notice that a selected grandparent and selected grandchild are permitted. The rule prohibits adjacent endpoints, not every pair related anywhere in the hierarchy.</a:t>
            </a:r>
          </a:p>
          <a:p xmlns:a="http://schemas.openxmlformats.org/drawingml/2006/main">
            <a:r>
              <a:t/>
            </a:r>
          </a:p>
          <a:p xmlns:a="http://schemas.openxmlformats.org/drawingml/2006/main">
            <a:r>
              <a:t>Sources: Lecture 8, slides 15–18; computed original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Computing the optimum weight is only part of the tree problem when a guest list is requested. Reconstruction starts at the root with no selected parent. If the parent of a node is selected, the node must be skipped. Otherwise, compare its take and skip values and choose a better state, using a documented tie rule if they are equal. Pass the resulting decision to each child. In our example, the root is selected because twelve exceeds eleven. Its children one and two must therefore be skipped. Since node one is skipped, nodes three and four are free to take their better states, and both are selected. The result is zero, three, four. Validation should check two independent properties: every selected pair is nonadjacent, and the sum of their weights equals the reported optimum. A correct weight with an illegal guest list is still an incorrect reconstructed solution. For tiny trees, exhaustive enumeration of all vertex subsets provides a useful independent reference.</a:t>
            </a:r>
          </a:p>
          <a:p xmlns:a="http://schemas.openxmlformats.org/drawingml/2006/main">
            <a:r>
              <a:t/>
            </a:r>
          </a:p>
          <a:p xmlns:a="http://schemas.openxmlformats.org/drawingml/2006/main">
            <a:r>
              <a:t>Sources: CLRS 4e, problem 14-6; original reconstruction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recursive depth-first traversal naturally computes children before their parent if we combine results after recursive calls. On a very deep tree, however, recursion can exceed Java's call-stack limit. An iterative alternative first roots the validated tree and records an order in which every parent appears before its children. Reversing that order puts all children before their parent. The displayed fragment assumes that this traversal and parent array already exist. For each node, initialize take to its weight and skip to zero. Then combine only neighbors whose parent is the current node. Each edge contributes constant work to the appropriate parent-child combination, giving linear time for the whole tree. The adjacency list, parent array, order, and state arrays use linear memory. If the input is an arbitrary graph, we must validate connectivity and the tree property rather than silently treating a spanning tree as the original problem. Discarding extra edges can produce an invalid independent set for the original graph.</a:t>
            </a:r>
          </a:p>
          <a:p xmlns:a="http://schemas.openxmlformats.org/drawingml/2006/main">
            <a:r>
              <a:t/>
            </a:r>
          </a:p>
          <a:p xmlns:a="http://schemas.openxmlformats.org/drawingml/2006/main">
            <a:r>
              <a:t>Sources: Lecture 8, slides 16–18; original Java excerpt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our examples share one correctness structure. Establish the base cases. Assume that the smaller states already have their intended optimal values. Show that every transition constructs a legal solution, and that every optimal solution has a final choice represented among the candidates. Taking the best candidate then gives the desired optimal value. The evaluation order supports this induction. For complexity, LIS has linear many end-index states but examines up to linear many predecessors for each, giving quadratic time. LCS has a product of the two prefix counts and constant work per state. Matrix chains have quadratic many intervals and up to linear many split positions. Tree DP has two states per node and total combination work proportional to the tree edges. Memory depends on the representation and whether reconstruction is required. The length-only LCS optimization does not preserve the full table used in our simple backtracking method. Always state what output the memory bound supports, rather than presenting a compressed bound without that qualification.</a:t>
            </a:r>
          </a:p>
          <a:p xmlns:a="http://schemas.openxmlformats.org/drawingml/2006/main">
            <a:r>
              <a:t/>
            </a:r>
          </a:p>
          <a:p xmlns:a="http://schemas.openxmlformats.org/drawingml/2006/main">
            <a:r>
              <a:t>Sources: Lecture 8, slides 19–22; CLRS 4e, chapter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Testing should challenge the state definition, not just repeat the main example. For LIS, test an empty array, one value, all equal values, and a decreasing array. For LCS, test either empty string, identical strings, no common character, and repeated characters with several optimal answers. For matrix chains, a single matrix must cost zero. Three matrices let us enumerate both possible parenthesizations by hand, and a four-matrix case exposes mistakes in interval order. For tree independent set, test a single node, a chain, a star, and negative weights when selecting nothing is allowed. Compare small random instances with a simple exhaustive solver. Reconstructed outputs need separate checks for feasibility and objective value. Also distinguish an unknown state from a valid zero answer, and avoid adding costs to an infinity sentinel. Before attempting memory optimization, make the straightforward version correct and inspect its table. A printed table for a five-element example often explains a failure more clearly than a large performance test.</a:t>
            </a:r>
          </a:p>
          <a:p xmlns:a="http://schemas.openxmlformats.org/drawingml/2006/main">
            <a:r>
              <a:t/>
            </a:r>
          </a:p>
          <a:p xmlns:a="http://schemas.openxmlformats.org/drawingml/2006/main">
            <a:r>
              <a:t>Sources: Lecture 8, slides 20–22; original test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state definition determines where the final answer is found. In longest increasing subsequence, the state requires the subsequence to end at a particular index. The full optimum can end anywhere, so we take the maximum across indices. In longest common subsequence, the state already allows arbitrary common subsequences of two prefixes. The answer for the full strings is therefore the entry for both complete prefixes. On a mismatch, skipping one final character preserves earlier matches, so the recurrence takes the best neighboring prefix value. Matrix-chain states depend on shorter intervals, which explains the increasing-length order. In a tree, the parent needs to know whether the child root is selected; take and skip preserve this boundary information. Reconstruction follows the decisions that attained the optimum. Its output must be checked for feasibility as well as objective value. These distinctions are useful when adapting a recurrence to a new problem rather than copying a formula unchanged.</a:t>
            </a:r>
          </a:p>
          <a:p xmlns:a="http://schemas.openxmlformats.org/drawingml/2006/main">
            <a:r>
              <a:t/>
            </a:r>
          </a:p>
          <a:p xmlns:a="http://schemas.openxmlformats.org/drawingml/2006/main">
            <a:r>
              <a:t>Sources: CLRS 4e, chapter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examples illustrate the same design process under different dependencies. Sequence states describe an ending position or a pair of prefixes. Interval states describe a contiguous range and consider a split. Tree states describe a subtree together with a condition at its root. The recurrence specifies how the smaller answers combine, while the base cases handle the smallest valid inputs. A suitable order makes every required answer available. Complexity follows from the number of states and the work spent evaluating their choices. Memory reductions must preserve the information required by the requested output. In particular, obtaining an optimal value and reconstructing a solution are separate requirements. The references include the dynamic programming chapter of Introduction to Algorithms and additional explanations of subsequences, matrix chains, and independent sets. To review a solution, state its subproblem in one sentence, derive its choices, and check a small example by hand before considering an optimization.</a:t>
            </a:r>
          </a:p>
          <a:p xmlns:a="http://schemas.openxmlformats.org/drawingml/2006/main">
            <a:r>
              <a:t/>
            </a:r>
          </a:p>
          <a:p xmlns:a="http://schemas.openxmlformats.org/drawingml/2006/main">
            <a:r>
              <a:t>Sources: https://ocw.mit.edu/courses/6-006-introduction-to-algorithms-spring-2020/resources/lecture-16-dynamic-programming-part-2-lcs-lis-coins/; https://www.youtube.com/watch?v=KLBCUx1is2c; https://www.youtube.com/watch?v=_WncuhSJZyA; https://www.youtube.com/watch?v=-yiKNcjcK0Y; https://www.youtube.com/watch?v=bKrRqJID_Dw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8f8c4ff46d465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98d9c31aee45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7c8958e01a345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18bcde26ed44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38ec0b0834241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778c2b26efe4b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76C9B6-5827-41F0-B0F3-6AD786562A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5599467-4198-49D7-BD28-A1859985A4E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2B6829B-91E7-4FAF-8E28-DA3C9029B3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6D4FA1-4C2C-436B-85C4-0F285C1EB6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6DAAA71-74AC-4EE7-B752-78CCC45368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34F396-2A77-4286-B46A-1E1B134BB6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A6092C-37FE-422C-BDDF-1F042C53CB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F775108-E818-4345-AA11-CD774C480D4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886908-67AF-4BA6-8B4F-0E7E1E8B29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8751B9-EE01-4FD5-B076-2E8CC96BE79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95fcf4416549c3" /><Relationship Type="http://schemas.openxmlformats.org/officeDocument/2006/relationships/slideLayout" Target="/ppt/slideLayouts/slideLayout1.xml" Id="R4db742f81486423f" /><Relationship Type="http://schemas.openxmlformats.org/officeDocument/2006/relationships/slideLayout" Target="/ppt/slideLayouts/slideLayout2.xml" Id="Rdc3aab95129e4805" /><Relationship Type="http://schemas.openxmlformats.org/officeDocument/2006/relationships/slideLayout" Target="/ppt/slideLayouts/slideLayout3.xml" Id="Rd8587babaaf24a09" /><Relationship Type="http://schemas.openxmlformats.org/officeDocument/2006/relationships/slideLayout" Target="/ppt/slideLayouts/slideLayout4.xml" Id="Rd4b13e19594f46da" /><Relationship Type="http://schemas.openxmlformats.org/officeDocument/2006/relationships/slideLayout" Target="/ppt/slideLayouts/slideLayout5.xml" Id="R2157a127204142d7" /><Relationship Type="http://schemas.openxmlformats.org/officeDocument/2006/relationships/slideLayout" Target="/ppt/slideLayouts/slideLayout6.xml" Id="Rc5a67dcdad454e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b742f81486423f"/>
    <p:sldLayoutId xmlns:r="http://schemas.openxmlformats.org/officeDocument/2006/relationships" id="2147483650" r:id="Rdc3aab95129e4805"/>
    <p:sldLayoutId xmlns:r="http://schemas.openxmlformats.org/officeDocument/2006/relationships" id="2147483651" r:id="Rd8587babaaf24a09"/>
    <p:sldLayoutId xmlns:r="http://schemas.openxmlformats.org/officeDocument/2006/relationships" id="2147483652" r:id="Rd4b13e19594f46da"/>
    <p:sldLayoutId xmlns:r="http://schemas.openxmlformats.org/officeDocument/2006/relationships" id="2147483653" r:id="R2157a127204142d7"/>
    <p:sldLayoutId xmlns:r="http://schemas.openxmlformats.org/officeDocument/2006/relationships" id="2147483654" r:id="Rc5a67dcdad454e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c682ea10fde46ef" /><Relationship Type="http://schemas.openxmlformats.org/officeDocument/2006/relationships/notesSlide" Target="/ppt/notesSlides/notesSlide1.xml" Id="R953185f76d5a4b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6d2965cf4a14a63" /><Relationship Type="http://schemas.openxmlformats.org/officeDocument/2006/relationships/notesSlide" Target="/ppt/notesSlides/notesSlide2.xml" Id="R14189bf04cbf47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123190b9f2c48d9" /><Relationship Type="http://schemas.openxmlformats.org/officeDocument/2006/relationships/notesSlide" Target="/ppt/notesSlides/notesSlide3.xml" Id="R7f878b833ced4f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0209a0a58824969" /><Relationship Type="http://schemas.openxmlformats.org/officeDocument/2006/relationships/notesSlide" Target="/ppt/notesSlides/notesSlide4.xml" Id="R71049010d33f45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6110a76fd8b49eb" /><Relationship Type="http://schemas.openxmlformats.org/officeDocument/2006/relationships/notesSlide" Target="/ppt/notesSlides/notesSlide5.xml" Id="Ra0a15ab9e15241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6b8ec2d80a45cb" /><Relationship Type="http://schemas.openxmlformats.org/officeDocument/2006/relationships/notesSlide" Target="/ppt/notesSlides/notesSlide6.xml" Id="R07d78aaa4fb542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39f0d2c9c1643fe" /><Relationship Type="http://schemas.openxmlformats.org/officeDocument/2006/relationships/notesSlide" Target="/ppt/notesSlides/notesSlide7.xml" Id="Rd1fdae10689543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7f845b0b2784a94" /><Relationship Type="http://schemas.openxmlformats.org/officeDocument/2006/relationships/notesSlide" Target="/ppt/notesSlides/notesSlide8.xml" Id="R8b98ca490597488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54f4ea69bf347e4" /><Relationship Type="http://schemas.openxmlformats.org/officeDocument/2006/relationships/notesSlide" Target="/ppt/notesSlides/notesSlide9.xml" Id="R1b232199e3df48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81e2d54fffd49d6" /><Relationship Type="http://schemas.openxmlformats.org/officeDocument/2006/relationships/notesSlide" Target="/ppt/notesSlides/notesSlide10.xml" Id="Rb372793e58c84a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fa22353e75b4cc8" /><Relationship Type="http://schemas.openxmlformats.org/officeDocument/2006/relationships/notesSlide" Target="/ppt/notesSlides/notesSlide11.xml" Id="R2ea8260ed59f4c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748968465744831" /><Relationship Type="http://schemas.openxmlformats.org/officeDocument/2006/relationships/notesSlide" Target="/ppt/notesSlides/notesSlide12.xml" Id="Ra22fa54a19b949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616b2e85c3f42f9" /><Relationship Type="http://schemas.openxmlformats.org/officeDocument/2006/relationships/notesSlide" Target="/ppt/notesSlides/notesSlide13.xml" Id="R11f39765178145d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ecc5ebb6b18402e" /><Relationship Type="http://schemas.openxmlformats.org/officeDocument/2006/relationships/notesSlide" Target="/ppt/notesSlides/notesSlide14.xml" Id="R869ea56102794f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bf98f165b4f4619" /><Relationship Type="http://schemas.openxmlformats.org/officeDocument/2006/relationships/notesSlide" Target="/ppt/notesSlides/notesSlide15.xml" Id="R69df2b69ad9c4cd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f772eb58417468d" /><Relationship Type="http://schemas.openxmlformats.org/officeDocument/2006/relationships/notesSlide" Target="/ppt/notesSlides/notesSlide16.xml" Id="Ra49c016b0c984d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5666ff804f64831" /><Relationship Type="http://schemas.openxmlformats.org/officeDocument/2006/relationships/notesSlide" Target="/ppt/notesSlides/notesSlide17.xml" Id="R7a6977516efd49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8b0b9dcaf1d4362" /><Relationship Type="http://schemas.openxmlformats.org/officeDocument/2006/relationships/notesSlide" Target="/ppt/notesSlides/notesSlide18.xml" Id="Re68890b53b684f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fae00dd6e404ec4" /><Relationship Type="http://schemas.openxmlformats.org/officeDocument/2006/relationships/notesSlide" Target="/ppt/notesSlides/notesSlide19.xml" Id="R1ac49690911e470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55faddb24574650" /><Relationship Type="http://schemas.openxmlformats.org/officeDocument/2006/relationships/notesSlide" Target="/ppt/notesSlides/notesSlide20.xml" Id="R58ca9836b720410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230bdb46d964847" /><Relationship Type="http://schemas.openxmlformats.org/officeDocument/2006/relationships/notesSlide" Target="/ppt/notesSlides/notesSlide21.xml" Id="R967fefaf5878429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65466c0b0404c88" /><Relationship Type="http://schemas.openxmlformats.org/officeDocument/2006/relationships/notesSlide" Target="/ppt/notesSlides/notesSlide22.xml" Id="Rbf3d32e723d54f8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c581f5911804a33" /><Relationship Type="http://schemas.openxmlformats.org/officeDocument/2006/relationships/notesSlide" Target="/ppt/notesSlides/notesSlide23.xml" Id="R76fd1d37274646d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328ff58c5a44b55" /><Relationship Type="http://schemas.openxmlformats.org/officeDocument/2006/relationships/notesSlide" Target="/ppt/notesSlides/notesSlide24.xml" Id="Rba5cdbf152684b1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39bbf4c404b4f76" /><Relationship Type="http://schemas.openxmlformats.org/officeDocument/2006/relationships/notesSlide" Target="/ppt/notesSlides/notesSlide25.xml" Id="R06391e742be241a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a43d23ff844485f" /><Relationship Type="http://schemas.openxmlformats.org/officeDocument/2006/relationships/notesSlide" Target="/ppt/notesSlides/notesSlide26.xml" Id="R50f6b10cb537441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c1f1b52591f4ed8" /><Relationship Type="http://schemas.openxmlformats.org/officeDocument/2006/relationships/notesSlide" Target="/ppt/notesSlides/notesSlide27.xml" Id="R2b2ab1e7ce01486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ca69b1b65a94fd9" /><Relationship Type="http://schemas.openxmlformats.org/officeDocument/2006/relationships/notesSlide" Target="/ppt/notesSlides/notesSlide28.xml" Id="Ra190da82672b47f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7ee6555cfc84d0f" /><Relationship Type="http://schemas.openxmlformats.org/officeDocument/2006/relationships/notesSlide" Target="/ppt/notesSlides/notesSlide29.xml" Id="R129d1498e94c43f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44043e09de7407b" /><Relationship Type="http://schemas.openxmlformats.org/officeDocument/2006/relationships/notesSlide" Target="/ppt/notesSlides/notesSlide30.xml" Id="R6507d5a9f39b4b1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39f7cd4181b4918" /><Relationship Type="http://schemas.openxmlformats.org/officeDocument/2006/relationships/notesSlide" Target="/ppt/notesSlides/notesSlide31.xml" Id="Reaba125ce50e471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7d68c99191a4c0c" /><Relationship Type="http://schemas.openxmlformats.org/officeDocument/2006/relationships/notesSlide" Target="/ppt/notesSlides/notesSlide32.xml" Id="R42c894ddd47848e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aba34157d1540f4" /><Relationship Type="http://schemas.openxmlformats.org/officeDocument/2006/relationships/notesSlide" Target="/ppt/notesSlides/notesSlide33.xml" Id="R53d8b5903d1b4ca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9fa6846da7f43d9" /><Relationship Type="http://schemas.openxmlformats.org/officeDocument/2006/relationships/hyperlink" Target="https://www.youtube.com/watch?v=KLBCUx1is2c" TargetMode="External" Id="Rbad9783bbf18497f" /><Relationship Type="http://schemas.openxmlformats.org/officeDocument/2006/relationships/hyperlink" Target="https://www.youtube.com/watch?v=_WncuhSJZyA" TargetMode="External" Id="Rcb1089ce9bbb4e58" /><Relationship Type="http://schemas.openxmlformats.org/officeDocument/2006/relationships/hyperlink" Target="https://www.youtube.com/watch?v=-yiKNcjcK0Y" TargetMode="External" Id="R1e44868326e64664" /><Relationship Type="http://schemas.openxmlformats.org/officeDocument/2006/relationships/hyperlink" Target="https://www.youtube.com/watch?v=bKrRqJID_Dw" TargetMode="External" Id="R5c3a6f577cdc4bed" /><Relationship Type="http://schemas.openxmlformats.org/officeDocument/2006/relationships/notesSlide" Target="/ppt/notesSlides/notesSlide34.xml" Id="R634e452f9e5b45d2" /></Relationships>
</file>

<file path=ppt/slides/slide1.xml><?xml version="1.0" encoding="utf-8"?>
<p:sld xmlns:p="http://schemas.openxmlformats.org/presentationml/2006/main">
  <p:cSld>
    <p:bg>
      <p:bgPr>
        <a:solidFill xmlns:a="http://schemas.openxmlformats.org/drawingml/2006/main">
          <a:srgbClr val="162D4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129A6ED-58B7-423F-BB5F-72EDD5D45FE8}"/>
              </a:ext>
            </a:extLst>
          </p:cNvPr>
          <p:cNvSpPr>
            <a:spLocks xmlns:a="http://schemas.openxmlformats.org/drawingml/2006/main" noGrp="1"/>
          </p:cNvSpPr>
          <p:nvPr/>
        </p:nvSpPr>
        <p:spPr>
          <a:xfrm xmlns:a="http://schemas.openxmlformats.org/drawingml/2006/main">
            <a:off x="685800" y="9144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F2C9DB"/>
                </a:solidFill>
                <a:latin typeface="Arial"/>
                <a:ea typeface="Arial"/>
                <a:cs typeface="Arial"/>
              </a:defRPr>
            </a:defPPr>
            <a:lvl1pPr>
              <a:defRPr sz="1875" b="1">
                <a:solidFill>
                  <a:srgbClr val="F2C9DB"/>
                </a:solidFill>
                <a:latin typeface="Arial"/>
                <a:ea typeface="Arial"/>
                <a:cs typeface="Arial"/>
              </a:defRPr>
            </a:lvl1pPr>
            <a:lvl2pPr>
              <a:defRPr sz="1875" b="1">
                <a:solidFill>
                  <a:srgbClr val="F2C9DB"/>
                </a:solidFill>
                <a:latin typeface="Arial"/>
                <a:ea typeface="Arial"/>
                <a:cs typeface="Arial"/>
              </a:defRPr>
            </a:lvl2pPr>
            <a:lvl3pPr>
              <a:defRPr sz="1875" b="1">
                <a:solidFill>
                  <a:srgbClr val="F2C9DB"/>
                </a:solidFill>
                <a:latin typeface="Arial"/>
                <a:ea typeface="Arial"/>
                <a:cs typeface="Arial"/>
              </a:defRPr>
            </a:lvl3pPr>
            <a:lvl4pPr>
              <a:defRPr sz="1875" b="1">
                <a:solidFill>
                  <a:srgbClr val="F2C9DB"/>
                </a:solidFill>
                <a:latin typeface="Arial"/>
                <a:ea typeface="Arial"/>
                <a:cs typeface="Arial"/>
              </a:defRPr>
            </a:lvl4pPr>
            <a:lvl5pPr>
              <a:defRPr sz="1875" b="1">
                <a:solidFill>
                  <a:srgbClr val="F2C9DB"/>
                </a:solidFill>
                <a:latin typeface="Arial"/>
                <a:ea typeface="Arial"/>
                <a:cs typeface="Arial"/>
              </a:defRPr>
            </a:lvl5pPr>
            <a:lvl6pPr>
              <a:defRPr sz="1875" b="1">
                <a:solidFill>
                  <a:srgbClr val="F2C9DB"/>
                </a:solidFill>
                <a:latin typeface="Arial"/>
                <a:ea typeface="Arial"/>
                <a:cs typeface="Arial"/>
              </a:defRPr>
            </a:lvl6pPr>
            <a:lvl7pPr>
              <a:defRPr sz="1875" b="1">
                <a:solidFill>
                  <a:srgbClr val="F2C9DB"/>
                </a:solidFill>
                <a:latin typeface="Arial"/>
                <a:ea typeface="Arial"/>
                <a:cs typeface="Arial"/>
              </a:defRPr>
            </a:lvl7pPr>
            <a:lvl8pPr>
              <a:defRPr sz="1875" b="1">
                <a:solidFill>
                  <a:srgbClr val="F2C9DB"/>
                </a:solidFill>
                <a:latin typeface="Arial"/>
                <a:ea typeface="Arial"/>
                <a:cs typeface="Arial"/>
              </a:defRPr>
            </a:lvl8pPr>
            <a:lvl9pPr>
              <a:defRPr sz="1875" b="1">
                <a:solidFill>
                  <a:srgbClr val="F2C9DB"/>
                </a:solidFill>
                <a:latin typeface="Arial"/>
                <a:ea typeface="Arial"/>
                <a:cs typeface="Arial"/>
              </a:defRPr>
            </a:lvl9pPr>
          </a:lstStyle>
          <a:p xmlns:a="http://schemas.openxmlformats.org/drawingml/2006/main">
            <a:pPr>
              <a:defRPr sz="1875" b="1">
                <a:solidFill>
                  <a:srgbClr val="F2C9DB"/>
                </a:solidFill>
                <a:latin typeface="Arial"/>
                <a:ea typeface="Arial"/>
                <a:cs typeface="Arial"/>
              </a:defRPr>
            </a:pPr>
            <a:r>
              <a:rPr sz="1875" b="1">
                <a:solidFill>
                  <a:srgbClr val="F2C9DB"/>
                </a:solidFill>
                <a:latin typeface="Arial"/>
                <a:ea typeface="Arial"/>
                <a:cs typeface="Arial"/>
              </a:rPr>
              <a:t>WEEK 8</a:t>
            </a:r>
          </a:p>
        </p:txBody>
      </p:sp>
      <p:sp>
        <p:nvSpPr>
          <p:cNvPr id="3" name="">
            <a:extLst xmlns:a="http://schemas.openxmlformats.org/drawingml/2006/main">
              <a:ext uri="{FF2B5EF4-FFF2-40B4-BE49-F238E27FC236}">
                <a16:creationId xmlns:a16="http://schemas.microsoft.com/office/drawing/2014/main" id="{A0EE3751-5942-4F17-ABA9-97907AACFF87}"/>
              </a:ext>
            </a:extLst>
          </p:cNvPr>
          <p:cNvSpPr>
            <a:spLocks xmlns:a="http://schemas.openxmlformats.org/drawingml/2006/main" noGrp="1"/>
          </p:cNvSpPr>
          <p:nvPr/>
        </p:nvSpPr>
        <p:spPr>
          <a:xfrm xmlns:a="http://schemas.openxmlformats.org/drawingml/2006/main">
            <a:off x="685800" y="1952625"/>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Dynamic programming patterns</a:t>
            </a:r>
          </a:p>
        </p:txBody>
      </p:sp>
      <p:sp>
        <p:nvSpPr>
          <p:cNvPr id="4" name="">
            <a:extLst xmlns:a="http://schemas.openxmlformats.org/drawingml/2006/main">
              <a:ext uri="{FF2B5EF4-FFF2-40B4-BE49-F238E27FC236}">
                <a16:creationId xmlns:a16="http://schemas.microsoft.com/office/drawing/2014/main" id="{EECB94C2-B405-4086-8570-1038BC82EAFF}"/>
              </a:ext>
            </a:extLst>
          </p:cNvPr>
          <p:cNvSpPr>
            <a:spLocks xmlns:a="http://schemas.openxmlformats.org/drawingml/2006/main" noGrp="1"/>
          </p:cNvSpPr>
          <p:nvPr/>
        </p:nvSpPr>
        <p:spPr>
          <a:xfrm xmlns:a="http://schemas.openxmlformats.org/drawingml/2006/main">
            <a:off x="685800" y="41433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FFFFFF"/>
                </a:solidFill>
                <a:latin typeface="Arial"/>
                <a:ea typeface="Arial"/>
                <a:cs typeface="Arial"/>
              </a:defRPr>
            </a:defPPr>
            <a:lvl1pPr>
              <a:defRPr sz="2550" b="0">
                <a:solidFill>
                  <a:srgbClr val="FFFFFF"/>
                </a:solidFill>
                <a:latin typeface="Arial"/>
                <a:ea typeface="Arial"/>
                <a:cs typeface="Arial"/>
              </a:defRPr>
            </a:lvl1pPr>
            <a:lvl2pPr>
              <a:defRPr sz="2550" b="0">
                <a:solidFill>
                  <a:srgbClr val="FFFFFF"/>
                </a:solidFill>
                <a:latin typeface="Arial"/>
                <a:ea typeface="Arial"/>
                <a:cs typeface="Arial"/>
              </a:defRPr>
            </a:lvl2pPr>
            <a:lvl3pPr>
              <a:defRPr sz="2550" b="0">
                <a:solidFill>
                  <a:srgbClr val="FFFFFF"/>
                </a:solidFill>
                <a:latin typeface="Arial"/>
                <a:ea typeface="Arial"/>
                <a:cs typeface="Arial"/>
              </a:defRPr>
            </a:lvl3pPr>
            <a:lvl4pPr>
              <a:defRPr sz="2550" b="0">
                <a:solidFill>
                  <a:srgbClr val="FFFFFF"/>
                </a:solidFill>
                <a:latin typeface="Arial"/>
                <a:ea typeface="Arial"/>
                <a:cs typeface="Arial"/>
              </a:defRPr>
            </a:lvl4pPr>
            <a:lvl5pPr>
              <a:defRPr sz="2550" b="0">
                <a:solidFill>
                  <a:srgbClr val="FFFFFF"/>
                </a:solidFill>
                <a:latin typeface="Arial"/>
                <a:ea typeface="Arial"/>
                <a:cs typeface="Arial"/>
              </a:defRPr>
            </a:lvl5pPr>
            <a:lvl6pPr>
              <a:defRPr sz="2550" b="0">
                <a:solidFill>
                  <a:srgbClr val="FFFFFF"/>
                </a:solidFill>
                <a:latin typeface="Arial"/>
                <a:ea typeface="Arial"/>
                <a:cs typeface="Arial"/>
              </a:defRPr>
            </a:lvl6pPr>
            <a:lvl7pPr>
              <a:defRPr sz="2550" b="0">
                <a:solidFill>
                  <a:srgbClr val="FFFFFF"/>
                </a:solidFill>
                <a:latin typeface="Arial"/>
                <a:ea typeface="Arial"/>
                <a:cs typeface="Arial"/>
              </a:defRPr>
            </a:lvl7pPr>
            <a:lvl8pPr>
              <a:defRPr sz="2550" b="0">
                <a:solidFill>
                  <a:srgbClr val="FFFFFF"/>
                </a:solidFill>
                <a:latin typeface="Arial"/>
                <a:ea typeface="Arial"/>
                <a:cs typeface="Arial"/>
              </a:defRPr>
            </a:lvl8pPr>
            <a:lvl9pPr>
              <a:defRPr sz="2550" b="0">
                <a:solidFill>
                  <a:srgbClr val="FFFFFF"/>
                </a:solidFill>
                <a:latin typeface="Arial"/>
                <a:ea typeface="Arial"/>
                <a:cs typeface="Arial"/>
              </a:defRPr>
            </a:lvl9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Subsequences, partitioning and trees</a:t>
            </a:r>
          </a:p>
        </p:txBody>
      </p:sp>
      <p:sp>
        <p:nvSpPr>
          <p:cNvPr id="5" name="">
            <a:extLst xmlns:a="http://schemas.openxmlformats.org/drawingml/2006/main">
              <a:ext uri="{FF2B5EF4-FFF2-40B4-BE49-F238E27FC236}">
                <a16:creationId xmlns:a16="http://schemas.microsoft.com/office/drawing/2014/main" id="{991D6A30-36FA-4D5D-8352-82461ED6080E}"/>
              </a:ext>
            </a:extLst>
          </p:cNvPr>
          <p:cNvSpPr>
            <a:spLocks xmlns:a="http://schemas.openxmlformats.org/drawingml/2006/main" noGrp="1"/>
          </p:cNvSpPr>
          <p:nvPr/>
        </p:nvSpPr>
        <p:spPr>
          <a:xfrm xmlns:a="http://schemas.openxmlformats.org/drawingml/2006/main">
            <a:off x="685800" y="59055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D4DFEA"/>
                </a:solidFill>
                <a:latin typeface="Arial"/>
                <a:ea typeface="Arial"/>
                <a:cs typeface="Arial"/>
              </a:defRPr>
            </a:defPPr>
            <a:lvl1pPr>
              <a:defRPr sz="1650" b="0">
                <a:solidFill>
                  <a:srgbClr val="D4DFEA"/>
                </a:solidFill>
                <a:latin typeface="Arial"/>
                <a:ea typeface="Arial"/>
                <a:cs typeface="Arial"/>
              </a:defRPr>
            </a:lvl1pPr>
            <a:lvl2pPr>
              <a:defRPr sz="1650" b="0">
                <a:solidFill>
                  <a:srgbClr val="D4DFEA"/>
                </a:solidFill>
                <a:latin typeface="Arial"/>
                <a:ea typeface="Arial"/>
                <a:cs typeface="Arial"/>
              </a:defRPr>
            </a:lvl2pPr>
            <a:lvl3pPr>
              <a:defRPr sz="1650" b="0">
                <a:solidFill>
                  <a:srgbClr val="D4DFEA"/>
                </a:solidFill>
                <a:latin typeface="Arial"/>
                <a:ea typeface="Arial"/>
                <a:cs typeface="Arial"/>
              </a:defRPr>
            </a:lvl3pPr>
            <a:lvl4pPr>
              <a:defRPr sz="1650" b="0">
                <a:solidFill>
                  <a:srgbClr val="D4DFEA"/>
                </a:solidFill>
                <a:latin typeface="Arial"/>
                <a:ea typeface="Arial"/>
                <a:cs typeface="Arial"/>
              </a:defRPr>
            </a:lvl4pPr>
            <a:lvl5pPr>
              <a:defRPr sz="1650" b="0">
                <a:solidFill>
                  <a:srgbClr val="D4DFEA"/>
                </a:solidFill>
                <a:latin typeface="Arial"/>
                <a:ea typeface="Arial"/>
                <a:cs typeface="Arial"/>
              </a:defRPr>
            </a:lvl5pPr>
            <a:lvl6pPr>
              <a:defRPr sz="1650" b="0">
                <a:solidFill>
                  <a:srgbClr val="D4DFEA"/>
                </a:solidFill>
                <a:latin typeface="Arial"/>
                <a:ea typeface="Arial"/>
                <a:cs typeface="Arial"/>
              </a:defRPr>
            </a:lvl6pPr>
            <a:lvl7pPr>
              <a:defRPr sz="1650" b="0">
                <a:solidFill>
                  <a:srgbClr val="D4DFEA"/>
                </a:solidFill>
                <a:latin typeface="Arial"/>
                <a:ea typeface="Arial"/>
                <a:cs typeface="Arial"/>
              </a:defRPr>
            </a:lvl7pPr>
            <a:lvl8pPr>
              <a:defRPr sz="1650" b="0">
                <a:solidFill>
                  <a:srgbClr val="D4DFEA"/>
                </a:solidFill>
                <a:latin typeface="Arial"/>
                <a:ea typeface="Arial"/>
                <a:cs typeface="Arial"/>
              </a:defRPr>
            </a:lvl8pPr>
            <a:lvl9pPr>
              <a:defRPr sz="1650" b="0">
                <a:solidFill>
                  <a:srgbClr val="D4DFEA"/>
                </a:solidFill>
                <a:latin typeface="Arial"/>
                <a:ea typeface="Arial"/>
                <a:cs typeface="Arial"/>
              </a:defRPr>
            </a:lvl9pPr>
          </a:lstStyle>
          <a:p xmlns:a="http://schemas.openxmlformats.org/drawingml/2006/main">
            <a:pPr>
              <a:defRPr sz="1650" b="0">
                <a:solidFill>
                  <a:srgbClr val="D4DFEA"/>
                </a:solidFill>
                <a:latin typeface="Arial"/>
                <a:ea typeface="Arial"/>
                <a:cs typeface="Arial"/>
              </a:defRPr>
            </a:pPr>
            <a:r>
              <a:rPr sz="1650" b="0">
                <a:solidFill>
                  <a:srgbClr val="D4DFEA"/>
                </a:solidFill>
                <a:latin typeface="Arial"/>
                <a:ea typeface="Arial"/>
                <a:cs typeface="Arial"/>
              </a:rPr>
              <a:t>Design and Analysis of Algorithms</a:t>
            </a:r>
          </a:p>
        </p:txBody>
      </p:sp>
    </p:spTree>
    <p:extLst>
      <p:ext uri="{BB962C8B-B14F-4D97-AF65-F5344CB8AC3E}">
        <p14:creationId xmlns:p14="http://schemas.microsoft.com/office/powerpoint/2010/main" val="12699189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EB0098-9ACF-4025-BF0D-B57A4DF8A85C}"/>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5FC997B1-DBB7-4791-B618-8A3463FBBF55}"/>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Learning outcomes and reading</a:t>
            </a:r>
          </a:p>
        </p:txBody>
      </p:sp>
      <p:sp>
        <p:nvSpPr>
          <p:cNvPr id="4" name="">
            <a:extLst xmlns:a="http://schemas.openxmlformats.org/drawingml/2006/main">
              <a:ext uri="{FF2B5EF4-FFF2-40B4-BE49-F238E27FC236}">
                <a16:creationId xmlns:a16="http://schemas.microsoft.com/office/drawing/2014/main" id="{31680A7A-C7C6-4E7B-B142-459793F58776}"/>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state has one precise meaning.</a:t>
            </a:r>
          </a:p>
        </p:txBody>
      </p:sp>
      <p:sp>
        <p:nvSpPr>
          <p:cNvPr id="5" name="">
            <a:extLst xmlns:a="http://schemas.openxmlformats.org/drawingml/2006/main">
              <a:ext uri="{FF2B5EF4-FFF2-40B4-BE49-F238E27FC236}">
                <a16:creationId xmlns:a16="http://schemas.microsoft.com/office/drawing/2014/main" id="{9EB11419-0B35-4542-98E9-2B06B7E7E0DA}"/>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recurrence covers all valid final choices.</a:t>
            </a:r>
          </a:p>
        </p:txBody>
      </p:sp>
      <p:sp>
        <p:nvSpPr>
          <p:cNvPr id="6" name="">
            <a:extLst xmlns:a="http://schemas.openxmlformats.org/drawingml/2006/main">
              <a:ext uri="{FF2B5EF4-FFF2-40B4-BE49-F238E27FC236}">
                <a16:creationId xmlns:a16="http://schemas.microsoft.com/office/drawing/2014/main" id="{5665D6B6-DC76-403D-A897-F5FFB34E84E1}"/>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computation order makes dependencies available.</a:t>
            </a:r>
          </a:p>
        </p:txBody>
      </p:sp>
      <p:graphicFrame>
        <p:nvGraphicFramePr>
          <p:cNvPr id="7" name="">
            <a:extLst xmlns:a="http://schemas.openxmlformats.org/drawingml/2006/main">
              <a:ext uri="{FF2B5EF4-FFF2-40B4-BE49-F238E27FC236}">
                <a16:creationId xmlns:a16="http://schemas.microsoft.com/office/drawing/2014/main" id="{DE1A8748-66BB-45D6-9A48-EF0A72928C1E}"/>
              </a:ext>
            </a:extLst>
          </p:cNvPr>
          <p:cNvGraphicFramePr/>
          <p:nvPr/>
        </p:nvGraphicFramePr>
        <p:xfrm>
          <a:off xmlns:a="http://schemas.openxmlformats.org/drawingml/2006/main" x="609600" y="3171825"/>
          <a:ext xmlns:a="http://schemas.openxmlformats.org/drawingml/2006/main" cx="10972800" cy="1828800"/>
        </p:xfrm>
        <a:graphic xmlns:a="http://schemas.openxmlformats.org/drawingml/2006/main">
          <a:graphicData uri="http://schemas.openxmlformats.org/drawingml/2006/table">
            <a:tbl>
              <a:tblPr/>
              <a:tblGrid>
                <a:gridCol w="3714750"/>
                <a:gridCol w="7258050"/>
              </a:tblGrid>
              <a:tr h="457200">
                <a:tc>
                  <a:txBody>
                    <a:bodyPr/>
                    <a:lstStyle/>
                    <a:p>
                      <a:r>
                        <a:rPr sz="1725" b="1">
                          <a:solidFill>
                            <a:srgbClr val="162D42"/>
                          </a:solidFill>
                          <a:latin typeface="Arial"/>
                          <a:ea typeface="Arial"/>
                          <a:cs typeface="Arial"/>
                        </a:rPr>
                        <a:t>Source</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Reading</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r>
              <a:tr h="457200">
                <a:tc>
                  <a:txBody>
                    <a:bodyPr/>
                    <a:lstStyle/>
                    <a:p>
                      <a:r>
                        <a:rPr sz="1725" b="0">
                          <a:solidFill>
                            <a:srgbClr val="162D42"/>
                          </a:solidFill>
                          <a:latin typeface="Arial"/>
                          <a:ea typeface="Arial"/>
                          <a:cs typeface="Arial"/>
                        </a:rPr>
                        <a:t>CLRS §14.2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Matrix chains, pp. 373–381</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CLRS §14.3–14.4</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DP principles and LCS, pp. 382–399</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CLRS problem 14-6</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Company party, p. 411</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9B71F8F6-7831-413F-B96B-4812AF8D8B8B}"/>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BE28B4E8-C12A-4249-A5B6-7E216B1452D8}"/>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02 / 34</a:t>
            </a:r>
          </a:p>
        </p:txBody>
      </p:sp>
    </p:spTree>
    <p:extLst>
      <p:ext uri="{BB962C8B-B14F-4D97-AF65-F5344CB8AC3E}">
        <p14:creationId xmlns:p14="http://schemas.microsoft.com/office/powerpoint/2010/main" val="4061184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A127EA6-179F-428B-B045-949778A6A078}"/>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23FC9A82-FC5B-4CB7-A920-607716A3EC70}"/>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Why stored answers help</a:t>
            </a:r>
          </a:p>
        </p:txBody>
      </p:sp>
      <p:sp>
        <p:nvSpPr>
          <p:cNvPr id="4" name="">
            <a:extLst xmlns:a="http://schemas.openxmlformats.org/drawingml/2006/main">
              <a:ext uri="{FF2B5EF4-FFF2-40B4-BE49-F238E27FC236}">
                <a16:creationId xmlns:a16="http://schemas.microsoft.com/office/drawing/2014/main" id="{8D634AE7-0D93-4BDF-A92B-B90530B8EDBA}"/>
              </a:ext>
            </a:extLst>
          </p:cNvPr>
          <p:cNvSpPr>
            <a:spLocks xmlns:a="http://schemas.openxmlformats.org/drawingml/2006/main" noGrp="1"/>
          </p:cNvSpPr>
          <p:nvPr/>
        </p:nvSpPr>
        <p:spPr>
          <a:xfrm xmlns:a="http://schemas.openxmlformats.org/drawingml/2006/main">
            <a:off x="609600" y="20764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1">
                <a:solidFill>
                  <a:srgbClr val="162D42"/>
                </a:solidFill>
                <a:latin typeface="Arial"/>
                <a:ea typeface="Arial"/>
                <a:cs typeface="Arial"/>
              </a:defRPr>
            </a:defPPr>
            <a:lvl1pPr>
              <a:defRPr sz="2550" b="1">
                <a:solidFill>
                  <a:srgbClr val="162D42"/>
                </a:solidFill>
                <a:latin typeface="Arial"/>
                <a:ea typeface="Arial"/>
                <a:cs typeface="Arial"/>
              </a:defRPr>
            </a:lvl1pPr>
            <a:lvl2pPr>
              <a:defRPr sz="2550" b="1">
                <a:solidFill>
                  <a:srgbClr val="162D42"/>
                </a:solidFill>
                <a:latin typeface="Arial"/>
                <a:ea typeface="Arial"/>
                <a:cs typeface="Arial"/>
              </a:defRPr>
            </a:lvl2pPr>
            <a:lvl3pPr>
              <a:defRPr sz="2550" b="1">
                <a:solidFill>
                  <a:srgbClr val="162D42"/>
                </a:solidFill>
                <a:latin typeface="Arial"/>
                <a:ea typeface="Arial"/>
                <a:cs typeface="Arial"/>
              </a:defRPr>
            </a:lvl3pPr>
            <a:lvl4pPr>
              <a:defRPr sz="2550" b="1">
                <a:solidFill>
                  <a:srgbClr val="162D42"/>
                </a:solidFill>
                <a:latin typeface="Arial"/>
                <a:ea typeface="Arial"/>
                <a:cs typeface="Arial"/>
              </a:defRPr>
            </a:lvl4pPr>
            <a:lvl5pPr>
              <a:defRPr sz="2550" b="1">
                <a:solidFill>
                  <a:srgbClr val="162D42"/>
                </a:solidFill>
                <a:latin typeface="Arial"/>
                <a:ea typeface="Arial"/>
                <a:cs typeface="Arial"/>
              </a:defRPr>
            </a:lvl5pPr>
            <a:lvl6pPr>
              <a:defRPr sz="2550" b="1">
                <a:solidFill>
                  <a:srgbClr val="162D42"/>
                </a:solidFill>
                <a:latin typeface="Arial"/>
                <a:ea typeface="Arial"/>
                <a:cs typeface="Arial"/>
              </a:defRPr>
            </a:lvl6pPr>
            <a:lvl7pPr>
              <a:defRPr sz="2550" b="1">
                <a:solidFill>
                  <a:srgbClr val="162D42"/>
                </a:solidFill>
                <a:latin typeface="Arial"/>
                <a:ea typeface="Arial"/>
                <a:cs typeface="Arial"/>
              </a:defRPr>
            </a:lvl7pPr>
            <a:lvl8pPr>
              <a:defRPr sz="2550" b="1">
                <a:solidFill>
                  <a:srgbClr val="162D42"/>
                </a:solidFill>
                <a:latin typeface="Arial"/>
                <a:ea typeface="Arial"/>
                <a:cs typeface="Arial"/>
              </a:defRPr>
            </a:lvl8pPr>
            <a:lvl9pPr>
              <a:defRPr sz="2550" b="1">
                <a:solidFill>
                  <a:srgbClr val="162D42"/>
                </a:solidFill>
                <a:latin typeface="Arial"/>
                <a:ea typeface="Arial"/>
                <a:cs typeface="Arial"/>
              </a:defRPr>
            </a:lvl9pPr>
          </a:lstStyle>
          <a:p xmlns:a="http://schemas.openxmlformats.org/drawingml/2006/main">
            <a:pPr>
              <a:defRPr sz="2550" b="1">
                <a:solidFill>
                  <a:srgbClr val="162D42"/>
                </a:solidFill>
                <a:latin typeface="Arial"/>
                <a:ea typeface="Arial"/>
                <a:cs typeface="Arial"/>
              </a:defRPr>
            </a:pPr>
            <a:r>
              <a:rPr sz="2550" b="1">
                <a:solidFill>
                  <a:srgbClr val="162D42"/>
                </a:solidFill>
                <a:latin typeface="Arial"/>
                <a:ea typeface="Arial"/>
                <a:cs typeface="Arial"/>
              </a:rPr>
              <a:t>Optimal substructure: smaller optimal answers can build a larger one.</a:t>
            </a:r>
          </a:p>
        </p:txBody>
      </p:sp>
      <p:sp>
        <p:nvSpPr>
          <p:cNvPr id="5" name="">
            <a:extLst xmlns:a="http://schemas.openxmlformats.org/drawingml/2006/main">
              <a:ext uri="{FF2B5EF4-FFF2-40B4-BE49-F238E27FC236}">
                <a16:creationId xmlns:a16="http://schemas.microsoft.com/office/drawing/2014/main" id="{FA4D1E55-5A5D-44EF-8890-88A9AFA466C7}"/>
              </a:ext>
            </a:extLst>
          </p:cNvPr>
          <p:cNvSpPr>
            <a:spLocks xmlns:a="http://schemas.openxmlformats.org/drawingml/2006/main" noGrp="1"/>
          </p:cNvSpPr>
          <p:nvPr/>
        </p:nvSpPr>
        <p:spPr>
          <a:xfrm xmlns:a="http://schemas.openxmlformats.org/drawingml/2006/main">
            <a:off x="609600" y="3124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62D42"/>
                </a:solidFill>
                <a:latin typeface="Arial"/>
                <a:ea typeface="Arial"/>
                <a:cs typeface="Arial"/>
              </a:defRPr>
            </a:defPPr>
            <a:lvl1pPr>
              <a:defRPr sz="2550" b="0">
                <a:solidFill>
                  <a:srgbClr val="162D42"/>
                </a:solidFill>
                <a:latin typeface="Arial"/>
                <a:ea typeface="Arial"/>
                <a:cs typeface="Arial"/>
              </a:defRPr>
            </a:lvl1pPr>
            <a:lvl2pPr>
              <a:defRPr sz="2550" b="0">
                <a:solidFill>
                  <a:srgbClr val="162D42"/>
                </a:solidFill>
                <a:latin typeface="Arial"/>
                <a:ea typeface="Arial"/>
                <a:cs typeface="Arial"/>
              </a:defRPr>
            </a:lvl2pPr>
            <a:lvl3pPr>
              <a:defRPr sz="2550" b="0">
                <a:solidFill>
                  <a:srgbClr val="162D42"/>
                </a:solidFill>
                <a:latin typeface="Arial"/>
                <a:ea typeface="Arial"/>
                <a:cs typeface="Arial"/>
              </a:defRPr>
            </a:lvl3pPr>
            <a:lvl4pPr>
              <a:defRPr sz="2550" b="0">
                <a:solidFill>
                  <a:srgbClr val="162D42"/>
                </a:solidFill>
                <a:latin typeface="Arial"/>
                <a:ea typeface="Arial"/>
                <a:cs typeface="Arial"/>
              </a:defRPr>
            </a:lvl4pPr>
            <a:lvl5pPr>
              <a:defRPr sz="2550" b="0">
                <a:solidFill>
                  <a:srgbClr val="162D42"/>
                </a:solidFill>
                <a:latin typeface="Arial"/>
                <a:ea typeface="Arial"/>
                <a:cs typeface="Arial"/>
              </a:defRPr>
            </a:lvl5pPr>
            <a:lvl6pPr>
              <a:defRPr sz="2550" b="0">
                <a:solidFill>
                  <a:srgbClr val="162D42"/>
                </a:solidFill>
                <a:latin typeface="Arial"/>
                <a:ea typeface="Arial"/>
                <a:cs typeface="Arial"/>
              </a:defRPr>
            </a:lvl6pPr>
            <a:lvl7pPr>
              <a:defRPr sz="2550" b="0">
                <a:solidFill>
                  <a:srgbClr val="162D42"/>
                </a:solidFill>
                <a:latin typeface="Arial"/>
                <a:ea typeface="Arial"/>
                <a:cs typeface="Arial"/>
              </a:defRPr>
            </a:lvl7pPr>
            <a:lvl8pPr>
              <a:defRPr sz="2550" b="0">
                <a:solidFill>
                  <a:srgbClr val="162D42"/>
                </a:solidFill>
                <a:latin typeface="Arial"/>
                <a:ea typeface="Arial"/>
                <a:cs typeface="Arial"/>
              </a:defRPr>
            </a:lvl8pPr>
            <a:lvl9pPr>
              <a:defRPr sz="2550" b="0">
                <a:solidFill>
                  <a:srgbClr val="162D42"/>
                </a:solidFill>
                <a:latin typeface="Arial"/>
                <a:ea typeface="Arial"/>
                <a:cs typeface="Arial"/>
              </a:defRPr>
            </a:lvl9pPr>
          </a:lstStyle>
          <a:p xmlns:a="http://schemas.openxmlformats.org/drawingml/2006/main">
            <a:pPr>
              <a:defRPr sz="2550" b="0">
                <a:solidFill>
                  <a:srgbClr val="162D42"/>
                </a:solidFill>
                <a:latin typeface="Arial"/>
                <a:ea typeface="Arial"/>
                <a:cs typeface="Arial"/>
              </a:defRPr>
            </a:pPr>
            <a:r>
              <a:rPr sz="2550" b="0">
                <a:solidFill>
                  <a:srgbClr val="162D42"/>
                </a:solidFill>
                <a:latin typeface="Arial"/>
                <a:ea typeface="Arial"/>
                <a:cs typeface="Arial"/>
              </a:rPr>
              <a:t>Overlap: different choices request the same subproblem.</a:t>
            </a:r>
          </a:p>
        </p:txBody>
      </p:sp>
      <p:sp>
        <p:nvSpPr>
          <p:cNvPr id="6" name="">
            <a:extLst xmlns:a="http://schemas.openxmlformats.org/drawingml/2006/main">
              <a:ext uri="{FF2B5EF4-FFF2-40B4-BE49-F238E27FC236}">
                <a16:creationId xmlns:a16="http://schemas.microsoft.com/office/drawing/2014/main" id="{F554BAEF-6251-464D-AE0E-AFD28F8F2F39}"/>
              </a:ext>
            </a:extLst>
          </p:cNvPr>
          <p:cNvSpPr>
            <a:spLocks xmlns:a="http://schemas.openxmlformats.org/drawingml/2006/main" noGrp="1"/>
          </p:cNvSpPr>
          <p:nvPr/>
        </p:nvSpPr>
        <p:spPr>
          <a:xfrm xmlns:a="http://schemas.openxmlformats.org/drawingml/2006/main">
            <a:off x="609600" y="417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62D42"/>
                </a:solidFill>
                <a:latin typeface="Arial"/>
                <a:ea typeface="Arial"/>
                <a:cs typeface="Arial"/>
              </a:defRPr>
            </a:defPPr>
            <a:lvl1pPr>
              <a:defRPr sz="2550" b="0">
                <a:solidFill>
                  <a:srgbClr val="162D42"/>
                </a:solidFill>
                <a:latin typeface="Arial"/>
                <a:ea typeface="Arial"/>
                <a:cs typeface="Arial"/>
              </a:defRPr>
            </a:lvl1pPr>
            <a:lvl2pPr>
              <a:defRPr sz="2550" b="0">
                <a:solidFill>
                  <a:srgbClr val="162D42"/>
                </a:solidFill>
                <a:latin typeface="Arial"/>
                <a:ea typeface="Arial"/>
                <a:cs typeface="Arial"/>
              </a:defRPr>
            </a:lvl2pPr>
            <a:lvl3pPr>
              <a:defRPr sz="2550" b="0">
                <a:solidFill>
                  <a:srgbClr val="162D42"/>
                </a:solidFill>
                <a:latin typeface="Arial"/>
                <a:ea typeface="Arial"/>
                <a:cs typeface="Arial"/>
              </a:defRPr>
            </a:lvl3pPr>
            <a:lvl4pPr>
              <a:defRPr sz="2550" b="0">
                <a:solidFill>
                  <a:srgbClr val="162D42"/>
                </a:solidFill>
                <a:latin typeface="Arial"/>
                <a:ea typeface="Arial"/>
                <a:cs typeface="Arial"/>
              </a:defRPr>
            </a:lvl4pPr>
            <a:lvl5pPr>
              <a:defRPr sz="2550" b="0">
                <a:solidFill>
                  <a:srgbClr val="162D42"/>
                </a:solidFill>
                <a:latin typeface="Arial"/>
                <a:ea typeface="Arial"/>
                <a:cs typeface="Arial"/>
              </a:defRPr>
            </a:lvl5pPr>
            <a:lvl6pPr>
              <a:defRPr sz="2550" b="0">
                <a:solidFill>
                  <a:srgbClr val="162D42"/>
                </a:solidFill>
                <a:latin typeface="Arial"/>
                <a:ea typeface="Arial"/>
                <a:cs typeface="Arial"/>
              </a:defRPr>
            </a:lvl6pPr>
            <a:lvl7pPr>
              <a:defRPr sz="2550" b="0">
                <a:solidFill>
                  <a:srgbClr val="162D42"/>
                </a:solidFill>
                <a:latin typeface="Arial"/>
                <a:ea typeface="Arial"/>
                <a:cs typeface="Arial"/>
              </a:defRPr>
            </a:lvl7pPr>
            <a:lvl8pPr>
              <a:defRPr sz="2550" b="0">
                <a:solidFill>
                  <a:srgbClr val="162D42"/>
                </a:solidFill>
                <a:latin typeface="Arial"/>
                <a:ea typeface="Arial"/>
                <a:cs typeface="Arial"/>
              </a:defRPr>
            </a:lvl8pPr>
            <a:lvl9pPr>
              <a:defRPr sz="2550" b="0">
                <a:solidFill>
                  <a:srgbClr val="162D42"/>
                </a:solidFill>
                <a:latin typeface="Arial"/>
                <a:ea typeface="Arial"/>
                <a:cs typeface="Arial"/>
              </a:defRPr>
            </a:lvl9pPr>
          </a:lstStyle>
          <a:p xmlns:a="http://schemas.openxmlformats.org/drawingml/2006/main">
            <a:pPr>
              <a:defRPr sz="2550" b="0">
                <a:solidFill>
                  <a:srgbClr val="162D42"/>
                </a:solidFill>
                <a:latin typeface="Arial"/>
                <a:ea typeface="Arial"/>
                <a:cs typeface="Arial"/>
              </a:defRPr>
            </a:pPr>
            <a:r>
              <a:rPr sz="2550" b="0">
                <a:solidFill>
                  <a:srgbClr val="162D42"/>
                </a:solidFill>
                <a:latin typeface="Arial"/>
                <a:ea typeface="Arial"/>
                <a:cs typeface="Arial"/>
              </a:rPr>
              <a:t>The state must retain every fact needed by future decisions.</a:t>
            </a:r>
          </a:p>
        </p:txBody>
      </p:sp>
      <p:sp>
        <p:nvSpPr>
          <p:cNvPr id="7" name="">
            <a:extLst xmlns:a="http://schemas.openxmlformats.org/drawingml/2006/main">
              <a:ext uri="{FF2B5EF4-FFF2-40B4-BE49-F238E27FC236}">
                <a16:creationId xmlns:a16="http://schemas.microsoft.com/office/drawing/2014/main" id="{31464400-835A-4066-9111-80B049F5BAD0}"/>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8" name="">
            <a:extLst xmlns:a="http://schemas.openxmlformats.org/drawingml/2006/main">
              <a:ext uri="{FF2B5EF4-FFF2-40B4-BE49-F238E27FC236}">
                <a16:creationId xmlns:a16="http://schemas.microsoft.com/office/drawing/2014/main" id="{CF713007-DFF3-444D-A2B3-2DB57751800E}"/>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03 / 34</a:t>
            </a:r>
          </a:p>
        </p:txBody>
      </p:sp>
    </p:spTree>
    <p:extLst>
      <p:ext uri="{BB962C8B-B14F-4D97-AF65-F5344CB8AC3E}">
        <p14:creationId xmlns:p14="http://schemas.microsoft.com/office/powerpoint/2010/main" val="4429556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6C6028C-AEBA-4E76-BFB6-BC6C9AB815F1}"/>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0E284387-E70F-4AA8-8910-84008E71F64E}"/>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Fibonacci: repeated subproblems</a:t>
            </a:r>
          </a:p>
        </p:txBody>
      </p:sp>
      <p:sp>
        <p:nvSpPr>
          <p:cNvPr id="4" name="">
            <a:extLst xmlns:a="http://schemas.openxmlformats.org/drawingml/2006/main">
              <a:ext uri="{FF2B5EF4-FFF2-40B4-BE49-F238E27FC236}">
                <a16:creationId xmlns:a16="http://schemas.microsoft.com/office/drawing/2014/main" id="{CE862A8C-6A1E-42A3-A158-5DAE9E7D29F4}"/>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F(5) requests F(4) and F(3).</a:t>
            </a:r>
          </a:p>
        </p:txBody>
      </p:sp>
      <p:sp>
        <p:nvSpPr>
          <p:cNvPr id="5" name="">
            <a:extLst xmlns:a="http://schemas.openxmlformats.org/drawingml/2006/main">
              <a:ext uri="{FF2B5EF4-FFF2-40B4-BE49-F238E27FC236}">
                <a16:creationId xmlns:a16="http://schemas.microsoft.com/office/drawing/2014/main" id="{3DD3DAB7-A1A8-40AD-893C-D696430AA144}"/>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F(4) requests F(3) again.</a:t>
            </a:r>
          </a:p>
        </p:txBody>
      </p:sp>
      <p:sp>
        <p:nvSpPr>
          <p:cNvPr id="6" name="">
            <a:extLst xmlns:a="http://schemas.openxmlformats.org/drawingml/2006/main">
              <a:ext uri="{FF2B5EF4-FFF2-40B4-BE49-F238E27FC236}">
                <a16:creationId xmlns:a16="http://schemas.microsoft.com/office/drawing/2014/main" id="{753B026A-DC83-45E1-B4F0-1AAF53C08838}"/>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F(k) = F(k−1) + F(k−2), with F(0) = 0 and F(1) = 1.</a:t>
            </a:r>
          </a:p>
        </p:txBody>
      </p:sp>
      <p:graphicFrame>
        <p:nvGraphicFramePr>
          <p:cNvPr id="7" name="">
            <a:extLst xmlns:a="http://schemas.openxmlformats.org/drawingml/2006/main">
              <a:ext uri="{FF2B5EF4-FFF2-40B4-BE49-F238E27FC236}">
                <a16:creationId xmlns:a16="http://schemas.microsoft.com/office/drawing/2014/main" id="{E5EC32C3-19C3-499A-8ADB-2D9791FB00D8}"/>
              </a:ext>
            </a:extLst>
          </p:cNvPr>
          <p:cNvGraphicFramePr/>
          <p:nvPr/>
        </p:nvGraphicFramePr>
        <p:xfrm>
          <a:off xmlns:a="http://schemas.openxmlformats.org/drawingml/2006/main" x="609600" y="3171825"/>
          <a:ext xmlns:a="http://schemas.openxmlformats.org/drawingml/2006/main" cx="10972800" cy="914400"/>
        </p:xfrm>
        <a:graphic xmlns:a="http://schemas.openxmlformats.org/drawingml/2006/main">
          <a:graphicData uri="http://schemas.openxmlformats.org/drawingml/2006/table">
            <a:tbl>
              <a:tblPr/>
              <a:tblGrid>
                <a:gridCol w="1567543"/>
                <a:gridCol w="1567543"/>
                <a:gridCol w="1567543"/>
                <a:gridCol w="1567543"/>
                <a:gridCol w="1567543"/>
                <a:gridCol w="1567543"/>
                <a:gridCol w="1567543"/>
              </a:tblGrid>
              <a:tr h="457200">
                <a:tc>
                  <a:txBody>
                    <a:bodyPr/>
                    <a:lstStyle/>
                    <a:p>
                      <a:r>
                        <a:rPr sz="1875" b="1">
                          <a:solidFill>
                            <a:srgbClr val="162D42"/>
                          </a:solidFill>
                          <a:latin typeface="Arial"/>
                          <a:ea typeface="Arial"/>
                          <a:cs typeface="Arial"/>
                        </a:rPr>
                        <a:t>k</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875" b="1">
                          <a:solidFill>
                            <a:srgbClr val="162D42"/>
                          </a:solidFill>
                          <a:latin typeface="Arial"/>
                          <a:ea typeface="Arial"/>
                          <a:cs typeface="Arial"/>
                        </a:rPr>
                        <a:t>0</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875" b="1">
                          <a:solidFill>
                            <a:srgbClr val="162D42"/>
                          </a:solidFill>
                          <a:latin typeface="Arial"/>
                          <a:ea typeface="Arial"/>
                          <a:cs typeface="Arial"/>
                        </a:rPr>
                        <a:t>1</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875" b="1">
                          <a:solidFill>
                            <a:srgbClr val="162D42"/>
                          </a:solidFill>
                          <a:latin typeface="Arial"/>
                          <a:ea typeface="Arial"/>
                          <a:cs typeface="Arial"/>
                        </a:rPr>
                        <a:t>2</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875" b="1">
                          <a:solidFill>
                            <a:srgbClr val="162D42"/>
                          </a:solidFill>
                          <a:latin typeface="Arial"/>
                          <a:ea typeface="Arial"/>
                          <a:cs typeface="Arial"/>
                        </a:rPr>
                        <a:t>3</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875" b="1">
                          <a:solidFill>
                            <a:srgbClr val="162D42"/>
                          </a:solidFill>
                          <a:latin typeface="Arial"/>
                          <a:ea typeface="Arial"/>
                          <a:cs typeface="Arial"/>
                        </a:rPr>
                        <a:t>4</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875" b="1">
                          <a:solidFill>
                            <a:srgbClr val="162D42"/>
                          </a:solidFill>
                          <a:latin typeface="Arial"/>
                          <a:ea typeface="Arial"/>
                          <a:cs typeface="Arial"/>
                        </a:rPr>
                        <a:t>5</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r>
              <a:tr h="457200">
                <a:tc>
                  <a:txBody>
                    <a:bodyPr/>
                    <a:lstStyle/>
                    <a:p>
                      <a:r>
                        <a:rPr sz="1875" b="0">
                          <a:solidFill>
                            <a:srgbClr val="162D42"/>
                          </a:solidFill>
                          <a:latin typeface="Arial"/>
                          <a:ea typeface="Arial"/>
                          <a:cs typeface="Arial"/>
                        </a:rPr>
                        <a:t>F(k)</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5</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BE4436D3-2480-4480-A516-AF610038939D}"/>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64C8CB45-6B21-44CB-A221-6E1D563CDA8A}"/>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04 / 34</a:t>
            </a:r>
          </a:p>
        </p:txBody>
      </p:sp>
    </p:spTree>
    <p:extLst>
      <p:ext uri="{BB962C8B-B14F-4D97-AF65-F5344CB8AC3E}">
        <p14:creationId xmlns:p14="http://schemas.microsoft.com/office/powerpoint/2010/main" val="16436755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AA50021-82E3-436C-AE92-E2C72029670F}"/>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7C4CDC22-B166-4651-BBCD-B8810C1AC68A}"/>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Memoization and tabulation</a:t>
            </a:r>
          </a:p>
        </p:txBody>
      </p:sp>
      <p:sp>
        <p:nvSpPr>
          <p:cNvPr id="4" name="">
            <a:extLst xmlns:a="http://schemas.openxmlformats.org/drawingml/2006/main">
              <a:ext uri="{FF2B5EF4-FFF2-40B4-BE49-F238E27FC236}">
                <a16:creationId xmlns:a16="http://schemas.microsoft.com/office/drawing/2014/main" id="{39C1B675-F245-42F9-B6CC-6403AF7C90B8}"/>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Memoization evaluates states when recursion requests them.</a:t>
            </a:r>
          </a:p>
        </p:txBody>
      </p:sp>
      <p:sp>
        <p:nvSpPr>
          <p:cNvPr id="5" name="">
            <a:extLst xmlns:a="http://schemas.openxmlformats.org/drawingml/2006/main">
              <a:ext uri="{FF2B5EF4-FFF2-40B4-BE49-F238E27FC236}">
                <a16:creationId xmlns:a16="http://schemas.microsoft.com/office/drawing/2014/main" id="{F6EC2BE8-DD6A-4DD2-999B-6CFE4A5397B2}"/>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Tabulation follows an explicit dependency order.</a:t>
            </a:r>
          </a:p>
        </p:txBody>
      </p:sp>
      <p:sp>
        <p:nvSpPr>
          <p:cNvPr id="6" name="">
            <a:extLst xmlns:a="http://schemas.openxmlformats.org/drawingml/2006/main">
              <a:ext uri="{FF2B5EF4-FFF2-40B4-BE49-F238E27FC236}">
                <a16:creationId xmlns:a16="http://schemas.microsoft.com/office/drawing/2014/main" id="{B5D94F39-4B4D-4A45-A4A8-3CD0F46B8362}"/>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Performance depends on the states visited and implementation.</a:t>
            </a:r>
          </a:p>
        </p:txBody>
      </p:sp>
      <p:graphicFrame>
        <p:nvGraphicFramePr>
          <p:cNvPr id="7" name="">
            <a:extLst xmlns:a="http://schemas.openxmlformats.org/drawingml/2006/main">
              <a:ext uri="{FF2B5EF4-FFF2-40B4-BE49-F238E27FC236}">
                <a16:creationId xmlns:a16="http://schemas.microsoft.com/office/drawing/2014/main" id="{01B651B5-4076-4423-8D05-97F94D767DC2}"/>
              </a:ext>
            </a:extLst>
          </p:cNvPr>
          <p:cNvGraphicFramePr/>
          <p:nvPr/>
        </p:nvGraphicFramePr>
        <p:xfrm>
          <a:off xmlns:a="http://schemas.openxmlformats.org/drawingml/2006/main" x="609600" y="3171825"/>
          <a:ext xmlns:a="http://schemas.openxmlformats.org/drawingml/2006/main" cx="10972800" cy="1371600"/>
        </p:xfrm>
        <a:graphic xmlns:a="http://schemas.openxmlformats.org/drawingml/2006/main">
          <a:graphicData uri="http://schemas.openxmlformats.org/drawingml/2006/table">
            <a:tbl>
              <a:tblPr/>
              <a:tblGrid>
                <a:gridCol w="3810000"/>
                <a:gridCol w="4095750"/>
                <a:gridCol w="3067050"/>
              </a:tblGrid>
              <a:tr h="457200">
                <a:tc>
                  <a:txBody>
                    <a:bodyPr/>
                    <a:lstStyle/>
                    <a:p>
                      <a:r>
                        <a:rPr sz="1725" b="1">
                          <a:solidFill>
                            <a:srgbClr val="162D42"/>
                          </a:solidFill>
                          <a:latin typeface="Arial"/>
                          <a:ea typeface="Arial"/>
                          <a:cs typeface="Arial"/>
                        </a:rPr>
                        <a:t>Method</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Evaluation</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Extra concern</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r>
              <a:tr h="457200">
                <a:tc>
                  <a:txBody>
                    <a:bodyPr/>
                    <a:lstStyle/>
                    <a:p>
                      <a:r>
                        <a:rPr sz="1725" b="0">
                          <a:solidFill>
                            <a:srgbClr val="162D42"/>
                          </a:solidFill>
                          <a:latin typeface="Arial"/>
                          <a:ea typeface="Arial"/>
                          <a:cs typeface="Arial"/>
                        </a:rPr>
                        <a:t>Memoization</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On demand</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Visited marker and recursion depth</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Tabulation</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Chosen order</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Dependencies and unused states</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15F91ABF-F8D4-41E5-A051-6E5328B2C69C}"/>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CFEE6DBC-3CAB-44B4-856B-D25B0E1FB3F6}"/>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05 / 34</a:t>
            </a:r>
          </a:p>
        </p:txBody>
      </p:sp>
    </p:spTree>
    <p:extLst>
      <p:ext uri="{BB962C8B-B14F-4D97-AF65-F5344CB8AC3E}">
        <p14:creationId xmlns:p14="http://schemas.microsoft.com/office/powerpoint/2010/main" val="14272925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AC8474C-D4FD-4992-95C2-B7083F382752}"/>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E1FAA4CD-4D63-429D-9B31-C5AB1BB2BEC9}"/>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A complete DP specification</a:t>
            </a:r>
          </a:p>
        </p:txBody>
      </p:sp>
      <p:sp>
        <p:nvSpPr>
          <p:cNvPr id="4" name="">
            <a:extLst xmlns:a="http://schemas.openxmlformats.org/drawingml/2006/main">
              <a:ext uri="{FF2B5EF4-FFF2-40B4-BE49-F238E27FC236}">
                <a16:creationId xmlns:a16="http://schemas.microsoft.com/office/drawing/2014/main" id="{2AD1E987-98F3-4B09-BB4F-5A5EFFBB227E}"/>
              </a:ext>
            </a:extLst>
          </p:cNvPr>
          <p:cNvSpPr>
            <a:spLocks xmlns:a="http://schemas.openxmlformats.org/drawingml/2006/main" noGrp="1"/>
          </p:cNvSpPr>
          <p:nvPr/>
        </p:nvSpPr>
        <p:spPr>
          <a:xfrm xmlns:a="http://schemas.openxmlformats.org/drawingml/2006/main">
            <a:off x="609600" y="20764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1">
                <a:solidFill>
                  <a:srgbClr val="162D42"/>
                </a:solidFill>
                <a:latin typeface="Arial"/>
                <a:ea typeface="Arial"/>
                <a:cs typeface="Arial"/>
              </a:defRPr>
            </a:defPPr>
            <a:lvl1pPr>
              <a:defRPr sz="2550" b="1">
                <a:solidFill>
                  <a:srgbClr val="162D42"/>
                </a:solidFill>
                <a:latin typeface="Arial"/>
                <a:ea typeface="Arial"/>
                <a:cs typeface="Arial"/>
              </a:defRPr>
            </a:lvl1pPr>
            <a:lvl2pPr>
              <a:defRPr sz="2550" b="1">
                <a:solidFill>
                  <a:srgbClr val="162D42"/>
                </a:solidFill>
                <a:latin typeface="Arial"/>
                <a:ea typeface="Arial"/>
                <a:cs typeface="Arial"/>
              </a:defRPr>
            </a:lvl2pPr>
            <a:lvl3pPr>
              <a:defRPr sz="2550" b="1">
                <a:solidFill>
                  <a:srgbClr val="162D42"/>
                </a:solidFill>
                <a:latin typeface="Arial"/>
                <a:ea typeface="Arial"/>
                <a:cs typeface="Arial"/>
              </a:defRPr>
            </a:lvl3pPr>
            <a:lvl4pPr>
              <a:defRPr sz="2550" b="1">
                <a:solidFill>
                  <a:srgbClr val="162D42"/>
                </a:solidFill>
                <a:latin typeface="Arial"/>
                <a:ea typeface="Arial"/>
                <a:cs typeface="Arial"/>
              </a:defRPr>
            </a:lvl4pPr>
            <a:lvl5pPr>
              <a:defRPr sz="2550" b="1">
                <a:solidFill>
                  <a:srgbClr val="162D42"/>
                </a:solidFill>
                <a:latin typeface="Arial"/>
                <a:ea typeface="Arial"/>
                <a:cs typeface="Arial"/>
              </a:defRPr>
            </a:lvl5pPr>
            <a:lvl6pPr>
              <a:defRPr sz="2550" b="1">
                <a:solidFill>
                  <a:srgbClr val="162D42"/>
                </a:solidFill>
                <a:latin typeface="Arial"/>
                <a:ea typeface="Arial"/>
                <a:cs typeface="Arial"/>
              </a:defRPr>
            </a:lvl6pPr>
            <a:lvl7pPr>
              <a:defRPr sz="2550" b="1">
                <a:solidFill>
                  <a:srgbClr val="162D42"/>
                </a:solidFill>
                <a:latin typeface="Arial"/>
                <a:ea typeface="Arial"/>
                <a:cs typeface="Arial"/>
              </a:defRPr>
            </a:lvl7pPr>
            <a:lvl8pPr>
              <a:defRPr sz="2550" b="1">
                <a:solidFill>
                  <a:srgbClr val="162D42"/>
                </a:solidFill>
                <a:latin typeface="Arial"/>
                <a:ea typeface="Arial"/>
                <a:cs typeface="Arial"/>
              </a:defRPr>
            </a:lvl8pPr>
            <a:lvl9pPr>
              <a:defRPr sz="2550" b="1">
                <a:solidFill>
                  <a:srgbClr val="162D42"/>
                </a:solidFill>
                <a:latin typeface="Arial"/>
                <a:ea typeface="Arial"/>
                <a:cs typeface="Arial"/>
              </a:defRPr>
            </a:lvl9pPr>
          </a:lstStyle>
          <a:p xmlns:a="http://schemas.openxmlformats.org/drawingml/2006/main">
            <a:pPr>
              <a:defRPr sz="2550" b="1">
                <a:solidFill>
                  <a:srgbClr val="162D42"/>
                </a:solidFill>
                <a:latin typeface="Arial"/>
                <a:ea typeface="Arial"/>
                <a:cs typeface="Arial"/>
              </a:defRPr>
            </a:pPr>
            <a:r>
              <a:rPr sz="2550" b="1">
                <a:solidFill>
                  <a:srgbClr val="162D42"/>
                </a:solidFill>
                <a:latin typeface="Arial"/>
                <a:ea typeface="Arial"/>
                <a:cs typeface="Arial"/>
              </a:rPr>
              <a:t>State / recurrence / base cases</a:t>
            </a:r>
          </a:p>
        </p:txBody>
      </p:sp>
      <p:sp>
        <p:nvSpPr>
          <p:cNvPr id="5" name="">
            <a:extLst xmlns:a="http://schemas.openxmlformats.org/drawingml/2006/main">
              <a:ext uri="{FF2B5EF4-FFF2-40B4-BE49-F238E27FC236}">
                <a16:creationId xmlns:a16="http://schemas.microsoft.com/office/drawing/2014/main" id="{15E5389B-4EF1-4751-A0DE-CE84A431CD94}"/>
              </a:ext>
            </a:extLst>
          </p:cNvPr>
          <p:cNvSpPr>
            <a:spLocks xmlns:a="http://schemas.openxmlformats.org/drawingml/2006/main" noGrp="1"/>
          </p:cNvSpPr>
          <p:nvPr/>
        </p:nvSpPr>
        <p:spPr>
          <a:xfrm xmlns:a="http://schemas.openxmlformats.org/drawingml/2006/main">
            <a:off x="609600" y="3124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62D42"/>
                </a:solidFill>
                <a:latin typeface="Arial"/>
                <a:ea typeface="Arial"/>
                <a:cs typeface="Arial"/>
              </a:defRPr>
            </a:defPPr>
            <a:lvl1pPr>
              <a:defRPr sz="2550" b="0">
                <a:solidFill>
                  <a:srgbClr val="162D42"/>
                </a:solidFill>
                <a:latin typeface="Arial"/>
                <a:ea typeface="Arial"/>
                <a:cs typeface="Arial"/>
              </a:defRPr>
            </a:lvl1pPr>
            <a:lvl2pPr>
              <a:defRPr sz="2550" b="0">
                <a:solidFill>
                  <a:srgbClr val="162D42"/>
                </a:solidFill>
                <a:latin typeface="Arial"/>
                <a:ea typeface="Arial"/>
                <a:cs typeface="Arial"/>
              </a:defRPr>
            </a:lvl2pPr>
            <a:lvl3pPr>
              <a:defRPr sz="2550" b="0">
                <a:solidFill>
                  <a:srgbClr val="162D42"/>
                </a:solidFill>
                <a:latin typeface="Arial"/>
                <a:ea typeface="Arial"/>
                <a:cs typeface="Arial"/>
              </a:defRPr>
            </a:lvl3pPr>
            <a:lvl4pPr>
              <a:defRPr sz="2550" b="0">
                <a:solidFill>
                  <a:srgbClr val="162D42"/>
                </a:solidFill>
                <a:latin typeface="Arial"/>
                <a:ea typeface="Arial"/>
                <a:cs typeface="Arial"/>
              </a:defRPr>
            </a:lvl4pPr>
            <a:lvl5pPr>
              <a:defRPr sz="2550" b="0">
                <a:solidFill>
                  <a:srgbClr val="162D42"/>
                </a:solidFill>
                <a:latin typeface="Arial"/>
                <a:ea typeface="Arial"/>
                <a:cs typeface="Arial"/>
              </a:defRPr>
            </a:lvl5pPr>
            <a:lvl6pPr>
              <a:defRPr sz="2550" b="0">
                <a:solidFill>
                  <a:srgbClr val="162D42"/>
                </a:solidFill>
                <a:latin typeface="Arial"/>
                <a:ea typeface="Arial"/>
                <a:cs typeface="Arial"/>
              </a:defRPr>
            </a:lvl6pPr>
            <a:lvl7pPr>
              <a:defRPr sz="2550" b="0">
                <a:solidFill>
                  <a:srgbClr val="162D42"/>
                </a:solidFill>
                <a:latin typeface="Arial"/>
                <a:ea typeface="Arial"/>
                <a:cs typeface="Arial"/>
              </a:defRPr>
            </a:lvl7pPr>
            <a:lvl8pPr>
              <a:defRPr sz="2550" b="0">
                <a:solidFill>
                  <a:srgbClr val="162D42"/>
                </a:solidFill>
                <a:latin typeface="Arial"/>
                <a:ea typeface="Arial"/>
                <a:cs typeface="Arial"/>
              </a:defRPr>
            </a:lvl8pPr>
            <a:lvl9pPr>
              <a:defRPr sz="2550" b="0">
                <a:solidFill>
                  <a:srgbClr val="162D42"/>
                </a:solidFill>
                <a:latin typeface="Arial"/>
                <a:ea typeface="Arial"/>
                <a:cs typeface="Arial"/>
              </a:defRPr>
            </a:lvl9pPr>
          </a:lstStyle>
          <a:p xmlns:a="http://schemas.openxmlformats.org/drawingml/2006/main">
            <a:pPr>
              <a:defRPr sz="2550" b="0">
                <a:solidFill>
                  <a:srgbClr val="162D42"/>
                </a:solidFill>
                <a:latin typeface="Arial"/>
                <a:ea typeface="Arial"/>
                <a:cs typeface="Arial"/>
              </a:defRPr>
            </a:pPr>
            <a:r>
              <a:rPr sz="2550" b="0">
                <a:solidFill>
                  <a:srgbClr val="162D42"/>
                </a:solidFill>
                <a:latin typeface="Arial"/>
                <a:ea typeface="Arial"/>
                <a:cs typeface="Arial"/>
              </a:rPr>
              <a:t>Order / final answer / reconstruction</a:t>
            </a:r>
          </a:p>
        </p:txBody>
      </p:sp>
      <p:sp>
        <p:nvSpPr>
          <p:cNvPr id="6" name="">
            <a:extLst xmlns:a="http://schemas.openxmlformats.org/drawingml/2006/main">
              <a:ext uri="{FF2B5EF4-FFF2-40B4-BE49-F238E27FC236}">
                <a16:creationId xmlns:a16="http://schemas.microsoft.com/office/drawing/2014/main" id="{99F94E99-A7EE-4EB8-869F-A0F8F30B437A}"/>
              </a:ext>
            </a:extLst>
          </p:cNvPr>
          <p:cNvSpPr>
            <a:spLocks xmlns:a="http://schemas.openxmlformats.org/drawingml/2006/main" noGrp="1"/>
          </p:cNvSpPr>
          <p:nvPr/>
        </p:nvSpPr>
        <p:spPr>
          <a:xfrm xmlns:a="http://schemas.openxmlformats.org/drawingml/2006/main">
            <a:off x="609600" y="417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62D42"/>
                </a:solidFill>
                <a:latin typeface="Arial"/>
                <a:ea typeface="Arial"/>
                <a:cs typeface="Arial"/>
              </a:defRPr>
            </a:defPPr>
            <a:lvl1pPr>
              <a:defRPr sz="2550" b="0">
                <a:solidFill>
                  <a:srgbClr val="162D42"/>
                </a:solidFill>
                <a:latin typeface="Arial"/>
                <a:ea typeface="Arial"/>
                <a:cs typeface="Arial"/>
              </a:defRPr>
            </a:lvl1pPr>
            <a:lvl2pPr>
              <a:defRPr sz="2550" b="0">
                <a:solidFill>
                  <a:srgbClr val="162D42"/>
                </a:solidFill>
                <a:latin typeface="Arial"/>
                <a:ea typeface="Arial"/>
                <a:cs typeface="Arial"/>
              </a:defRPr>
            </a:lvl2pPr>
            <a:lvl3pPr>
              <a:defRPr sz="2550" b="0">
                <a:solidFill>
                  <a:srgbClr val="162D42"/>
                </a:solidFill>
                <a:latin typeface="Arial"/>
                <a:ea typeface="Arial"/>
                <a:cs typeface="Arial"/>
              </a:defRPr>
            </a:lvl3pPr>
            <a:lvl4pPr>
              <a:defRPr sz="2550" b="0">
                <a:solidFill>
                  <a:srgbClr val="162D42"/>
                </a:solidFill>
                <a:latin typeface="Arial"/>
                <a:ea typeface="Arial"/>
                <a:cs typeface="Arial"/>
              </a:defRPr>
            </a:lvl4pPr>
            <a:lvl5pPr>
              <a:defRPr sz="2550" b="0">
                <a:solidFill>
                  <a:srgbClr val="162D42"/>
                </a:solidFill>
                <a:latin typeface="Arial"/>
                <a:ea typeface="Arial"/>
                <a:cs typeface="Arial"/>
              </a:defRPr>
            </a:lvl5pPr>
            <a:lvl6pPr>
              <a:defRPr sz="2550" b="0">
                <a:solidFill>
                  <a:srgbClr val="162D42"/>
                </a:solidFill>
                <a:latin typeface="Arial"/>
                <a:ea typeface="Arial"/>
                <a:cs typeface="Arial"/>
              </a:defRPr>
            </a:lvl6pPr>
            <a:lvl7pPr>
              <a:defRPr sz="2550" b="0">
                <a:solidFill>
                  <a:srgbClr val="162D42"/>
                </a:solidFill>
                <a:latin typeface="Arial"/>
                <a:ea typeface="Arial"/>
                <a:cs typeface="Arial"/>
              </a:defRPr>
            </a:lvl7pPr>
            <a:lvl8pPr>
              <a:defRPr sz="2550" b="0">
                <a:solidFill>
                  <a:srgbClr val="162D42"/>
                </a:solidFill>
                <a:latin typeface="Arial"/>
                <a:ea typeface="Arial"/>
                <a:cs typeface="Arial"/>
              </a:defRPr>
            </a:lvl8pPr>
            <a:lvl9pPr>
              <a:defRPr sz="2550" b="0">
                <a:solidFill>
                  <a:srgbClr val="162D42"/>
                </a:solidFill>
                <a:latin typeface="Arial"/>
                <a:ea typeface="Arial"/>
                <a:cs typeface="Arial"/>
              </a:defRPr>
            </a:lvl9pPr>
          </a:lstStyle>
          <a:p xmlns:a="http://schemas.openxmlformats.org/drawingml/2006/main">
            <a:pPr>
              <a:defRPr sz="2550" b="0">
                <a:solidFill>
                  <a:srgbClr val="162D42"/>
                </a:solidFill>
                <a:latin typeface="Arial"/>
                <a:ea typeface="Arial"/>
                <a:cs typeface="Arial"/>
              </a:defRPr>
            </a:pPr>
            <a:r>
              <a:rPr sz="2550" b="0">
                <a:solidFill>
                  <a:srgbClr val="162D42"/>
                </a:solidFill>
                <a:latin typeface="Arial"/>
                <a:ea typeface="Arial"/>
                <a:cs typeface="Arial"/>
              </a:rPr>
              <a:t>Correctness / time / memory</a:t>
            </a:r>
          </a:p>
        </p:txBody>
      </p:sp>
      <p:sp>
        <p:nvSpPr>
          <p:cNvPr id="7" name="">
            <a:extLst xmlns:a="http://schemas.openxmlformats.org/drawingml/2006/main">
              <a:ext uri="{FF2B5EF4-FFF2-40B4-BE49-F238E27FC236}">
                <a16:creationId xmlns:a16="http://schemas.microsoft.com/office/drawing/2014/main" id="{8489A89D-A5F8-454D-AC82-C0FC9C6C8D5F}"/>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8" name="">
            <a:extLst xmlns:a="http://schemas.openxmlformats.org/drawingml/2006/main">
              <a:ext uri="{FF2B5EF4-FFF2-40B4-BE49-F238E27FC236}">
                <a16:creationId xmlns:a16="http://schemas.microsoft.com/office/drawing/2014/main" id="{DB369AC4-A115-4E8B-98D4-A687B4CBBE88}"/>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06 / 34</a:t>
            </a:r>
          </a:p>
        </p:txBody>
      </p:sp>
    </p:spTree>
    <p:extLst>
      <p:ext uri="{BB962C8B-B14F-4D97-AF65-F5344CB8AC3E}">
        <p14:creationId xmlns:p14="http://schemas.microsoft.com/office/powerpoint/2010/main" val="14320516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F4F2FC1-198C-4965-90C1-50A0D3596D00}"/>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EC51D29D-AF69-4D83-A549-39A8A38204DD}"/>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Three shapes of subproblems</a:t>
            </a:r>
          </a:p>
        </p:txBody>
      </p:sp>
      <p:sp>
        <p:nvSpPr>
          <p:cNvPr id="4" name="">
            <a:extLst xmlns:a="http://schemas.openxmlformats.org/drawingml/2006/main">
              <a:ext uri="{FF2B5EF4-FFF2-40B4-BE49-F238E27FC236}">
                <a16:creationId xmlns:a16="http://schemas.microsoft.com/office/drawing/2014/main" id="{668B9F48-65F6-458D-B1E5-8B95B5004970}"/>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sequence state describes a position or prefixes.</a:t>
            </a:r>
          </a:p>
        </p:txBody>
      </p:sp>
      <p:sp>
        <p:nvSpPr>
          <p:cNvPr id="5" name="">
            <a:extLst xmlns:a="http://schemas.openxmlformats.org/drawingml/2006/main">
              <a:ext uri="{FF2B5EF4-FFF2-40B4-BE49-F238E27FC236}">
                <a16:creationId xmlns:a16="http://schemas.microsoft.com/office/drawing/2014/main" id="{ED5A4B61-6AA4-4CEC-B5F6-C7EDBD96818C}"/>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An interval state describes a contiguous range.</a:t>
            </a:r>
          </a:p>
        </p:txBody>
      </p:sp>
      <p:sp>
        <p:nvSpPr>
          <p:cNvPr id="6" name="">
            <a:extLst xmlns:a="http://schemas.openxmlformats.org/drawingml/2006/main">
              <a:ext uri="{FF2B5EF4-FFF2-40B4-BE49-F238E27FC236}">
                <a16:creationId xmlns:a16="http://schemas.microsoft.com/office/drawing/2014/main" id="{949CBB7E-04EF-4428-922F-A3829ABDB2CE}"/>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tree state describes a rooted subtree and a boundary decision.</a:t>
            </a:r>
          </a:p>
        </p:txBody>
      </p:sp>
      <p:graphicFrame>
        <p:nvGraphicFramePr>
          <p:cNvPr id="7" name="">
            <a:extLst xmlns:a="http://schemas.openxmlformats.org/drawingml/2006/main">
              <a:ext uri="{FF2B5EF4-FFF2-40B4-BE49-F238E27FC236}">
                <a16:creationId xmlns:a16="http://schemas.microsoft.com/office/drawing/2014/main" id="{B86CF4EB-89A0-47FC-BFAE-3F704B915C24}"/>
              </a:ext>
            </a:extLst>
          </p:cNvPr>
          <p:cNvGraphicFramePr/>
          <p:nvPr/>
        </p:nvGraphicFramePr>
        <p:xfrm>
          <a:off xmlns:a="http://schemas.openxmlformats.org/drawingml/2006/main" x="609600" y="3171825"/>
          <a:ext xmlns:a="http://schemas.openxmlformats.org/drawingml/2006/main" cx="10972800" cy="1828800"/>
        </p:xfrm>
        <a:graphic xmlns:a="http://schemas.openxmlformats.org/drawingml/2006/main">
          <a:graphicData uri="http://schemas.openxmlformats.org/drawingml/2006/table">
            <a:tbl>
              <a:tblPr/>
              <a:tblGrid>
                <a:gridCol w="3810000"/>
                <a:gridCol w="4095750"/>
                <a:gridCol w="3067050"/>
              </a:tblGrid>
              <a:tr h="457200">
                <a:tc>
                  <a:txBody>
                    <a:bodyPr/>
                    <a:lstStyle/>
                    <a:p>
                      <a:r>
                        <a:rPr sz="1725" b="1">
                          <a:solidFill>
                            <a:srgbClr val="162D42"/>
                          </a:solidFill>
                          <a:latin typeface="Arial"/>
                          <a:ea typeface="Arial"/>
                          <a:cs typeface="Arial"/>
                        </a:rPr>
                        <a:t>Pattern</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State</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Order</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r>
              <a:tr h="457200">
                <a:tc>
                  <a:txBody>
                    <a:bodyPr/>
                    <a:lstStyle/>
                    <a:p>
                      <a:r>
                        <a:rPr sz="1725" b="0">
                          <a:solidFill>
                            <a:srgbClr val="162D42"/>
                          </a:solidFill>
                          <a:latin typeface="Arial"/>
                          <a:ea typeface="Arial"/>
                          <a:cs typeface="Arial"/>
                        </a:rPr>
                        <a:t>Subsequence</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End index or prefix pair</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Increasing indices</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Partition</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Interval [i, j]</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Increasing interval length</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Tree</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Subtree + root decision</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Children before parent</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0CC21880-D5E2-4A3A-A33B-298557952CED}"/>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BEE4E554-5447-4993-BE74-2814AF2CBE49}"/>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07 / 34</a:t>
            </a:r>
          </a:p>
        </p:txBody>
      </p:sp>
    </p:spTree>
    <p:extLst>
      <p:ext uri="{BB962C8B-B14F-4D97-AF65-F5344CB8AC3E}">
        <p14:creationId xmlns:p14="http://schemas.microsoft.com/office/powerpoint/2010/main" val="6054669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1FDC04B-4E9F-46DE-997C-D21B59282793}"/>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9A4CF122-B647-4B82-A1DD-7589982871B0}"/>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Subsequence and substring</a:t>
            </a:r>
          </a:p>
        </p:txBody>
      </p:sp>
      <p:sp>
        <p:nvSpPr>
          <p:cNvPr id="4" name="">
            <a:extLst xmlns:a="http://schemas.openxmlformats.org/drawingml/2006/main">
              <a:ext uri="{FF2B5EF4-FFF2-40B4-BE49-F238E27FC236}">
                <a16:creationId xmlns:a16="http://schemas.microsoft.com/office/drawing/2014/main" id="{40613F8F-EB38-4BDA-B38A-C862FDEB8FBA}"/>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subsequence preserves order and may skip elements.</a:t>
            </a:r>
          </a:p>
        </p:txBody>
      </p:sp>
      <p:sp>
        <p:nvSpPr>
          <p:cNvPr id="5" name="">
            <a:extLst xmlns:a="http://schemas.openxmlformats.org/drawingml/2006/main">
              <a:ext uri="{FF2B5EF4-FFF2-40B4-BE49-F238E27FC236}">
                <a16:creationId xmlns:a16="http://schemas.microsoft.com/office/drawing/2014/main" id="{696FF3AF-C785-44E0-AB75-B57DC7DCF247}"/>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substring occupies consecutive positions.</a:t>
            </a:r>
          </a:p>
        </p:txBody>
      </p:sp>
      <p:sp>
        <p:nvSpPr>
          <p:cNvPr id="6" name="">
            <a:extLst xmlns:a="http://schemas.openxmlformats.org/drawingml/2006/main">
              <a:ext uri="{FF2B5EF4-FFF2-40B4-BE49-F238E27FC236}">
                <a16:creationId xmlns:a16="http://schemas.microsoft.com/office/drawing/2014/main" id="{F1E7669A-E47F-41CD-B5DB-5B10B3D7F247}"/>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In ABCDE, ACE is a subsequence.</a:t>
            </a:r>
          </a:p>
        </p:txBody>
      </p:sp>
      <p:sp>
        <p:nvSpPr>
          <p:cNvPr id="7" name="">
            <a:extLst xmlns:a="http://schemas.openxmlformats.org/drawingml/2006/main">
              <a:ext uri="{FF2B5EF4-FFF2-40B4-BE49-F238E27FC236}">
                <a16:creationId xmlns:a16="http://schemas.microsoft.com/office/drawing/2014/main" id="{A76AECFA-88C8-425E-B865-B7F9C38A7F0D}"/>
              </a:ext>
            </a:extLst>
          </p:cNvPr>
          <p:cNvSpPr>
            <a:spLocks xmlns:a="http://schemas.openxmlformats.org/drawingml/2006/main" noGrp="1"/>
          </p:cNvSpPr>
          <p:nvPr/>
        </p:nvSpPr>
        <p:spPr>
          <a:xfrm xmlns:a="http://schemas.openxmlformats.org/drawingml/2006/main">
            <a:off x="609600" y="3267075"/>
            <a:ext cx="109728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A44270"/>
                </a:solidFill>
                <a:latin typeface="Arial"/>
                <a:ea typeface="Arial"/>
                <a:cs typeface="Arial"/>
              </a:defRPr>
            </a:defPPr>
            <a:lvl1pPr>
              <a:defRPr sz="2325" b="1">
                <a:solidFill>
                  <a:srgbClr val="A44270"/>
                </a:solidFill>
                <a:latin typeface="Arial"/>
                <a:ea typeface="Arial"/>
                <a:cs typeface="Arial"/>
              </a:defRPr>
            </a:lvl1pPr>
            <a:lvl2pPr>
              <a:defRPr sz="2325" b="1">
                <a:solidFill>
                  <a:srgbClr val="A44270"/>
                </a:solidFill>
                <a:latin typeface="Arial"/>
                <a:ea typeface="Arial"/>
                <a:cs typeface="Arial"/>
              </a:defRPr>
            </a:lvl2pPr>
            <a:lvl3pPr>
              <a:defRPr sz="2325" b="1">
                <a:solidFill>
                  <a:srgbClr val="A44270"/>
                </a:solidFill>
                <a:latin typeface="Arial"/>
                <a:ea typeface="Arial"/>
                <a:cs typeface="Arial"/>
              </a:defRPr>
            </a:lvl3pPr>
            <a:lvl4pPr>
              <a:defRPr sz="2325" b="1">
                <a:solidFill>
                  <a:srgbClr val="A44270"/>
                </a:solidFill>
                <a:latin typeface="Arial"/>
                <a:ea typeface="Arial"/>
                <a:cs typeface="Arial"/>
              </a:defRPr>
            </a:lvl4pPr>
            <a:lvl5pPr>
              <a:defRPr sz="2325" b="1">
                <a:solidFill>
                  <a:srgbClr val="A44270"/>
                </a:solidFill>
                <a:latin typeface="Arial"/>
                <a:ea typeface="Arial"/>
                <a:cs typeface="Arial"/>
              </a:defRPr>
            </a:lvl5pPr>
            <a:lvl6pPr>
              <a:defRPr sz="2325" b="1">
                <a:solidFill>
                  <a:srgbClr val="A44270"/>
                </a:solidFill>
                <a:latin typeface="Arial"/>
                <a:ea typeface="Arial"/>
                <a:cs typeface="Arial"/>
              </a:defRPr>
            </a:lvl6pPr>
            <a:lvl7pPr>
              <a:defRPr sz="2325" b="1">
                <a:solidFill>
                  <a:srgbClr val="A44270"/>
                </a:solidFill>
                <a:latin typeface="Arial"/>
                <a:ea typeface="Arial"/>
                <a:cs typeface="Arial"/>
              </a:defRPr>
            </a:lvl7pPr>
            <a:lvl8pPr>
              <a:defRPr sz="2325" b="1">
                <a:solidFill>
                  <a:srgbClr val="A44270"/>
                </a:solidFill>
                <a:latin typeface="Arial"/>
                <a:ea typeface="Arial"/>
                <a:cs typeface="Arial"/>
              </a:defRPr>
            </a:lvl8pPr>
            <a:lvl9pPr>
              <a:defRPr sz="2325" b="1">
                <a:solidFill>
                  <a:srgbClr val="A44270"/>
                </a:solidFill>
                <a:latin typeface="Arial"/>
                <a:ea typeface="Arial"/>
                <a:cs typeface="Arial"/>
              </a:defRPr>
            </a:lvl9pPr>
          </a:lstStyle>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ABCDE</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ACE: positions 1, 3, 5</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CD: positions 3, 4</a:t>
            </a:r>
          </a:p>
        </p:txBody>
      </p:sp>
      <p:sp>
        <p:nvSpPr>
          <p:cNvPr id="8" name="">
            <a:extLst xmlns:a="http://schemas.openxmlformats.org/drawingml/2006/main">
              <a:ext uri="{FF2B5EF4-FFF2-40B4-BE49-F238E27FC236}">
                <a16:creationId xmlns:a16="http://schemas.microsoft.com/office/drawing/2014/main" id="{614C3D57-4C2A-4157-B1CE-4DE59BABD325}"/>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4F9DD087-E481-4B4F-8B40-8BC7C58F95AD}"/>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08 / 34</a:t>
            </a:r>
          </a:p>
        </p:txBody>
      </p:sp>
    </p:spTree>
    <p:extLst>
      <p:ext uri="{BB962C8B-B14F-4D97-AF65-F5344CB8AC3E}">
        <p14:creationId xmlns:p14="http://schemas.microsoft.com/office/powerpoint/2010/main" val="5127367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7D521C3-D0AD-4035-A091-A85D8E87D67F}"/>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CC4DFEB9-B830-4D52-95B5-C4218F67D66F}"/>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Longest increasing subsequence</a:t>
            </a:r>
          </a:p>
        </p:txBody>
      </p:sp>
      <p:sp>
        <p:nvSpPr>
          <p:cNvPr id="4" name="">
            <a:extLst xmlns:a="http://schemas.openxmlformats.org/drawingml/2006/main">
              <a:ext uri="{FF2B5EF4-FFF2-40B4-BE49-F238E27FC236}">
                <a16:creationId xmlns:a16="http://schemas.microsoft.com/office/drawing/2014/main" id="{5E1D7765-E29F-4332-9B45-881C187DAC63}"/>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dp[i] is the LIS length ending exactly at i.</a:t>
            </a:r>
          </a:p>
        </p:txBody>
      </p:sp>
      <p:sp>
        <p:nvSpPr>
          <p:cNvPr id="5" name="">
            <a:extLst xmlns:a="http://schemas.openxmlformats.org/drawingml/2006/main">
              <a:ext uri="{FF2B5EF4-FFF2-40B4-BE49-F238E27FC236}">
                <a16:creationId xmlns:a16="http://schemas.microsoft.com/office/drawing/2014/main" id="{132748BB-191A-4783-80DD-AC5EE4C86391}"/>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predecessor j must satisfy j &lt; i and a[j] &lt; a[i].</a:t>
            </a:r>
          </a:p>
        </p:txBody>
      </p:sp>
      <p:sp>
        <p:nvSpPr>
          <p:cNvPr id="6" name="">
            <a:extLst xmlns:a="http://schemas.openxmlformats.org/drawingml/2006/main">
              <a:ext uri="{FF2B5EF4-FFF2-40B4-BE49-F238E27FC236}">
                <a16:creationId xmlns:a16="http://schemas.microsoft.com/office/drawing/2014/main" id="{1D0C6ED0-502C-401B-B959-1FB201BF7AF3}"/>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Each element can start a subsequence of length 1.</a:t>
            </a:r>
          </a:p>
        </p:txBody>
      </p:sp>
      <p:sp>
        <p:nvSpPr>
          <p:cNvPr id="7" name="">
            <a:extLst xmlns:a="http://schemas.openxmlformats.org/drawingml/2006/main">
              <a:ext uri="{FF2B5EF4-FFF2-40B4-BE49-F238E27FC236}">
                <a16:creationId xmlns:a16="http://schemas.microsoft.com/office/drawing/2014/main" id="{66A0A49D-19DE-4544-915E-767287960251}"/>
              </a:ext>
            </a:extLst>
          </p:cNvPr>
          <p:cNvSpPr>
            <a:spLocks xmlns:a="http://schemas.openxmlformats.org/drawingml/2006/main" noGrp="1"/>
          </p:cNvSpPr>
          <p:nvPr/>
        </p:nvSpPr>
        <p:spPr>
          <a:xfrm xmlns:a="http://schemas.openxmlformats.org/drawingml/2006/main">
            <a:off x="609600" y="3267075"/>
            <a:ext cx="109728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A44270"/>
                </a:solidFill>
                <a:latin typeface="Arial"/>
                <a:ea typeface="Arial"/>
                <a:cs typeface="Arial"/>
              </a:defRPr>
            </a:defPPr>
            <a:lvl1pPr>
              <a:defRPr sz="2325" b="1">
                <a:solidFill>
                  <a:srgbClr val="A44270"/>
                </a:solidFill>
                <a:latin typeface="Arial"/>
                <a:ea typeface="Arial"/>
                <a:cs typeface="Arial"/>
              </a:defRPr>
            </a:lvl1pPr>
            <a:lvl2pPr>
              <a:defRPr sz="2325" b="1">
                <a:solidFill>
                  <a:srgbClr val="A44270"/>
                </a:solidFill>
                <a:latin typeface="Arial"/>
                <a:ea typeface="Arial"/>
                <a:cs typeface="Arial"/>
              </a:defRPr>
            </a:lvl2pPr>
            <a:lvl3pPr>
              <a:defRPr sz="2325" b="1">
                <a:solidFill>
                  <a:srgbClr val="A44270"/>
                </a:solidFill>
                <a:latin typeface="Arial"/>
                <a:ea typeface="Arial"/>
                <a:cs typeface="Arial"/>
              </a:defRPr>
            </a:lvl3pPr>
            <a:lvl4pPr>
              <a:defRPr sz="2325" b="1">
                <a:solidFill>
                  <a:srgbClr val="A44270"/>
                </a:solidFill>
                <a:latin typeface="Arial"/>
                <a:ea typeface="Arial"/>
                <a:cs typeface="Arial"/>
              </a:defRPr>
            </a:lvl4pPr>
            <a:lvl5pPr>
              <a:defRPr sz="2325" b="1">
                <a:solidFill>
                  <a:srgbClr val="A44270"/>
                </a:solidFill>
                <a:latin typeface="Arial"/>
                <a:ea typeface="Arial"/>
                <a:cs typeface="Arial"/>
              </a:defRPr>
            </a:lvl5pPr>
            <a:lvl6pPr>
              <a:defRPr sz="2325" b="1">
                <a:solidFill>
                  <a:srgbClr val="A44270"/>
                </a:solidFill>
                <a:latin typeface="Arial"/>
                <a:ea typeface="Arial"/>
                <a:cs typeface="Arial"/>
              </a:defRPr>
            </a:lvl6pPr>
            <a:lvl7pPr>
              <a:defRPr sz="2325" b="1">
                <a:solidFill>
                  <a:srgbClr val="A44270"/>
                </a:solidFill>
                <a:latin typeface="Arial"/>
                <a:ea typeface="Arial"/>
                <a:cs typeface="Arial"/>
              </a:defRPr>
            </a:lvl7pPr>
            <a:lvl8pPr>
              <a:defRPr sz="2325" b="1">
                <a:solidFill>
                  <a:srgbClr val="A44270"/>
                </a:solidFill>
                <a:latin typeface="Arial"/>
                <a:ea typeface="Arial"/>
                <a:cs typeface="Arial"/>
              </a:defRPr>
            </a:lvl8pPr>
            <a:lvl9pPr>
              <a:defRPr sz="2325" b="1">
                <a:solidFill>
                  <a:srgbClr val="A44270"/>
                </a:solidFill>
                <a:latin typeface="Arial"/>
                <a:ea typeface="Arial"/>
                <a:cs typeface="Arial"/>
              </a:defRPr>
            </a:lvl9pPr>
          </a:lstStyle>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dp[i] = max({1} ∪ {dp[j] + 1 : j &lt; i, a[j] &lt; a[i]})</a:t>
            </a:r>
          </a:p>
        </p:txBody>
      </p:sp>
      <p:sp>
        <p:nvSpPr>
          <p:cNvPr id="8" name="">
            <a:extLst xmlns:a="http://schemas.openxmlformats.org/drawingml/2006/main">
              <a:ext uri="{FF2B5EF4-FFF2-40B4-BE49-F238E27FC236}">
                <a16:creationId xmlns:a16="http://schemas.microsoft.com/office/drawing/2014/main" id="{4F76D47D-960A-4E8A-BE0D-30F6A3787067}"/>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868FCBE9-4B88-4575-B69E-184F66450EC3}"/>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09 / 34</a:t>
            </a:r>
          </a:p>
        </p:txBody>
      </p:sp>
    </p:spTree>
    <p:extLst>
      <p:ext uri="{BB962C8B-B14F-4D97-AF65-F5344CB8AC3E}">
        <p14:creationId xmlns:p14="http://schemas.microsoft.com/office/powerpoint/2010/main" val="868488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431DEA-103F-44F2-A21C-6D2A624CD180}"/>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BA0D243B-69CA-43CC-AC60-ADC8C1BE92B9}"/>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LIS: a complete trace</a:t>
            </a:r>
          </a:p>
        </p:txBody>
      </p:sp>
      <p:sp>
        <p:nvSpPr>
          <p:cNvPr id="4" name="">
            <a:extLst xmlns:a="http://schemas.openxmlformats.org/drawingml/2006/main">
              <a:ext uri="{FF2B5EF4-FFF2-40B4-BE49-F238E27FC236}">
                <a16:creationId xmlns:a16="http://schemas.microsoft.com/office/drawing/2014/main" id="{0BAD5BF7-80FB-4EA0-987D-108CC252C15F}"/>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At value 2, extend the subsequence [1].</a:t>
            </a:r>
          </a:p>
        </p:txBody>
      </p:sp>
      <p:sp>
        <p:nvSpPr>
          <p:cNvPr id="5" name="">
            <a:extLst xmlns:a="http://schemas.openxmlformats.org/drawingml/2006/main">
              <a:ext uri="{FF2B5EF4-FFF2-40B4-BE49-F238E27FC236}">
                <a16:creationId xmlns:a16="http://schemas.microsoft.com/office/drawing/2014/main" id="{1E5AE40D-6114-45FF-9D8F-10F34F0BBF62}"/>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At value 4, extend [1, 2].</a:t>
            </a:r>
          </a:p>
        </p:txBody>
      </p:sp>
      <p:sp>
        <p:nvSpPr>
          <p:cNvPr id="6" name="">
            <a:extLst xmlns:a="http://schemas.openxmlformats.org/drawingml/2006/main">
              <a:ext uri="{FF2B5EF4-FFF2-40B4-BE49-F238E27FC236}">
                <a16:creationId xmlns:a16="http://schemas.microsoft.com/office/drawing/2014/main" id="{B430FAC5-CCED-473C-BCF2-BE23FF9A0A0A}"/>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Length 3: [1, 2, 5] or [1, 2, 4].</a:t>
            </a:r>
          </a:p>
        </p:txBody>
      </p:sp>
      <p:graphicFrame>
        <p:nvGraphicFramePr>
          <p:cNvPr id="7" name="">
            <a:extLst xmlns:a="http://schemas.openxmlformats.org/drawingml/2006/main">
              <a:ext uri="{FF2B5EF4-FFF2-40B4-BE49-F238E27FC236}">
                <a16:creationId xmlns:a16="http://schemas.microsoft.com/office/drawing/2014/main" id="{86E44928-FA29-478D-B31E-0DF0FD9C4523}"/>
              </a:ext>
            </a:extLst>
          </p:cNvPr>
          <p:cNvGraphicFramePr/>
          <p:nvPr/>
        </p:nvGraphicFramePr>
        <p:xfrm>
          <a:off xmlns:a="http://schemas.openxmlformats.org/drawingml/2006/main" x="609600" y="3171825"/>
          <a:ext xmlns:a="http://schemas.openxmlformats.org/drawingml/2006/main" cx="10972800" cy="1828800"/>
        </p:xfrm>
        <a:graphic xmlns:a="http://schemas.openxmlformats.org/drawingml/2006/main">
          <a:graphicData uri="http://schemas.openxmlformats.org/drawingml/2006/table">
            <a:tbl>
              <a:tblPr/>
              <a:tblGrid>
                <a:gridCol w="1828800"/>
                <a:gridCol w="1828800"/>
                <a:gridCol w="1828800"/>
                <a:gridCol w="1828800"/>
                <a:gridCol w="1828800"/>
                <a:gridCol w="1828800"/>
              </a:tblGrid>
              <a:tr h="457200">
                <a:tc>
                  <a:txBody>
                    <a:bodyPr/>
                    <a:lstStyle/>
                    <a:p>
                      <a:r>
                        <a:rPr sz="1875" b="1">
                          <a:solidFill>
                            <a:srgbClr val="162D42"/>
                          </a:solidFill>
                          <a:latin typeface="Arial"/>
                          <a:ea typeface="Arial"/>
                          <a:cs typeface="Arial"/>
                        </a:rPr>
                        <a:t>i</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875" b="1">
                          <a:solidFill>
                            <a:srgbClr val="162D42"/>
                          </a:solidFill>
                          <a:latin typeface="Arial"/>
                          <a:ea typeface="Arial"/>
                          <a:cs typeface="Arial"/>
                        </a:rPr>
                        <a:t>0</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875" b="1">
                          <a:solidFill>
                            <a:srgbClr val="162D42"/>
                          </a:solidFill>
                          <a:latin typeface="Arial"/>
                          <a:ea typeface="Arial"/>
                          <a:cs typeface="Arial"/>
                        </a:rPr>
                        <a:t>1</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875" b="1">
                          <a:solidFill>
                            <a:srgbClr val="162D42"/>
                          </a:solidFill>
                          <a:latin typeface="Arial"/>
                          <a:ea typeface="Arial"/>
                          <a:cs typeface="Arial"/>
                        </a:rPr>
                        <a:t>2</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875" b="1">
                          <a:solidFill>
                            <a:srgbClr val="162D42"/>
                          </a:solidFill>
                          <a:latin typeface="Arial"/>
                          <a:ea typeface="Arial"/>
                          <a:cs typeface="Arial"/>
                        </a:rPr>
                        <a:t>3</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875" b="1">
                          <a:solidFill>
                            <a:srgbClr val="162D42"/>
                          </a:solidFill>
                          <a:latin typeface="Arial"/>
                          <a:ea typeface="Arial"/>
                          <a:cs typeface="Arial"/>
                        </a:rPr>
                        <a:t>4</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r>
              <a:tr h="457200">
                <a:tc>
                  <a:txBody>
                    <a:bodyPr/>
                    <a:lstStyle/>
                    <a:p>
                      <a:r>
                        <a:rPr sz="1875" b="0">
                          <a:solidFill>
                            <a:srgbClr val="162D42"/>
                          </a:solidFill>
                          <a:latin typeface="Arial"/>
                          <a:ea typeface="Arial"/>
                          <a:cs typeface="Arial"/>
                        </a:rPr>
                        <a:t>a[i]</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5</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4</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875" b="0">
                          <a:solidFill>
                            <a:srgbClr val="162D42"/>
                          </a:solidFill>
                          <a:latin typeface="Arial"/>
                          <a:ea typeface="Arial"/>
                          <a:cs typeface="Arial"/>
                        </a:rPr>
                        <a:t>dp[i]</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875" b="0">
                          <a:solidFill>
                            <a:srgbClr val="162D42"/>
                          </a:solidFill>
                          <a:latin typeface="Arial"/>
                          <a:ea typeface="Arial"/>
                          <a:cs typeface="Arial"/>
                        </a:rPr>
                        <a:t>parent[i]</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2CCA101-919A-46D2-B56B-66A32ABFD633}"/>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2AF2C358-3D1F-490E-A2D4-9621A5DE4E03}"/>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10 / 34</a:t>
            </a:r>
          </a:p>
        </p:txBody>
      </p:sp>
    </p:spTree>
    <p:extLst>
      <p:ext uri="{BB962C8B-B14F-4D97-AF65-F5344CB8AC3E}">
        <p14:creationId xmlns:p14="http://schemas.microsoft.com/office/powerpoint/2010/main" val="11563706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9EA5109-BF05-4769-8320-AE7E8D3F4E3C}"/>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CDFDF80F-5633-4EE9-A00C-06C4B72FB7C7}"/>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LIS reconstruction in Java</a:t>
            </a:r>
          </a:p>
        </p:txBody>
      </p:sp>
      <p:sp>
        <p:nvSpPr>
          <p:cNvPr id="4" name="">
            <a:extLst xmlns:a="http://schemas.openxmlformats.org/drawingml/2006/main">
              <a:ext uri="{FF2B5EF4-FFF2-40B4-BE49-F238E27FC236}">
                <a16:creationId xmlns:a16="http://schemas.microsoft.com/office/drawing/2014/main" id="{19867602-7CD3-4553-BA54-A60843D2248C}"/>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parent index records the choice that improved dp[i].</a:t>
            </a:r>
          </a:p>
        </p:txBody>
      </p:sp>
      <p:sp>
        <p:nvSpPr>
          <p:cNvPr id="5" name="">
            <a:extLst xmlns:a="http://schemas.openxmlformats.org/drawingml/2006/main">
              <a:ext uri="{FF2B5EF4-FFF2-40B4-BE49-F238E27FC236}">
                <a16:creationId xmlns:a16="http://schemas.microsoft.com/office/drawing/2014/main" id="{B5EDCFE0-3999-495E-B7A5-9DC6712464DD}"/>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Follow parents from an index with maximum dp.</a:t>
            </a:r>
          </a:p>
        </p:txBody>
      </p:sp>
      <p:sp>
        <p:nvSpPr>
          <p:cNvPr id="6" name="">
            <a:extLst xmlns:a="http://schemas.openxmlformats.org/drawingml/2006/main">
              <a:ext uri="{FF2B5EF4-FFF2-40B4-BE49-F238E27FC236}">
                <a16:creationId xmlns:a16="http://schemas.microsoft.com/office/drawing/2014/main" id="{9D6A96EF-0118-4034-9D14-09C2F1624305}"/>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Reverse the collected values.</a:t>
            </a:r>
          </a:p>
        </p:txBody>
      </p:sp>
      <p:sp>
        <p:nvSpPr>
          <p:cNvPr id="7" name="">
            <a:extLst xmlns:a="http://schemas.openxmlformats.org/drawingml/2006/main">
              <a:ext uri="{FF2B5EF4-FFF2-40B4-BE49-F238E27FC236}">
                <a16:creationId xmlns:a16="http://schemas.microsoft.com/office/drawing/2014/main" id="{D5BDEBED-F554-4008-A825-66372872050B}"/>
              </a:ext>
            </a:extLst>
          </p:cNvPr>
          <p:cNvSpPr>
            <a:spLocks xmlns:a="http://schemas.openxmlformats.org/drawingml/2006/main" noGrp="1"/>
          </p:cNvSpPr>
          <p:nvPr/>
        </p:nvSpPr>
        <p:spPr>
          <a:xfrm xmlns:a="http://schemas.openxmlformats.org/drawingml/2006/main">
            <a:off x="609600" y="3171825"/>
            <a:ext cx="109728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62D42"/>
                </a:solidFill>
                <a:latin typeface="Courier New"/>
                <a:ea typeface="Courier New"/>
                <a:cs typeface="Courier New"/>
              </a:defRPr>
            </a:defPPr>
            <a:lvl1pPr>
              <a:defRPr sz="1725" b="0">
                <a:solidFill>
                  <a:srgbClr val="162D42"/>
                </a:solidFill>
                <a:latin typeface="Courier New"/>
                <a:ea typeface="Courier New"/>
                <a:cs typeface="Courier New"/>
              </a:defRPr>
            </a:lvl1pPr>
            <a:lvl2pPr>
              <a:defRPr sz="1725" b="0">
                <a:solidFill>
                  <a:srgbClr val="162D42"/>
                </a:solidFill>
                <a:latin typeface="Courier New"/>
                <a:ea typeface="Courier New"/>
                <a:cs typeface="Courier New"/>
              </a:defRPr>
            </a:lvl2pPr>
            <a:lvl3pPr>
              <a:defRPr sz="1725" b="0">
                <a:solidFill>
                  <a:srgbClr val="162D42"/>
                </a:solidFill>
                <a:latin typeface="Courier New"/>
                <a:ea typeface="Courier New"/>
                <a:cs typeface="Courier New"/>
              </a:defRPr>
            </a:lvl3pPr>
            <a:lvl4pPr>
              <a:defRPr sz="1725" b="0">
                <a:solidFill>
                  <a:srgbClr val="162D42"/>
                </a:solidFill>
                <a:latin typeface="Courier New"/>
                <a:ea typeface="Courier New"/>
                <a:cs typeface="Courier New"/>
              </a:defRPr>
            </a:lvl4pPr>
            <a:lvl5pPr>
              <a:defRPr sz="1725" b="0">
                <a:solidFill>
                  <a:srgbClr val="162D42"/>
                </a:solidFill>
                <a:latin typeface="Courier New"/>
                <a:ea typeface="Courier New"/>
                <a:cs typeface="Courier New"/>
              </a:defRPr>
            </a:lvl5pPr>
            <a:lvl6pPr>
              <a:defRPr sz="1725" b="0">
                <a:solidFill>
                  <a:srgbClr val="162D42"/>
                </a:solidFill>
                <a:latin typeface="Courier New"/>
                <a:ea typeface="Courier New"/>
                <a:cs typeface="Courier New"/>
              </a:defRPr>
            </a:lvl6pPr>
            <a:lvl7pPr>
              <a:defRPr sz="1725" b="0">
                <a:solidFill>
                  <a:srgbClr val="162D42"/>
                </a:solidFill>
                <a:latin typeface="Courier New"/>
                <a:ea typeface="Courier New"/>
                <a:cs typeface="Courier New"/>
              </a:defRPr>
            </a:lvl7pPr>
            <a:lvl8pPr>
              <a:defRPr sz="1725" b="0">
                <a:solidFill>
                  <a:srgbClr val="162D42"/>
                </a:solidFill>
                <a:latin typeface="Courier New"/>
                <a:ea typeface="Courier New"/>
                <a:cs typeface="Courier New"/>
              </a:defRPr>
            </a:lvl8pPr>
            <a:lvl9pPr>
              <a:defRPr sz="1725" b="0">
                <a:solidFill>
                  <a:srgbClr val="162D42"/>
                </a:solidFill>
                <a:latin typeface="Courier New"/>
                <a:ea typeface="Courier New"/>
                <a:cs typeface="Courier New"/>
              </a:defRPr>
            </a:lvl9pPr>
          </a:lstStyle>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Arrays.fill(dp, 1);</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Arrays.fill(parent, -1);</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for (int i = 0; i &lt; n; i++)</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for (int j = 0; j &lt; i; j++)</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if (a[j] &lt; a[i] &amp;&amp; dp[j] + 1 &gt; dp[i]) {</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dp[i] = dp[j] + 1;</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parent[i] = j;</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a:t>
            </a:r>
          </a:p>
        </p:txBody>
      </p:sp>
      <p:sp>
        <p:nvSpPr>
          <p:cNvPr id="8" name="">
            <a:extLst xmlns:a="http://schemas.openxmlformats.org/drawingml/2006/main">
              <a:ext uri="{FF2B5EF4-FFF2-40B4-BE49-F238E27FC236}">
                <a16:creationId xmlns:a16="http://schemas.microsoft.com/office/drawing/2014/main" id="{CCD01CAD-58C1-4775-A537-D4BAE3FF4615}"/>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5F3BB7CC-0AB6-4D00-AA72-54A30272AF04}"/>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11 / 34</a:t>
            </a:r>
          </a:p>
        </p:txBody>
      </p:sp>
    </p:spTree>
    <p:extLst>
      <p:ext uri="{BB962C8B-B14F-4D97-AF65-F5344CB8AC3E}">
        <p14:creationId xmlns:p14="http://schemas.microsoft.com/office/powerpoint/2010/main" val="16289224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3367E45-C74C-4856-BA08-B00DAA9DFC25}"/>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EBEBE5C0-A0C3-400E-BEFC-8AAA3A961594}"/>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LCS: two prefixes define a state</a:t>
            </a:r>
          </a:p>
        </p:txBody>
      </p:sp>
      <p:sp>
        <p:nvSpPr>
          <p:cNvPr id="4" name="">
            <a:extLst xmlns:a="http://schemas.openxmlformats.org/drawingml/2006/main">
              <a:ext uri="{FF2B5EF4-FFF2-40B4-BE49-F238E27FC236}">
                <a16:creationId xmlns:a16="http://schemas.microsoft.com/office/drawing/2014/main" id="{5A364CF7-EA3B-41E5-92EE-AFD2DB1A3C65}"/>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 ABCDE, B = ACE</a:t>
            </a:r>
          </a:p>
        </p:txBody>
      </p:sp>
      <p:sp>
        <p:nvSpPr>
          <p:cNvPr id="5" name="">
            <a:extLst xmlns:a="http://schemas.openxmlformats.org/drawingml/2006/main">
              <a:ext uri="{FF2B5EF4-FFF2-40B4-BE49-F238E27FC236}">
                <a16:creationId xmlns:a16="http://schemas.microsoft.com/office/drawing/2014/main" id="{A809DC72-518B-4CEB-A634-D090868ACEB0}"/>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L[i][j] is the LCS length of A[0..i) and B[0..j).</a:t>
            </a:r>
          </a:p>
        </p:txBody>
      </p:sp>
      <p:sp>
        <p:nvSpPr>
          <p:cNvPr id="6" name="">
            <a:extLst xmlns:a="http://schemas.openxmlformats.org/drawingml/2006/main">
              <a:ext uri="{FF2B5EF4-FFF2-40B4-BE49-F238E27FC236}">
                <a16:creationId xmlns:a16="http://schemas.microsoft.com/office/drawing/2014/main" id="{0E1A05B1-7ACF-4F1A-BED5-2C6FF0AD304C}"/>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prefix of length 0 is empty.</a:t>
            </a:r>
          </a:p>
        </p:txBody>
      </p:sp>
      <p:sp>
        <p:nvSpPr>
          <p:cNvPr id="7" name="">
            <a:extLst xmlns:a="http://schemas.openxmlformats.org/drawingml/2006/main">
              <a:ext uri="{FF2B5EF4-FFF2-40B4-BE49-F238E27FC236}">
                <a16:creationId xmlns:a16="http://schemas.microsoft.com/office/drawing/2014/main" id="{9922424E-9900-45E8-B4F0-E3D09444B2E0}"/>
              </a:ext>
            </a:extLst>
          </p:cNvPr>
          <p:cNvSpPr>
            <a:spLocks xmlns:a="http://schemas.openxmlformats.org/drawingml/2006/main" noGrp="1"/>
          </p:cNvSpPr>
          <p:nvPr/>
        </p:nvSpPr>
        <p:spPr>
          <a:xfrm xmlns:a="http://schemas.openxmlformats.org/drawingml/2006/main">
            <a:off x="609600" y="3267075"/>
            <a:ext cx="109728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A44270"/>
                </a:solidFill>
                <a:latin typeface="Arial"/>
                <a:ea typeface="Arial"/>
                <a:cs typeface="Arial"/>
              </a:defRPr>
            </a:defPPr>
            <a:lvl1pPr>
              <a:defRPr sz="2325" b="1">
                <a:solidFill>
                  <a:srgbClr val="A44270"/>
                </a:solidFill>
                <a:latin typeface="Arial"/>
                <a:ea typeface="Arial"/>
                <a:cs typeface="Arial"/>
              </a:defRPr>
            </a:lvl1pPr>
            <a:lvl2pPr>
              <a:defRPr sz="2325" b="1">
                <a:solidFill>
                  <a:srgbClr val="A44270"/>
                </a:solidFill>
                <a:latin typeface="Arial"/>
                <a:ea typeface="Arial"/>
                <a:cs typeface="Arial"/>
              </a:defRPr>
            </a:lvl2pPr>
            <a:lvl3pPr>
              <a:defRPr sz="2325" b="1">
                <a:solidFill>
                  <a:srgbClr val="A44270"/>
                </a:solidFill>
                <a:latin typeface="Arial"/>
                <a:ea typeface="Arial"/>
                <a:cs typeface="Arial"/>
              </a:defRPr>
            </a:lvl3pPr>
            <a:lvl4pPr>
              <a:defRPr sz="2325" b="1">
                <a:solidFill>
                  <a:srgbClr val="A44270"/>
                </a:solidFill>
                <a:latin typeface="Arial"/>
                <a:ea typeface="Arial"/>
                <a:cs typeface="Arial"/>
              </a:defRPr>
            </a:lvl4pPr>
            <a:lvl5pPr>
              <a:defRPr sz="2325" b="1">
                <a:solidFill>
                  <a:srgbClr val="A44270"/>
                </a:solidFill>
                <a:latin typeface="Arial"/>
                <a:ea typeface="Arial"/>
                <a:cs typeface="Arial"/>
              </a:defRPr>
            </a:lvl5pPr>
            <a:lvl6pPr>
              <a:defRPr sz="2325" b="1">
                <a:solidFill>
                  <a:srgbClr val="A44270"/>
                </a:solidFill>
                <a:latin typeface="Arial"/>
                <a:ea typeface="Arial"/>
                <a:cs typeface="Arial"/>
              </a:defRPr>
            </a:lvl6pPr>
            <a:lvl7pPr>
              <a:defRPr sz="2325" b="1">
                <a:solidFill>
                  <a:srgbClr val="A44270"/>
                </a:solidFill>
                <a:latin typeface="Arial"/>
                <a:ea typeface="Arial"/>
                <a:cs typeface="Arial"/>
              </a:defRPr>
            </a:lvl7pPr>
            <a:lvl8pPr>
              <a:defRPr sz="2325" b="1">
                <a:solidFill>
                  <a:srgbClr val="A44270"/>
                </a:solidFill>
                <a:latin typeface="Arial"/>
                <a:ea typeface="Arial"/>
                <a:cs typeface="Arial"/>
              </a:defRPr>
            </a:lvl8pPr>
            <a:lvl9pPr>
              <a:defRPr sz="2325" b="1">
                <a:solidFill>
                  <a:srgbClr val="A44270"/>
                </a:solidFill>
                <a:latin typeface="Arial"/>
                <a:ea typeface="Arial"/>
                <a:cs typeface="Arial"/>
              </a:defRPr>
            </a:lvl9pPr>
          </a:lstStyle>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L[0][j] = 0</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L[i][0] = 0</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Answer = L[n][m]</a:t>
            </a:r>
          </a:p>
        </p:txBody>
      </p:sp>
      <p:sp>
        <p:nvSpPr>
          <p:cNvPr id="8" name="">
            <a:extLst xmlns:a="http://schemas.openxmlformats.org/drawingml/2006/main">
              <a:ext uri="{FF2B5EF4-FFF2-40B4-BE49-F238E27FC236}">
                <a16:creationId xmlns:a16="http://schemas.microsoft.com/office/drawing/2014/main" id="{C9CC78C3-97E7-492A-A19F-DBF48B48618B}"/>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BEC099C6-40DE-494E-9A5B-D398DEABC071}"/>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12 / 34</a:t>
            </a:r>
          </a:p>
        </p:txBody>
      </p:sp>
    </p:spTree>
    <p:extLst>
      <p:ext uri="{BB962C8B-B14F-4D97-AF65-F5344CB8AC3E}">
        <p14:creationId xmlns:p14="http://schemas.microsoft.com/office/powerpoint/2010/main" val="13065222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35D0CC-657D-4EF2-8A3F-3011769FA636}"/>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B8F183D7-764F-42AB-ACB1-2438E343B045}"/>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LCS recurrence</a:t>
            </a:r>
          </a:p>
        </p:txBody>
      </p:sp>
      <p:sp>
        <p:nvSpPr>
          <p:cNvPr id="4" name="">
            <a:extLst xmlns:a="http://schemas.openxmlformats.org/drawingml/2006/main">
              <a:ext uri="{FF2B5EF4-FFF2-40B4-BE49-F238E27FC236}">
                <a16:creationId xmlns:a16="http://schemas.microsoft.com/office/drawing/2014/main" id="{6780DEC6-6F1A-4EAC-8342-44D66B8FC348}"/>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Equal final characters can extend an optimal shorter pair.</a:t>
            </a:r>
          </a:p>
        </p:txBody>
      </p:sp>
      <p:sp>
        <p:nvSpPr>
          <p:cNvPr id="5" name="">
            <a:extLst xmlns:a="http://schemas.openxmlformats.org/drawingml/2006/main">
              <a:ext uri="{FF2B5EF4-FFF2-40B4-BE49-F238E27FC236}">
                <a16:creationId xmlns:a16="http://schemas.microsoft.com/office/drawing/2014/main" id="{53FEC7C8-962A-4D45-8521-6A211705A4FC}"/>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Different final characters require skipping one side.</a:t>
            </a:r>
          </a:p>
        </p:txBody>
      </p:sp>
      <p:sp>
        <p:nvSpPr>
          <p:cNvPr id="6" name="">
            <a:extLst xmlns:a="http://schemas.openxmlformats.org/drawingml/2006/main">
              <a:ext uri="{FF2B5EF4-FFF2-40B4-BE49-F238E27FC236}">
                <a16:creationId xmlns:a16="http://schemas.microsoft.com/office/drawing/2014/main" id="{2106BD28-F02C-40AA-AA44-57C44D0846D9}"/>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Every dependency uses a shorter prefix.</a:t>
            </a:r>
          </a:p>
        </p:txBody>
      </p:sp>
      <p:sp>
        <p:nvSpPr>
          <p:cNvPr id="7" name="">
            <a:extLst xmlns:a="http://schemas.openxmlformats.org/drawingml/2006/main">
              <a:ext uri="{FF2B5EF4-FFF2-40B4-BE49-F238E27FC236}">
                <a16:creationId xmlns:a16="http://schemas.microsoft.com/office/drawing/2014/main" id="{565877ED-BE93-4629-B11D-BF50CAA787C4}"/>
              </a:ext>
            </a:extLst>
          </p:cNvPr>
          <p:cNvSpPr>
            <a:spLocks xmlns:a="http://schemas.openxmlformats.org/drawingml/2006/main" noGrp="1"/>
          </p:cNvSpPr>
          <p:nvPr/>
        </p:nvSpPr>
        <p:spPr>
          <a:xfrm xmlns:a="http://schemas.openxmlformats.org/drawingml/2006/main">
            <a:off x="609600" y="3267075"/>
            <a:ext cx="109728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A44270"/>
                </a:solidFill>
                <a:latin typeface="Arial"/>
                <a:ea typeface="Arial"/>
                <a:cs typeface="Arial"/>
              </a:defRPr>
            </a:defPPr>
            <a:lvl1pPr>
              <a:defRPr sz="2325" b="1">
                <a:solidFill>
                  <a:srgbClr val="A44270"/>
                </a:solidFill>
                <a:latin typeface="Arial"/>
                <a:ea typeface="Arial"/>
                <a:cs typeface="Arial"/>
              </a:defRPr>
            </a:lvl1pPr>
            <a:lvl2pPr>
              <a:defRPr sz="2325" b="1">
                <a:solidFill>
                  <a:srgbClr val="A44270"/>
                </a:solidFill>
                <a:latin typeface="Arial"/>
                <a:ea typeface="Arial"/>
                <a:cs typeface="Arial"/>
              </a:defRPr>
            </a:lvl2pPr>
            <a:lvl3pPr>
              <a:defRPr sz="2325" b="1">
                <a:solidFill>
                  <a:srgbClr val="A44270"/>
                </a:solidFill>
                <a:latin typeface="Arial"/>
                <a:ea typeface="Arial"/>
                <a:cs typeface="Arial"/>
              </a:defRPr>
            </a:lvl3pPr>
            <a:lvl4pPr>
              <a:defRPr sz="2325" b="1">
                <a:solidFill>
                  <a:srgbClr val="A44270"/>
                </a:solidFill>
                <a:latin typeface="Arial"/>
                <a:ea typeface="Arial"/>
                <a:cs typeface="Arial"/>
              </a:defRPr>
            </a:lvl4pPr>
            <a:lvl5pPr>
              <a:defRPr sz="2325" b="1">
                <a:solidFill>
                  <a:srgbClr val="A44270"/>
                </a:solidFill>
                <a:latin typeface="Arial"/>
                <a:ea typeface="Arial"/>
                <a:cs typeface="Arial"/>
              </a:defRPr>
            </a:lvl5pPr>
            <a:lvl6pPr>
              <a:defRPr sz="2325" b="1">
                <a:solidFill>
                  <a:srgbClr val="A44270"/>
                </a:solidFill>
                <a:latin typeface="Arial"/>
                <a:ea typeface="Arial"/>
                <a:cs typeface="Arial"/>
              </a:defRPr>
            </a:lvl6pPr>
            <a:lvl7pPr>
              <a:defRPr sz="2325" b="1">
                <a:solidFill>
                  <a:srgbClr val="A44270"/>
                </a:solidFill>
                <a:latin typeface="Arial"/>
                <a:ea typeface="Arial"/>
                <a:cs typeface="Arial"/>
              </a:defRPr>
            </a:lvl7pPr>
            <a:lvl8pPr>
              <a:defRPr sz="2325" b="1">
                <a:solidFill>
                  <a:srgbClr val="A44270"/>
                </a:solidFill>
                <a:latin typeface="Arial"/>
                <a:ea typeface="Arial"/>
                <a:cs typeface="Arial"/>
              </a:defRPr>
            </a:lvl8pPr>
            <a:lvl9pPr>
              <a:defRPr sz="2325" b="1">
                <a:solidFill>
                  <a:srgbClr val="A44270"/>
                </a:solidFill>
                <a:latin typeface="Arial"/>
                <a:ea typeface="Arial"/>
                <a:cs typeface="Arial"/>
              </a:defRPr>
            </a:lvl9pPr>
          </a:lstStyle>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A[i−1] = B[j−1]:  L[i][j] = 1 + L[i−1][j−1]</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Otherwise:  L[i][j] = max(L[i−1][j], L[i][j−1])</a:t>
            </a:r>
          </a:p>
        </p:txBody>
      </p:sp>
      <p:sp>
        <p:nvSpPr>
          <p:cNvPr id="8" name="">
            <a:extLst xmlns:a="http://schemas.openxmlformats.org/drawingml/2006/main">
              <a:ext uri="{FF2B5EF4-FFF2-40B4-BE49-F238E27FC236}">
                <a16:creationId xmlns:a16="http://schemas.microsoft.com/office/drawing/2014/main" id="{5C6C429D-C560-40DC-ACFC-997FEA05176E}"/>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08A3B5E7-BD9B-4553-9104-32ADC7197FAF}"/>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13 / 34</a:t>
            </a:r>
          </a:p>
        </p:txBody>
      </p:sp>
    </p:spTree>
    <p:extLst>
      <p:ext uri="{BB962C8B-B14F-4D97-AF65-F5344CB8AC3E}">
        <p14:creationId xmlns:p14="http://schemas.microsoft.com/office/powerpoint/2010/main" val="7284325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FFC3DAB-E26F-4E9F-9922-6ADF323E5BAB}"/>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929FCB40-710F-4802-9134-6E545EA96043}"/>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LCS table for ABCDE and ACE</a:t>
            </a:r>
          </a:p>
        </p:txBody>
      </p:sp>
      <p:sp>
        <p:nvSpPr>
          <p:cNvPr id="4" name="">
            <a:extLst xmlns:a="http://schemas.openxmlformats.org/drawingml/2006/main">
              <a:ext uri="{FF2B5EF4-FFF2-40B4-BE49-F238E27FC236}">
                <a16:creationId xmlns:a16="http://schemas.microsoft.com/office/drawing/2014/main" id="{3DC15FD5-4A23-4A11-9A32-F94EBF0932B5}"/>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Rows are prefixes of ABCDE.</a:t>
            </a:r>
          </a:p>
        </p:txBody>
      </p:sp>
      <p:sp>
        <p:nvSpPr>
          <p:cNvPr id="5" name="">
            <a:extLst xmlns:a="http://schemas.openxmlformats.org/drawingml/2006/main">
              <a:ext uri="{FF2B5EF4-FFF2-40B4-BE49-F238E27FC236}">
                <a16:creationId xmlns:a16="http://schemas.microsoft.com/office/drawing/2014/main" id="{D740AD64-D7B8-485B-9867-D4B6E7B6EDD9}"/>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Columns are prefixes of ACE.</a:t>
            </a:r>
          </a:p>
        </p:txBody>
      </p:sp>
      <p:sp>
        <p:nvSpPr>
          <p:cNvPr id="6" name="">
            <a:extLst xmlns:a="http://schemas.openxmlformats.org/drawingml/2006/main">
              <a:ext uri="{FF2B5EF4-FFF2-40B4-BE49-F238E27FC236}">
                <a16:creationId xmlns:a16="http://schemas.microsoft.com/office/drawing/2014/main" id="{8110A634-2062-4092-B4C7-7A751213C784}"/>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At (C, C), the diagonal value 1 becomes 2.</a:t>
            </a:r>
          </a:p>
        </p:txBody>
      </p:sp>
      <p:graphicFrame>
        <p:nvGraphicFramePr>
          <p:cNvPr id="7" name="">
            <a:extLst xmlns:a="http://schemas.openxmlformats.org/drawingml/2006/main">
              <a:ext uri="{FF2B5EF4-FFF2-40B4-BE49-F238E27FC236}">
                <a16:creationId xmlns:a16="http://schemas.microsoft.com/office/drawing/2014/main" id="{17919158-5A3F-43D3-AFFB-FF10BDAF80D0}"/>
              </a:ext>
            </a:extLst>
          </p:cNvPr>
          <p:cNvGraphicFramePr/>
          <p:nvPr/>
        </p:nvGraphicFramePr>
        <p:xfrm>
          <a:off xmlns:a="http://schemas.openxmlformats.org/drawingml/2006/main" x="609600" y="3171825"/>
          <a:ext xmlns:a="http://schemas.openxmlformats.org/drawingml/2006/main" cx="10972800" cy="2952750"/>
        </p:xfrm>
        <a:graphic xmlns:a="http://schemas.openxmlformats.org/drawingml/2006/main">
          <a:graphicData uri="http://schemas.openxmlformats.org/drawingml/2006/table">
            <a:tbl>
              <a:tblPr/>
              <a:tblGrid>
                <a:gridCol w="2194560"/>
                <a:gridCol w="2194560"/>
                <a:gridCol w="2194560"/>
                <a:gridCol w="2194560"/>
                <a:gridCol w="2194560"/>
              </a:tblGrid>
              <a:tr h="421821">
                <a:tc>
                  <a:txBody>
                    <a:bodyPr/>
                    <a:lstStyle/>
                    <a:p>
                      <a:r>
                        <a:rPr sz="1875" b="1">
                          <a:solidFill>
                            <a:srgbClr val="162D42"/>
                          </a:solidFill>
                          <a:latin typeface="Arial"/>
                          <a:ea typeface="Arial"/>
                          <a:cs typeface="Arial"/>
                        </a:rPr>
                        <a:t>A \ B</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875" b="1">
                          <a:solidFill>
                            <a:srgbClr val="162D42"/>
                          </a:solidFill>
                          <a:latin typeface="Arial"/>
                          <a:ea typeface="Arial"/>
                          <a:cs typeface="Arial"/>
                        </a:rPr>
                        <a: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875" b="1">
                          <a:solidFill>
                            <a:srgbClr val="162D42"/>
                          </a:solidFill>
                          <a:latin typeface="Arial"/>
                          <a:ea typeface="Arial"/>
                          <a:cs typeface="Arial"/>
                        </a:rPr>
                        <a:t>A</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875" b="1">
                          <a:solidFill>
                            <a:srgbClr val="162D42"/>
                          </a:solidFill>
                          <a:latin typeface="Arial"/>
                          <a:ea typeface="Arial"/>
                          <a:cs typeface="Arial"/>
                        </a:rPr>
                        <a:t>C</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875" b="1">
                          <a:solidFill>
                            <a:srgbClr val="162D42"/>
                          </a:solidFill>
                          <a:latin typeface="Arial"/>
                          <a:ea typeface="Arial"/>
                          <a:cs typeface="Arial"/>
                        </a:rPr>
                        <a:t>E</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r>
              <a:tr h="421821">
                <a:tc>
                  <a:txBody>
                    <a:bodyPr/>
                    <a:lstStyle/>
                    <a:p>
                      <a:r>
                        <a:rPr sz="1875" b="0">
                          <a:solidFill>
                            <a:srgbClr val="162D42"/>
                          </a:solidFill>
                          <a:latin typeface="Arial"/>
                          <a:ea typeface="Arial"/>
                          <a:cs typeface="Arial"/>
                        </a:rPr>
                        <a:t>∅</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r>
              <a:tr h="421821">
                <a:tc>
                  <a:txBody>
                    <a:bodyPr/>
                    <a:lstStyle/>
                    <a:p>
                      <a:r>
                        <a:rPr sz="1875" b="0">
                          <a:solidFill>
                            <a:srgbClr val="162D42"/>
                          </a:solidFill>
                          <a:latin typeface="Arial"/>
                          <a:ea typeface="Arial"/>
                          <a:cs typeface="Arial"/>
                        </a:rPr>
                        <a:t>A</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r>
              <a:tr h="421821">
                <a:tc>
                  <a:txBody>
                    <a:bodyPr/>
                    <a:lstStyle/>
                    <a:p>
                      <a:r>
                        <a:rPr sz="1875" b="0">
                          <a:solidFill>
                            <a:srgbClr val="162D42"/>
                          </a:solidFill>
                          <a:latin typeface="Arial"/>
                          <a:ea typeface="Arial"/>
                          <a:cs typeface="Arial"/>
                        </a:rPr>
                        <a:t>B</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r>
              <a:tr h="421821">
                <a:tc>
                  <a:txBody>
                    <a:bodyPr/>
                    <a:lstStyle/>
                    <a:p>
                      <a:r>
                        <a:rPr sz="1875" b="0">
                          <a:solidFill>
                            <a:srgbClr val="162D42"/>
                          </a:solidFill>
                          <a:latin typeface="Arial"/>
                          <a:ea typeface="Arial"/>
                          <a:cs typeface="Arial"/>
                        </a:rPr>
                        <a:t>C</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r>
              <a:tr h="421821">
                <a:tc>
                  <a:txBody>
                    <a:bodyPr/>
                    <a:lstStyle/>
                    <a:p>
                      <a:r>
                        <a:rPr sz="1875" b="0">
                          <a:solidFill>
                            <a:srgbClr val="162D42"/>
                          </a:solidFill>
                          <a:latin typeface="Arial"/>
                          <a:ea typeface="Arial"/>
                          <a:cs typeface="Arial"/>
                        </a:rPr>
                        <a:t>D</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r>
              <a:tr h="421821">
                <a:tc>
                  <a:txBody>
                    <a:bodyPr/>
                    <a:lstStyle/>
                    <a:p>
                      <a:r>
                        <a:rPr sz="1875" b="0">
                          <a:solidFill>
                            <a:srgbClr val="162D42"/>
                          </a:solidFill>
                          <a:latin typeface="Arial"/>
                          <a:ea typeface="Arial"/>
                          <a:cs typeface="Arial"/>
                        </a:rPr>
                        <a:t>E</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875" b="0">
                          <a:solidFill>
                            <a:srgbClr val="162D42"/>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C7AEBB9D-1174-4C16-808D-E0A4526078E0}"/>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2880D2AA-987F-4B83-8955-171786882A94}"/>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14 / 34</a:t>
            </a:r>
          </a:p>
        </p:txBody>
      </p:sp>
    </p:spTree>
    <p:extLst>
      <p:ext uri="{BB962C8B-B14F-4D97-AF65-F5344CB8AC3E}">
        <p14:creationId xmlns:p14="http://schemas.microsoft.com/office/powerpoint/2010/main" val="130161913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FB8717C-1C0D-4172-AB66-BC700EFB0C6E}"/>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CCD70C1E-3467-40F5-9B9D-1891BA0FE906}"/>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LCS backtracking</a:t>
            </a:r>
          </a:p>
        </p:txBody>
      </p:sp>
      <p:sp>
        <p:nvSpPr>
          <p:cNvPr id="4" name="">
            <a:extLst xmlns:a="http://schemas.openxmlformats.org/drawingml/2006/main">
              <a:ext uri="{FF2B5EF4-FFF2-40B4-BE49-F238E27FC236}">
                <a16:creationId xmlns:a16="http://schemas.microsoft.com/office/drawing/2014/main" id="{EB921A59-E492-41D5-880C-C1A74131D978}"/>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match takes a diagonal step and records a character.</a:t>
            </a:r>
          </a:p>
        </p:txBody>
      </p:sp>
      <p:sp>
        <p:nvSpPr>
          <p:cNvPr id="5" name="">
            <a:extLst xmlns:a="http://schemas.openxmlformats.org/drawingml/2006/main">
              <a:ext uri="{FF2B5EF4-FFF2-40B4-BE49-F238E27FC236}">
                <a16:creationId xmlns:a16="http://schemas.microsoft.com/office/drawing/2014/main" id="{27205D51-2776-4FE8-9E94-74B978B2AA48}"/>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mismatch follows a neighbor with the same optimal value.</a:t>
            </a:r>
          </a:p>
        </p:txBody>
      </p:sp>
      <p:sp>
        <p:nvSpPr>
          <p:cNvPr id="6" name="">
            <a:extLst xmlns:a="http://schemas.openxmlformats.org/drawingml/2006/main">
              <a:ext uri="{FF2B5EF4-FFF2-40B4-BE49-F238E27FC236}">
                <a16:creationId xmlns:a16="http://schemas.microsoft.com/office/drawing/2014/main" id="{1BA975D9-F5E7-4C7B-8E4B-21AF98E1204A}"/>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Ties may lead to different valid LCS outputs.</a:t>
            </a:r>
          </a:p>
        </p:txBody>
      </p:sp>
      <p:sp>
        <p:nvSpPr>
          <p:cNvPr id="7" name="">
            <a:extLst xmlns:a="http://schemas.openxmlformats.org/drawingml/2006/main">
              <a:ext uri="{FF2B5EF4-FFF2-40B4-BE49-F238E27FC236}">
                <a16:creationId xmlns:a16="http://schemas.microsoft.com/office/drawing/2014/main" id="{B0D90366-2CC8-4EDA-9E52-D4A69DBAFB21}"/>
              </a:ext>
            </a:extLst>
          </p:cNvPr>
          <p:cNvSpPr>
            <a:spLocks xmlns:a="http://schemas.openxmlformats.org/drawingml/2006/main" noGrp="1"/>
          </p:cNvSpPr>
          <p:nvPr/>
        </p:nvSpPr>
        <p:spPr>
          <a:xfrm xmlns:a="http://schemas.openxmlformats.org/drawingml/2006/main">
            <a:off x="609600" y="3267075"/>
            <a:ext cx="109728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A44270"/>
                </a:solidFill>
                <a:latin typeface="Arial"/>
                <a:ea typeface="Arial"/>
                <a:cs typeface="Arial"/>
              </a:defRPr>
            </a:defPPr>
            <a:lvl1pPr>
              <a:defRPr sz="2325" b="1">
                <a:solidFill>
                  <a:srgbClr val="A44270"/>
                </a:solidFill>
                <a:latin typeface="Arial"/>
                <a:ea typeface="Arial"/>
                <a:cs typeface="Arial"/>
              </a:defRPr>
            </a:lvl1pPr>
            <a:lvl2pPr>
              <a:defRPr sz="2325" b="1">
                <a:solidFill>
                  <a:srgbClr val="A44270"/>
                </a:solidFill>
                <a:latin typeface="Arial"/>
                <a:ea typeface="Arial"/>
                <a:cs typeface="Arial"/>
              </a:defRPr>
            </a:lvl2pPr>
            <a:lvl3pPr>
              <a:defRPr sz="2325" b="1">
                <a:solidFill>
                  <a:srgbClr val="A44270"/>
                </a:solidFill>
                <a:latin typeface="Arial"/>
                <a:ea typeface="Arial"/>
                <a:cs typeface="Arial"/>
              </a:defRPr>
            </a:lvl3pPr>
            <a:lvl4pPr>
              <a:defRPr sz="2325" b="1">
                <a:solidFill>
                  <a:srgbClr val="A44270"/>
                </a:solidFill>
                <a:latin typeface="Arial"/>
                <a:ea typeface="Arial"/>
                <a:cs typeface="Arial"/>
              </a:defRPr>
            </a:lvl4pPr>
            <a:lvl5pPr>
              <a:defRPr sz="2325" b="1">
                <a:solidFill>
                  <a:srgbClr val="A44270"/>
                </a:solidFill>
                <a:latin typeface="Arial"/>
                <a:ea typeface="Arial"/>
                <a:cs typeface="Arial"/>
              </a:defRPr>
            </a:lvl5pPr>
            <a:lvl6pPr>
              <a:defRPr sz="2325" b="1">
                <a:solidFill>
                  <a:srgbClr val="A44270"/>
                </a:solidFill>
                <a:latin typeface="Arial"/>
                <a:ea typeface="Arial"/>
                <a:cs typeface="Arial"/>
              </a:defRPr>
            </a:lvl6pPr>
            <a:lvl7pPr>
              <a:defRPr sz="2325" b="1">
                <a:solidFill>
                  <a:srgbClr val="A44270"/>
                </a:solidFill>
                <a:latin typeface="Arial"/>
                <a:ea typeface="Arial"/>
                <a:cs typeface="Arial"/>
              </a:defRPr>
            </a:lvl7pPr>
            <a:lvl8pPr>
              <a:defRPr sz="2325" b="1">
                <a:solidFill>
                  <a:srgbClr val="A44270"/>
                </a:solidFill>
                <a:latin typeface="Arial"/>
                <a:ea typeface="Arial"/>
                <a:cs typeface="Arial"/>
              </a:defRPr>
            </a:lvl8pPr>
            <a:lvl9pPr>
              <a:defRPr sz="2325" b="1">
                <a:solidFill>
                  <a:srgbClr val="A44270"/>
                </a:solidFill>
                <a:latin typeface="Arial"/>
                <a:ea typeface="Arial"/>
                <a:cs typeface="Arial"/>
              </a:defRPr>
            </a:lvl9pPr>
          </a:lstStyle>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(5, 3): E</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(3, 2): C</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(1, 1): A</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Reverse ECA = ACE</a:t>
            </a:r>
          </a:p>
        </p:txBody>
      </p:sp>
      <p:sp>
        <p:nvSpPr>
          <p:cNvPr id="8" name="">
            <a:extLst xmlns:a="http://schemas.openxmlformats.org/drawingml/2006/main">
              <a:ext uri="{FF2B5EF4-FFF2-40B4-BE49-F238E27FC236}">
                <a16:creationId xmlns:a16="http://schemas.microsoft.com/office/drawing/2014/main" id="{F84D741E-ACA5-46F8-A16F-8444820E6093}"/>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C1F60005-0BF6-4514-9DE0-798E05E81B41}"/>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15 / 34</a:t>
            </a:r>
          </a:p>
        </p:txBody>
      </p:sp>
    </p:spTree>
    <p:extLst>
      <p:ext uri="{BB962C8B-B14F-4D97-AF65-F5344CB8AC3E}">
        <p14:creationId xmlns:p14="http://schemas.microsoft.com/office/powerpoint/2010/main" val="1664539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322DF62-A8EA-4EF6-BA16-F6493C937D29}"/>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C1C721DC-3ACE-4606-BD1F-C2B3D564C0E0}"/>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LCS implementation in Java</a:t>
            </a:r>
          </a:p>
        </p:txBody>
      </p:sp>
      <p:sp>
        <p:nvSpPr>
          <p:cNvPr id="4" name="">
            <a:extLst xmlns:a="http://schemas.openxmlformats.org/drawingml/2006/main">
              <a:ext uri="{FF2B5EF4-FFF2-40B4-BE49-F238E27FC236}">
                <a16:creationId xmlns:a16="http://schemas.microsoft.com/office/drawing/2014/main" id="{9DF1E29B-7EDE-4032-AF3E-6E334D51DC11}"/>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int[][] L has (n + 1) × (m + 1) entries.</a:t>
            </a:r>
          </a:p>
        </p:txBody>
      </p:sp>
      <p:sp>
        <p:nvSpPr>
          <p:cNvPr id="5" name="">
            <a:extLst xmlns:a="http://schemas.openxmlformats.org/drawingml/2006/main">
              <a:ext uri="{FF2B5EF4-FFF2-40B4-BE49-F238E27FC236}">
                <a16:creationId xmlns:a16="http://schemas.microsoft.com/office/drawing/2014/main" id="{F4F61B88-4068-4037-9B20-CEDF9D3C949C}"/>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Java initializes the boundary row and column to zero.</a:t>
            </a:r>
          </a:p>
        </p:txBody>
      </p:sp>
      <p:sp>
        <p:nvSpPr>
          <p:cNvPr id="6" name="">
            <a:extLst xmlns:a="http://schemas.openxmlformats.org/drawingml/2006/main">
              <a:ext uri="{FF2B5EF4-FFF2-40B4-BE49-F238E27FC236}">
                <a16:creationId xmlns:a16="http://schemas.microsoft.com/office/drawing/2014/main" id="{078BBDD3-55D2-471C-957A-27A0E05FB6AA}"/>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Time O(nm), table memory O(nm).</a:t>
            </a:r>
          </a:p>
        </p:txBody>
      </p:sp>
      <p:sp>
        <p:nvSpPr>
          <p:cNvPr id="7" name="">
            <a:extLst xmlns:a="http://schemas.openxmlformats.org/drawingml/2006/main">
              <a:ext uri="{FF2B5EF4-FFF2-40B4-BE49-F238E27FC236}">
                <a16:creationId xmlns:a16="http://schemas.microsoft.com/office/drawing/2014/main" id="{F99F8469-BBCE-452E-851D-B5EF35E23134}"/>
              </a:ext>
            </a:extLst>
          </p:cNvPr>
          <p:cNvSpPr>
            <a:spLocks xmlns:a="http://schemas.openxmlformats.org/drawingml/2006/main" noGrp="1"/>
          </p:cNvSpPr>
          <p:nvPr/>
        </p:nvSpPr>
        <p:spPr>
          <a:xfrm xmlns:a="http://schemas.openxmlformats.org/drawingml/2006/main">
            <a:off x="609600" y="3171825"/>
            <a:ext cx="109728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62D42"/>
                </a:solidFill>
                <a:latin typeface="Courier New"/>
                <a:ea typeface="Courier New"/>
                <a:cs typeface="Courier New"/>
              </a:defRPr>
            </a:defPPr>
            <a:lvl1pPr>
              <a:defRPr sz="1725" b="0">
                <a:solidFill>
                  <a:srgbClr val="162D42"/>
                </a:solidFill>
                <a:latin typeface="Courier New"/>
                <a:ea typeface="Courier New"/>
                <a:cs typeface="Courier New"/>
              </a:defRPr>
            </a:lvl1pPr>
            <a:lvl2pPr>
              <a:defRPr sz="1725" b="0">
                <a:solidFill>
                  <a:srgbClr val="162D42"/>
                </a:solidFill>
                <a:latin typeface="Courier New"/>
                <a:ea typeface="Courier New"/>
                <a:cs typeface="Courier New"/>
              </a:defRPr>
            </a:lvl2pPr>
            <a:lvl3pPr>
              <a:defRPr sz="1725" b="0">
                <a:solidFill>
                  <a:srgbClr val="162D42"/>
                </a:solidFill>
                <a:latin typeface="Courier New"/>
                <a:ea typeface="Courier New"/>
                <a:cs typeface="Courier New"/>
              </a:defRPr>
            </a:lvl3pPr>
            <a:lvl4pPr>
              <a:defRPr sz="1725" b="0">
                <a:solidFill>
                  <a:srgbClr val="162D42"/>
                </a:solidFill>
                <a:latin typeface="Courier New"/>
                <a:ea typeface="Courier New"/>
                <a:cs typeface="Courier New"/>
              </a:defRPr>
            </a:lvl4pPr>
            <a:lvl5pPr>
              <a:defRPr sz="1725" b="0">
                <a:solidFill>
                  <a:srgbClr val="162D42"/>
                </a:solidFill>
                <a:latin typeface="Courier New"/>
                <a:ea typeface="Courier New"/>
                <a:cs typeface="Courier New"/>
              </a:defRPr>
            </a:lvl5pPr>
            <a:lvl6pPr>
              <a:defRPr sz="1725" b="0">
                <a:solidFill>
                  <a:srgbClr val="162D42"/>
                </a:solidFill>
                <a:latin typeface="Courier New"/>
                <a:ea typeface="Courier New"/>
                <a:cs typeface="Courier New"/>
              </a:defRPr>
            </a:lvl6pPr>
            <a:lvl7pPr>
              <a:defRPr sz="1725" b="0">
                <a:solidFill>
                  <a:srgbClr val="162D42"/>
                </a:solidFill>
                <a:latin typeface="Courier New"/>
                <a:ea typeface="Courier New"/>
                <a:cs typeface="Courier New"/>
              </a:defRPr>
            </a:lvl7pPr>
            <a:lvl8pPr>
              <a:defRPr sz="1725" b="0">
                <a:solidFill>
                  <a:srgbClr val="162D42"/>
                </a:solidFill>
                <a:latin typeface="Courier New"/>
                <a:ea typeface="Courier New"/>
                <a:cs typeface="Courier New"/>
              </a:defRPr>
            </a:lvl8pPr>
            <a:lvl9pPr>
              <a:defRPr sz="1725" b="0">
                <a:solidFill>
                  <a:srgbClr val="162D42"/>
                </a:solidFill>
                <a:latin typeface="Courier New"/>
                <a:ea typeface="Courier New"/>
                <a:cs typeface="Courier New"/>
              </a:defRPr>
            </a:lvl9pPr>
          </a:lstStyle>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int[][] L = new int[n + 1][m + 1];</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for (int i = 1; i &lt;= n; i++)</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for (int j = 1; j &lt;= m; j++)</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L[i][j] = A.charAt(i - 1) == B.charAt(j - 1)</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 1 + L[i - 1][j - 1]</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 Math.max(L[i - 1][j], L[i][j - 1]);</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return L[n][m];</a:t>
            </a:r>
          </a:p>
        </p:txBody>
      </p:sp>
      <p:sp>
        <p:nvSpPr>
          <p:cNvPr id="8" name="">
            <a:extLst xmlns:a="http://schemas.openxmlformats.org/drawingml/2006/main">
              <a:ext uri="{FF2B5EF4-FFF2-40B4-BE49-F238E27FC236}">
                <a16:creationId xmlns:a16="http://schemas.microsoft.com/office/drawing/2014/main" id="{FA5F3505-A473-4E64-AA9B-F1BCFA40680E}"/>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D5E4F2A2-F5DF-4A5F-96BA-7778B8E6B910}"/>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16 / 34</a:t>
            </a:r>
          </a:p>
        </p:txBody>
      </p:sp>
    </p:spTree>
    <p:extLst>
      <p:ext uri="{BB962C8B-B14F-4D97-AF65-F5344CB8AC3E}">
        <p14:creationId xmlns:p14="http://schemas.microsoft.com/office/powerpoint/2010/main" val="1047947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00EABD4-1839-4B09-B2F3-ED5B8BC607D5}"/>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422809FD-9C5B-4385-94D0-669085FC4CDB}"/>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Related sequence problems</a:t>
            </a:r>
          </a:p>
        </p:txBody>
      </p:sp>
      <p:sp>
        <p:nvSpPr>
          <p:cNvPr id="4" name="">
            <a:extLst xmlns:a="http://schemas.openxmlformats.org/drawingml/2006/main">
              <a:ext uri="{FF2B5EF4-FFF2-40B4-BE49-F238E27FC236}">
                <a16:creationId xmlns:a16="http://schemas.microsoft.com/office/drawing/2014/main" id="{610CBF1B-2931-499C-86F5-838932EBD335}"/>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Edit distance minimizes insertion, deletion and replacement cost.</a:t>
            </a:r>
          </a:p>
        </p:txBody>
      </p:sp>
      <p:sp>
        <p:nvSpPr>
          <p:cNvPr id="5" name="">
            <a:extLst xmlns:a="http://schemas.openxmlformats.org/drawingml/2006/main">
              <a:ext uri="{FF2B5EF4-FFF2-40B4-BE49-F238E27FC236}">
                <a16:creationId xmlns:a16="http://schemas.microsoft.com/office/drawing/2014/main" id="{199BF10B-F140-49F0-AE26-2143C9057E7F}"/>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palindromic subsequence compares the ends of an interval.</a:t>
            </a:r>
          </a:p>
        </p:txBody>
      </p:sp>
      <p:sp>
        <p:nvSpPr>
          <p:cNvPr id="6" name="">
            <a:extLst xmlns:a="http://schemas.openxmlformats.org/drawingml/2006/main">
              <a:ext uri="{FF2B5EF4-FFF2-40B4-BE49-F238E27FC236}">
                <a16:creationId xmlns:a16="http://schemas.microsoft.com/office/drawing/2014/main" id="{5027B5B0-F1AF-41C3-BDDE-37FD9F381A7D}"/>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familiar table shape can still require a different base.</a:t>
            </a:r>
          </a:p>
        </p:txBody>
      </p:sp>
      <p:sp>
        <p:nvSpPr>
          <p:cNvPr id="7" name="">
            <a:extLst xmlns:a="http://schemas.openxmlformats.org/drawingml/2006/main">
              <a:ext uri="{FF2B5EF4-FFF2-40B4-BE49-F238E27FC236}">
                <a16:creationId xmlns:a16="http://schemas.microsoft.com/office/drawing/2014/main" id="{DDCF1EA8-0A91-408F-AA7A-27BAEA42E045}"/>
              </a:ext>
            </a:extLst>
          </p:cNvPr>
          <p:cNvSpPr>
            <a:spLocks xmlns:a="http://schemas.openxmlformats.org/drawingml/2006/main" noGrp="1"/>
          </p:cNvSpPr>
          <p:nvPr/>
        </p:nvSpPr>
        <p:spPr>
          <a:xfrm xmlns:a="http://schemas.openxmlformats.org/drawingml/2006/main">
            <a:off x="609600" y="3267075"/>
            <a:ext cx="109728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A44270"/>
                </a:solidFill>
                <a:latin typeface="Arial"/>
                <a:ea typeface="Arial"/>
                <a:cs typeface="Arial"/>
              </a:defRPr>
            </a:defPPr>
            <a:lvl1pPr>
              <a:defRPr sz="2325" b="1">
                <a:solidFill>
                  <a:srgbClr val="A44270"/>
                </a:solidFill>
                <a:latin typeface="Arial"/>
                <a:ea typeface="Arial"/>
                <a:cs typeface="Arial"/>
              </a:defRPr>
            </a:lvl1pPr>
            <a:lvl2pPr>
              <a:defRPr sz="2325" b="1">
                <a:solidFill>
                  <a:srgbClr val="A44270"/>
                </a:solidFill>
                <a:latin typeface="Arial"/>
                <a:ea typeface="Arial"/>
                <a:cs typeface="Arial"/>
              </a:defRPr>
            </a:lvl2pPr>
            <a:lvl3pPr>
              <a:defRPr sz="2325" b="1">
                <a:solidFill>
                  <a:srgbClr val="A44270"/>
                </a:solidFill>
                <a:latin typeface="Arial"/>
                <a:ea typeface="Arial"/>
                <a:cs typeface="Arial"/>
              </a:defRPr>
            </a:lvl3pPr>
            <a:lvl4pPr>
              <a:defRPr sz="2325" b="1">
                <a:solidFill>
                  <a:srgbClr val="A44270"/>
                </a:solidFill>
                <a:latin typeface="Arial"/>
                <a:ea typeface="Arial"/>
                <a:cs typeface="Arial"/>
              </a:defRPr>
            </a:lvl4pPr>
            <a:lvl5pPr>
              <a:defRPr sz="2325" b="1">
                <a:solidFill>
                  <a:srgbClr val="A44270"/>
                </a:solidFill>
                <a:latin typeface="Arial"/>
                <a:ea typeface="Arial"/>
                <a:cs typeface="Arial"/>
              </a:defRPr>
            </a:lvl5pPr>
            <a:lvl6pPr>
              <a:defRPr sz="2325" b="1">
                <a:solidFill>
                  <a:srgbClr val="A44270"/>
                </a:solidFill>
                <a:latin typeface="Arial"/>
                <a:ea typeface="Arial"/>
                <a:cs typeface="Arial"/>
              </a:defRPr>
            </a:lvl6pPr>
            <a:lvl7pPr>
              <a:defRPr sz="2325" b="1">
                <a:solidFill>
                  <a:srgbClr val="A44270"/>
                </a:solidFill>
                <a:latin typeface="Arial"/>
                <a:ea typeface="Arial"/>
                <a:cs typeface="Arial"/>
              </a:defRPr>
            </a:lvl7pPr>
            <a:lvl8pPr>
              <a:defRPr sz="2325" b="1">
                <a:solidFill>
                  <a:srgbClr val="A44270"/>
                </a:solidFill>
                <a:latin typeface="Arial"/>
                <a:ea typeface="Arial"/>
                <a:cs typeface="Arial"/>
              </a:defRPr>
            </a:lvl8pPr>
            <a:lvl9pPr>
              <a:defRPr sz="2325" b="1">
                <a:solidFill>
                  <a:srgbClr val="A44270"/>
                </a:solidFill>
                <a:latin typeface="Arial"/>
                <a:ea typeface="Arial"/>
                <a:cs typeface="Arial"/>
              </a:defRPr>
            </a:lvl9pPr>
          </a:lstStyle>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Edit distance: D[i][0] = i, D[0][j] = j</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Palindrome: P[i][i] = 1, P[i][j] = 0 when i &gt; j</a:t>
            </a:r>
          </a:p>
        </p:txBody>
      </p:sp>
      <p:sp>
        <p:nvSpPr>
          <p:cNvPr id="8" name="">
            <a:extLst xmlns:a="http://schemas.openxmlformats.org/drawingml/2006/main">
              <a:ext uri="{FF2B5EF4-FFF2-40B4-BE49-F238E27FC236}">
                <a16:creationId xmlns:a16="http://schemas.microsoft.com/office/drawing/2014/main" id="{0E3B40BB-3DFD-4866-B502-9510AAA90194}"/>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3BE3C0E9-4833-427D-B2CF-8CA3E858D48A}"/>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17 / 34</a:t>
            </a:r>
          </a:p>
        </p:txBody>
      </p:sp>
    </p:spTree>
    <p:extLst>
      <p:ext uri="{BB962C8B-B14F-4D97-AF65-F5344CB8AC3E}">
        <p14:creationId xmlns:p14="http://schemas.microsoft.com/office/powerpoint/2010/main" val="19203622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82240B7-432D-4448-97C6-F60DDE395C36}"/>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09BAFAE0-8343-4B3A-8705-63B6762C9B8B}"/>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0/1 knapsack as a bridge</a:t>
            </a:r>
          </a:p>
        </p:txBody>
      </p:sp>
      <p:sp>
        <p:nvSpPr>
          <p:cNvPr id="4" name="">
            <a:extLst xmlns:a="http://schemas.openxmlformats.org/drawingml/2006/main">
              <a:ext uri="{FF2B5EF4-FFF2-40B4-BE49-F238E27FC236}">
                <a16:creationId xmlns:a16="http://schemas.microsoft.com/office/drawing/2014/main" id="{5EC51A66-7BAE-40B7-AEC0-94FFF1D043F6}"/>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Each item can be selected at most once.</a:t>
            </a:r>
          </a:p>
        </p:txBody>
      </p:sp>
      <p:sp>
        <p:nvSpPr>
          <p:cNvPr id="5" name="">
            <a:extLst xmlns:a="http://schemas.openxmlformats.org/drawingml/2006/main">
              <a:ext uri="{FF2B5EF4-FFF2-40B4-BE49-F238E27FC236}">
                <a16:creationId xmlns:a16="http://schemas.microsoft.com/office/drawing/2014/main" id="{AF78D956-90F9-42FD-A0E4-A0B6D38329CB}"/>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K[i][c] uses the first i items with capacity at most c.</a:t>
            </a:r>
          </a:p>
        </p:txBody>
      </p:sp>
      <p:sp>
        <p:nvSpPr>
          <p:cNvPr id="6" name="">
            <a:extLst xmlns:a="http://schemas.openxmlformats.org/drawingml/2006/main">
              <a:ext uri="{FF2B5EF4-FFF2-40B4-BE49-F238E27FC236}">
                <a16:creationId xmlns:a16="http://schemas.microsoft.com/office/drawing/2014/main" id="{15A51399-6956-4BB2-8B34-82B4CB1A4975}"/>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Skip item i, or take it and use the previous row.</a:t>
            </a:r>
          </a:p>
        </p:txBody>
      </p:sp>
      <p:sp>
        <p:nvSpPr>
          <p:cNvPr id="7" name="">
            <a:extLst xmlns:a="http://schemas.openxmlformats.org/drawingml/2006/main">
              <a:ext uri="{FF2B5EF4-FFF2-40B4-BE49-F238E27FC236}">
                <a16:creationId xmlns:a16="http://schemas.microsoft.com/office/drawing/2014/main" id="{F46287B9-F0DC-40A8-8AD4-4EB20E48DE52}"/>
              </a:ext>
            </a:extLst>
          </p:cNvPr>
          <p:cNvSpPr>
            <a:spLocks xmlns:a="http://schemas.openxmlformats.org/drawingml/2006/main" noGrp="1"/>
          </p:cNvSpPr>
          <p:nvPr/>
        </p:nvSpPr>
        <p:spPr>
          <a:xfrm xmlns:a="http://schemas.openxmlformats.org/drawingml/2006/main">
            <a:off x="609600" y="3267075"/>
            <a:ext cx="109728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A44270"/>
                </a:solidFill>
                <a:latin typeface="Arial"/>
                <a:ea typeface="Arial"/>
                <a:cs typeface="Arial"/>
              </a:defRPr>
            </a:defPPr>
            <a:lvl1pPr>
              <a:defRPr sz="2325" b="1">
                <a:solidFill>
                  <a:srgbClr val="A44270"/>
                </a:solidFill>
                <a:latin typeface="Arial"/>
                <a:ea typeface="Arial"/>
                <a:cs typeface="Arial"/>
              </a:defRPr>
            </a:lvl1pPr>
            <a:lvl2pPr>
              <a:defRPr sz="2325" b="1">
                <a:solidFill>
                  <a:srgbClr val="A44270"/>
                </a:solidFill>
                <a:latin typeface="Arial"/>
                <a:ea typeface="Arial"/>
                <a:cs typeface="Arial"/>
              </a:defRPr>
            </a:lvl2pPr>
            <a:lvl3pPr>
              <a:defRPr sz="2325" b="1">
                <a:solidFill>
                  <a:srgbClr val="A44270"/>
                </a:solidFill>
                <a:latin typeface="Arial"/>
                <a:ea typeface="Arial"/>
                <a:cs typeface="Arial"/>
              </a:defRPr>
            </a:lvl3pPr>
            <a:lvl4pPr>
              <a:defRPr sz="2325" b="1">
                <a:solidFill>
                  <a:srgbClr val="A44270"/>
                </a:solidFill>
                <a:latin typeface="Arial"/>
                <a:ea typeface="Arial"/>
                <a:cs typeface="Arial"/>
              </a:defRPr>
            </a:lvl4pPr>
            <a:lvl5pPr>
              <a:defRPr sz="2325" b="1">
                <a:solidFill>
                  <a:srgbClr val="A44270"/>
                </a:solidFill>
                <a:latin typeface="Arial"/>
                <a:ea typeface="Arial"/>
                <a:cs typeface="Arial"/>
              </a:defRPr>
            </a:lvl5pPr>
            <a:lvl6pPr>
              <a:defRPr sz="2325" b="1">
                <a:solidFill>
                  <a:srgbClr val="A44270"/>
                </a:solidFill>
                <a:latin typeface="Arial"/>
                <a:ea typeface="Arial"/>
                <a:cs typeface="Arial"/>
              </a:defRPr>
            </a:lvl6pPr>
            <a:lvl7pPr>
              <a:defRPr sz="2325" b="1">
                <a:solidFill>
                  <a:srgbClr val="A44270"/>
                </a:solidFill>
                <a:latin typeface="Arial"/>
                <a:ea typeface="Arial"/>
                <a:cs typeface="Arial"/>
              </a:defRPr>
            </a:lvl7pPr>
            <a:lvl8pPr>
              <a:defRPr sz="2325" b="1">
                <a:solidFill>
                  <a:srgbClr val="A44270"/>
                </a:solidFill>
                <a:latin typeface="Arial"/>
                <a:ea typeface="Arial"/>
                <a:cs typeface="Arial"/>
              </a:defRPr>
            </a:lvl8pPr>
            <a:lvl9pPr>
              <a:defRPr sz="2325" b="1">
                <a:solidFill>
                  <a:srgbClr val="A44270"/>
                </a:solidFill>
                <a:latin typeface="Arial"/>
                <a:ea typeface="Arial"/>
                <a:cs typeface="Arial"/>
              </a:defRPr>
            </a:lvl9pPr>
          </a:lstStyle>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K[i][c] = max(K[i−1][c], v[i−1] + K[i−1][c−w[i−1]])</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The take choice is allowed only if w[i−1] ≤ c.</a:t>
            </a:r>
          </a:p>
        </p:txBody>
      </p:sp>
      <p:sp>
        <p:nvSpPr>
          <p:cNvPr id="8" name="">
            <a:extLst xmlns:a="http://schemas.openxmlformats.org/drawingml/2006/main">
              <a:ext uri="{FF2B5EF4-FFF2-40B4-BE49-F238E27FC236}">
                <a16:creationId xmlns:a16="http://schemas.microsoft.com/office/drawing/2014/main" id="{15B07715-41FF-41C6-8C8E-2A36071C6123}"/>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38FF2464-46F1-4244-8CCA-E9BFBF24133A}"/>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18 / 34</a:t>
            </a:r>
          </a:p>
        </p:txBody>
      </p:sp>
    </p:spTree>
    <p:extLst>
      <p:ext uri="{BB962C8B-B14F-4D97-AF65-F5344CB8AC3E}">
        <p14:creationId xmlns:p14="http://schemas.microsoft.com/office/powerpoint/2010/main" val="103132712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0B1F1DC-E78D-4F78-84B5-EEA6837E67F5}"/>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70CFCA44-12B2-4793-AB1A-6A76FE495D29}"/>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Why the knapsack loop runs downward</a:t>
            </a:r>
          </a:p>
        </p:txBody>
      </p:sp>
      <p:sp>
        <p:nvSpPr>
          <p:cNvPr id="4" name="">
            <a:extLst xmlns:a="http://schemas.openxmlformats.org/drawingml/2006/main">
              <a:ext uri="{FF2B5EF4-FFF2-40B4-BE49-F238E27FC236}">
                <a16:creationId xmlns:a16="http://schemas.microsoft.com/office/drawing/2014/main" id="{1CDEB674-8E62-4596-9A1E-78CB74F64CF1}"/>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One row can store the best value for each capacity.</a:t>
            </a:r>
          </a:p>
        </p:txBody>
      </p:sp>
      <p:sp>
        <p:nvSpPr>
          <p:cNvPr id="5" name="">
            <a:extLst xmlns:a="http://schemas.openxmlformats.org/drawingml/2006/main">
              <a:ext uri="{FF2B5EF4-FFF2-40B4-BE49-F238E27FC236}">
                <a16:creationId xmlns:a16="http://schemas.microsoft.com/office/drawing/2014/main" id="{D1E8624E-5844-4C27-8450-1FF2F50A48AB}"/>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Descending c preserves answers from before the current item.</a:t>
            </a:r>
          </a:p>
        </p:txBody>
      </p:sp>
      <p:sp>
        <p:nvSpPr>
          <p:cNvPr id="6" name="">
            <a:extLst xmlns:a="http://schemas.openxmlformats.org/drawingml/2006/main">
              <a:ext uri="{FF2B5EF4-FFF2-40B4-BE49-F238E27FC236}">
                <a16:creationId xmlns:a16="http://schemas.microsoft.com/office/drawing/2014/main" id="{7343687A-45BC-4644-B499-6C1D57237139}"/>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Ascending c permits repeated use of that item.</a:t>
            </a:r>
          </a:p>
        </p:txBody>
      </p:sp>
      <p:sp>
        <p:nvSpPr>
          <p:cNvPr id="7" name="">
            <a:extLst xmlns:a="http://schemas.openxmlformats.org/drawingml/2006/main">
              <a:ext uri="{FF2B5EF4-FFF2-40B4-BE49-F238E27FC236}">
                <a16:creationId xmlns:a16="http://schemas.microsoft.com/office/drawing/2014/main" id="{7B445BEB-18F3-4E97-86F8-78AB5F673CFE}"/>
              </a:ext>
            </a:extLst>
          </p:cNvPr>
          <p:cNvSpPr>
            <a:spLocks xmlns:a="http://schemas.openxmlformats.org/drawingml/2006/main" noGrp="1"/>
          </p:cNvSpPr>
          <p:nvPr/>
        </p:nvSpPr>
        <p:spPr>
          <a:xfrm xmlns:a="http://schemas.openxmlformats.org/drawingml/2006/main">
            <a:off x="609600" y="3171825"/>
            <a:ext cx="109728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62D42"/>
                </a:solidFill>
                <a:latin typeface="Courier New"/>
                <a:ea typeface="Courier New"/>
                <a:cs typeface="Courier New"/>
              </a:defRPr>
            </a:defPPr>
            <a:lvl1pPr>
              <a:defRPr sz="1725" b="0">
                <a:solidFill>
                  <a:srgbClr val="162D42"/>
                </a:solidFill>
                <a:latin typeface="Courier New"/>
                <a:ea typeface="Courier New"/>
                <a:cs typeface="Courier New"/>
              </a:defRPr>
            </a:lvl1pPr>
            <a:lvl2pPr>
              <a:defRPr sz="1725" b="0">
                <a:solidFill>
                  <a:srgbClr val="162D42"/>
                </a:solidFill>
                <a:latin typeface="Courier New"/>
                <a:ea typeface="Courier New"/>
                <a:cs typeface="Courier New"/>
              </a:defRPr>
            </a:lvl2pPr>
            <a:lvl3pPr>
              <a:defRPr sz="1725" b="0">
                <a:solidFill>
                  <a:srgbClr val="162D42"/>
                </a:solidFill>
                <a:latin typeface="Courier New"/>
                <a:ea typeface="Courier New"/>
                <a:cs typeface="Courier New"/>
              </a:defRPr>
            </a:lvl3pPr>
            <a:lvl4pPr>
              <a:defRPr sz="1725" b="0">
                <a:solidFill>
                  <a:srgbClr val="162D42"/>
                </a:solidFill>
                <a:latin typeface="Courier New"/>
                <a:ea typeface="Courier New"/>
                <a:cs typeface="Courier New"/>
              </a:defRPr>
            </a:lvl4pPr>
            <a:lvl5pPr>
              <a:defRPr sz="1725" b="0">
                <a:solidFill>
                  <a:srgbClr val="162D42"/>
                </a:solidFill>
                <a:latin typeface="Courier New"/>
                <a:ea typeface="Courier New"/>
                <a:cs typeface="Courier New"/>
              </a:defRPr>
            </a:lvl5pPr>
            <a:lvl6pPr>
              <a:defRPr sz="1725" b="0">
                <a:solidFill>
                  <a:srgbClr val="162D42"/>
                </a:solidFill>
                <a:latin typeface="Courier New"/>
                <a:ea typeface="Courier New"/>
                <a:cs typeface="Courier New"/>
              </a:defRPr>
            </a:lvl6pPr>
            <a:lvl7pPr>
              <a:defRPr sz="1725" b="0">
                <a:solidFill>
                  <a:srgbClr val="162D42"/>
                </a:solidFill>
                <a:latin typeface="Courier New"/>
                <a:ea typeface="Courier New"/>
                <a:cs typeface="Courier New"/>
              </a:defRPr>
            </a:lvl7pPr>
            <a:lvl8pPr>
              <a:defRPr sz="1725" b="0">
                <a:solidFill>
                  <a:srgbClr val="162D42"/>
                </a:solidFill>
                <a:latin typeface="Courier New"/>
                <a:ea typeface="Courier New"/>
                <a:cs typeface="Courier New"/>
              </a:defRPr>
            </a:lvl8pPr>
            <a:lvl9pPr>
              <a:defRPr sz="1725" b="0">
                <a:solidFill>
                  <a:srgbClr val="162D42"/>
                </a:solidFill>
                <a:latin typeface="Courier New"/>
                <a:ea typeface="Courier New"/>
                <a:cs typeface="Courier New"/>
              </a:defRPr>
            </a:lvl9pPr>
          </a:lstStyle>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for (int i = 0; i &lt; n; i++)</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for (int c = W; c &gt;= weight[i]; c--)</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best[c] = Math.max(best[c],</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value[i] + best[c - weight[i]]);</a:t>
            </a:r>
          </a:p>
        </p:txBody>
      </p:sp>
      <p:sp>
        <p:nvSpPr>
          <p:cNvPr id="8" name="">
            <a:extLst xmlns:a="http://schemas.openxmlformats.org/drawingml/2006/main">
              <a:ext uri="{FF2B5EF4-FFF2-40B4-BE49-F238E27FC236}">
                <a16:creationId xmlns:a16="http://schemas.microsoft.com/office/drawing/2014/main" id="{CBB3042D-1C8C-43AA-951C-0A85F20AD767}"/>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164FB491-A24D-4108-92C7-FECE9E6833EA}"/>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19 / 34</a:t>
            </a:r>
          </a:p>
        </p:txBody>
      </p:sp>
    </p:spTree>
    <p:extLst>
      <p:ext uri="{BB962C8B-B14F-4D97-AF65-F5344CB8AC3E}">
        <p14:creationId xmlns:p14="http://schemas.microsoft.com/office/powerpoint/2010/main" val="165761133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6199C55-BC2D-484F-800C-7138A852967A}"/>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3C9A2CAE-6A04-4AEB-903E-75439AD32983}"/>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Partitioning a matrix chain</a:t>
            </a:r>
          </a:p>
        </p:txBody>
      </p:sp>
      <p:sp>
        <p:nvSpPr>
          <p:cNvPr id="4" name="">
            <a:extLst xmlns:a="http://schemas.openxmlformats.org/drawingml/2006/main">
              <a:ext uri="{FF2B5EF4-FFF2-40B4-BE49-F238E27FC236}">
                <a16:creationId xmlns:a16="http://schemas.microsoft.com/office/drawing/2014/main" id="{E392F246-88B9-4662-8A84-C9E0EE9F37F9}"/>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Matrix order stays fixed.</a:t>
            </a:r>
          </a:p>
        </p:txBody>
      </p:sp>
      <p:sp>
        <p:nvSpPr>
          <p:cNvPr id="5" name="">
            <a:extLst xmlns:a="http://schemas.openxmlformats.org/drawingml/2006/main">
              <a:ext uri="{FF2B5EF4-FFF2-40B4-BE49-F238E27FC236}">
                <a16:creationId xmlns:a16="http://schemas.microsoft.com/office/drawing/2014/main" id="{BFD5E2FA-C97F-43BF-B071-C6EACCD02F9B}"/>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Parentheses change the amount of work.</a:t>
            </a:r>
          </a:p>
        </p:txBody>
      </p:sp>
      <p:sp>
        <p:nvSpPr>
          <p:cNvPr id="6" name="">
            <a:extLst xmlns:a="http://schemas.openxmlformats.org/drawingml/2006/main">
              <a:ext uri="{FF2B5EF4-FFF2-40B4-BE49-F238E27FC236}">
                <a16:creationId xmlns:a16="http://schemas.microsoft.com/office/drawing/2014/main" id="{757BD387-1410-4EF5-B8B1-9F0B8D977ACA}"/>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(p × q) matrix times a (q × r) matrix costs pqr scalar multiplications.</a:t>
            </a:r>
          </a:p>
        </p:txBody>
      </p:sp>
      <p:sp>
        <p:nvSpPr>
          <p:cNvPr id="7" name="">
            <a:extLst xmlns:a="http://schemas.openxmlformats.org/drawingml/2006/main">
              <a:ext uri="{FF2B5EF4-FFF2-40B4-BE49-F238E27FC236}">
                <a16:creationId xmlns:a16="http://schemas.microsoft.com/office/drawing/2014/main" id="{578FAB33-6557-43AD-A572-EB1220601920}"/>
              </a:ext>
            </a:extLst>
          </p:cNvPr>
          <p:cNvSpPr>
            <a:spLocks xmlns:a="http://schemas.openxmlformats.org/drawingml/2006/main" noGrp="1"/>
          </p:cNvSpPr>
          <p:nvPr/>
        </p:nvSpPr>
        <p:spPr>
          <a:xfrm xmlns:a="http://schemas.openxmlformats.org/drawingml/2006/main">
            <a:off x="609600" y="3267075"/>
            <a:ext cx="109728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A44270"/>
                </a:solidFill>
                <a:latin typeface="Arial"/>
                <a:ea typeface="Arial"/>
                <a:cs typeface="Arial"/>
              </a:defRPr>
            </a:defPPr>
            <a:lvl1pPr>
              <a:defRPr sz="2325" b="1">
                <a:solidFill>
                  <a:srgbClr val="A44270"/>
                </a:solidFill>
                <a:latin typeface="Arial"/>
                <a:ea typeface="Arial"/>
                <a:cs typeface="Arial"/>
              </a:defRPr>
            </a:lvl1pPr>
            <a:lvl2pPr>
              <a:defRPr sz="2325" b="1">
                <a:solidFill>
                  <a:srgbClr val="A44270"/>
                </a:solidFill>
                <a:latin typeface="Arial"/>
                <a:ea typeface="Arial"/>
                <a:cs typeface="Arial"/>
              </a:defRPr>
            </a:lvl2pPr>
            <a:lvl3pPr>
              <a:defRPr sz="2325" b="1">
                <a:solidFill>
                  <a:srgbClr val="A44270"/>
                </a:solidFill>
                <a:latin typeface="Arial"/>
                <a:ea typeface="Arial"/>
                <a:cs typeface="Arial"/>
              </a:defRPr>
            </a:lvl3pPr>
            <a:lvl4pPr>
              <a:defRPr sz="2325" b="1">
                <a:solidFill>
                  <a:srgbClr val="A44270"/>
                </a:solidFill>
                <a:latin typeface="Arial"/>
                <a:ea typeface="Arial"/>
                <a:cs typeface="Arial"/>
              </a:defRPr>
            </a:lvl4pPr>
            <a:lvl5pPr>
              <a:defRPr sz="2325" b="1">
                <a:solidFill>
                  <a:srgbClr val="A44270"/>
                </a:solidFill>
                <a:latin typeface="Arial"/>
                <a:ea typeface="Arial"/>
                <a:cs typeface="Arial"/>
              </a:defRPr>
            </a:lvl5pPr>
            <a:lvl6pPr>
              <a:defRPr sz="2325" b="1">
                <a:solidFill>
                  <a:srgbClr val="A44270"/>
                </a:solidFill>
                <a:latin typeface="Arial"/>
                <a:ea typeface="Arial"/>
                <a:cs typeface="Arial"/>
              </a:defRPr>
            </a:lvl6pPr>
            <a:lvl7pPr>
              <a:defRPr sz="2325" b="1">
                <a:solidFill>
                  <a:srgbClr val="A44270"/>
                </a:solidFill>
                <a:latin typeface="Arial"/>
                <a:ea typeface="Arial"/>
                <a:cs typeface="Arial"/>
              </a:defRPr>
            </a:lvl7pPr>
            <a:lvl8pPr>
              <a:defRPr sz="2325" b="1">
                <a:solidFill>
                  <a:srgbClr val="A44270"/>
                </a:solidFill>
                <a:latin typeface="Arial"/>
                <a:ea typeface="Arial"/>
                <a:cs typeface="Arial"/>
              </a:defRPr>
            </a:lvl8pPr>
            <a:lvl9pPr>
              <a:defRPr sz="2325" b="1">
                <a:solidFill>
                  <a:srgbClr val="A44270"/>
                </a:solidFill>
                <a:latin typeface="Arial"/>
                <a:ea typeface="Arial"/>
                <a:cs typeface="Arial"/>
              </a:defRPr>
            </a:lvl9pPr>
          </a:lstStyle>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A: 10 × 30</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B: 30 × 5</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C: 5 × 60</a:t>
            </a:r>
          </a:p>
        </p:txBody>
      </p:sp>
      <p:sp>
        <p:nvSpPr>
          <p:cNvPr id="8" name="">
            <a:extLst xmlns:a="http://schemas.openxmlformats.org/drawingml/2006/main">
              <a:ext uri="{FF2B5EF4-FFF2-40B4-BE49-F238E27FC236}">
                <a16:creationId xmlns:a16="http://schemas.microsoft.com/office/drawing/2014/main" id="{DB725235-DE93-4656-BA23-BC83FDAAEEAB}"/>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FFD44DA8-9885-4E48-A595-69F47ED75589}"/>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20 / 34</a:t>
            </a:r>
          </a:p>
        </p:txBody>
      </p:sp>
    </p:spTree>
    <p:extLst>
      <p:ext uri="{BB962C8B-B14F-4D97-AF65-F5344CB8AC3E}">
        <p14:creationId xmlns:p14="http://schemas.microsoft.com/office/powerpoint/2010/main" val="130685162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2353686-EC94-4EE5-9854-B9AACFD15A1A}"/>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26E83B4E-D097-47F9-A9D5-01046D2B2831}"/>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Two parenthesizations, two costs</a:t>
            </a:r>
          </a:p>
        </p:txBody>
      </p:sp>
      <p:sp>
        <p:nvSpPr>
          <p:cNvPr id="4" name="">
            <a:extLst xmlns:a="http://schemas.openxmlformats.org/drawingml/2006/main">
              <a:ext uri="{FF2B5EF4-FFF2-40B4-BE49-F238E27FC236}">
                <a16:creationId xmlns:a16="http://schemas.microsoft.com/office/drawing/2014/main" id="{7FE0E05A-4616-4380-A60A-25D19CE1B9B3}"/>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(AB)C first creates a 10 × 5 matrix.</a:t>
            </a:r>
          </a:p>
        </p:txBody>
      </p:sp>
      <p:sp>
        <p:nvSpPr>
          <p:cNvPr id="5" name="">
            <a:extLst xmlns:a="http://schemas.openxmlformats.org/drawingml/2006/main">
              <a:ext uri="{FF2B5EF4-FFF2-40B4-BE49-F238E27FC236}">
                <a16:creationId xmlns:a16="http://schemas.microsoft.com/office/drawing/2014/main" id="{AB553E6C-5C01-4CFC-8A39-0C523884B97D}"/>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A(BC) first creates a 30 × 60 matrix.</a:t>
            </a:r>
          </a:p>
        </p:txBody>
      </p:sp>
      <p:sp>
        <p:nvSpPr>
          <p:cNvPr id="6" name="">
            <a:extLst xmlns:a="http://schemas.openxmlformats.org/drawingml/2006/main">
              <a:ext uri="{FF2B5EF4-FFF2-40B4-BE49-F238E27FC236}">
                <a16:creationId xmlns:a16="http://schemas.microsoft.com/office/drawing/2014/main" id="{7DFA6394-59C5-4558-964C-7C92DD02DC60}"/>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Both produce a 10 × 60 result.</a:t>
            </a:r>
          </a:p>
        </p:txBody>
      </p:sp>
      <p:graphicFrame>
        <p:nvGraphicFramePr>
          <p:cNvPr id="7" name="">
            <a:extLst xmlns:a="http://schemas.openxmlformats.org/drawingml/2006/main">
              <a:ext uri="{FF2B5EF4-FFF2-40B4-BE49-F238E27FC236}">
                <a16:creationId xmlns:a16="http://schemas.microsoft.com/office/drawing/2014/main" id="{108B31E5-6D68-4CBD-81F9-FB49104D799B}"/>
              </a:ext>
            </a:extLst>
          </p:cNvPr>
          <p:cNvGraphicFramePr/>
          <p:nvPr/>
        </p:nvGraphicFramePr>
        <p:xfrm>
          <a:off xmlns:a="http://schemas.openxmlformats.org/drawingml/2006/main" x="609600" y="3171825"/>
          <a:ext xmlns:a="http://schemas.openxmlformats.org/drawingml/2006/main" cx="10972800" cy="1371600"/>
        </p:xfrm>
        <a:graphic xmlns:a="http://schemas.openxmlformats.org/drawingml/2006/main">
          <a:graphicData uri="http://schemas.openxmlformats.org/drawingml/2006/table">
            <a:tbl>
              <a:tblPr/>
              <a:tblGrid>
                <a:gridCol w="2743200"/>
                <a:gridCol w="2743200"/>
                <a:gridCol w="2743200"/>
                <a:gridCol w="2743200"/>
              </a:tblGrid>
              <a:tr h="457200">
                <a:tc>
                  <a:txBody>
                    <a:bodyPr/>
                    <a:lstStyle/>
                    <a:p>
                      <a:r>
                        <a:rPr sz="1725" b="1">
                          <a:solidFill>
                            <a:srgbClr val="162D42"/>
                          </a:solidFill>
                          <a:latin typeface="Arial"/>
                          <a:ea typeface="Arial"/>
                          <a:cs typeface="Arial"/>
                        </a:rPr>
                        <a:t>Expression</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First product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Final product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Total</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r>
              <a:tr h="457200">
                <a:tc>
                  <a:txBody>
                    <a:bodyPr/>
                    <a:lstStyle/>
                    <a:p>
                      <a:r>
                        <a:rPr sz="1725" b="0">
                          <a:solidFill>
                            <a:srgbClr val="162D42"/>
                          </a:solidFill>
                          <a:latin typeface="Arial"/>
                          <a:ea typeface="Arial"/>
                          <a:cs typeface="Arial"/>
                        </a:rPr>
                        <a:t>(AB)C</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1,500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3,000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4,500</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A(BC)</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9,000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18,000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27,000</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CAECC275-D883-4030-93F4-7700A6EF1AAD}"/>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16BD2997-782C-434F-A219-0BFF86046753}"/>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21 / 34</a:t>
            </a:r>
          </a:p>
        </p:txBody>
      </p:sp>
    </p:spTree>
    <p:extLst>
      <p:ext uri="{BB962C8B-B14F-4D97-AF65-F5344CB8AC3E}">
        <p14:creationId xmlns:p14="http://schemas.microsoft.com/office/powerpoint/2010/main" val="476143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9B0AF92-4B76-4BFD-A091-59EC019175DD}"/>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59180BF0-ED18-49C1-8D90-9A317FEB081C}"/>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The interval recurrence</a:t>
            </a:r>
          </a:p>
        </p:txBody>
      </p:sp>
      <p:sp>
        <p:nvSpPr>
          <p:cNvPr id="4" name="">
            <a:extLst xmlns:a="http://schemas.openxmlformats.org/drawingml/2006/main">
              <a:ext uri="{FF2B5EF4-FFF2-40B4-BE49-F238E27FC236}">
                <a16:creationId xmlns:a16="http://schemas.microsoft.com/office/drawing/2014/main" id="{BEF595B3-1966-4539-BBFC-600F44100A62}"/>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M[i][j] is the minimum cost for matrices i through j.</a:t>
            </a:r>
          </a:p>
        </p:txBody>
      </p:sp>
      <p:sp>
        <p:nvSpPr>
          <p:cNvPr id="5" name="">
            <a:extLst xmlns:a="http://schemas.openxmlformats.org/drawingml/2006/main">
              <a:ext uri="{FF2B5EF4-FFF2-40B4-BE49-F238E27FC236}">
                <a16:creationId xmlns:a16="http://schemas.microsoft.com/office/drawing/2014/main" id="{2A42AE0D-BC56-482C-B0DC-46E9831D9EE9}"/>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The last multiplication splits after some k.</a:t>
            </a:r>
          </a:p>
        </p:txBody>
      </p:sp>
      <p:sp>
        <p:nvSpPr>
          <p:cNvPr id="6" name="">
            <a:extLst xmlns:a="http://schemas.openxmlformats.org/drawingml/2006/main">
              <a:ext uri="{FF2B5EF4-FFF2-40B4-BE49-F238E27FC236}">
                <a16:creationId xmlns:a16="http://schemas.microsoft.com/office/drawing/2014/main" id="{2036CD06-CA47-41BC-920C-AD7F67677858}"/>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single matrix needs no multiplication.</a:t>
            </a:r>
          </a:p>
        </p:txBody>
      </p:sp>
      <p:sp>
        <p:nvSpPr>
          <p:cNvPr id="7" name="">
            <a:extLst xmlns:a="http://schemas.openxmlformats.org/drawingml/2006/main">
              <a:ext uri="{FF2B5EF4-FFF2-40B4-BE49-F238E27FC236}">
                <a16:creationId xmlns:a16="http://schemas.microsoft.com/office/drawing/2014/main" id="{A0FEEB85-1155-482D-A708-05578B3D0B5B}"/>
              </a:ext>
            </a:extLst>
          </p:cNvPr>
          <p:cNvSpPr>
            <a:spLocks xmlns:a="http://schemas.openxmlformats.org/drawingml/2006/main" noGrp="1"/>
          </p:cNvSpPr>
          <p:nvPr/>
        </p:nvSpPr>
        <p:spPr>
          <a:xfrm xmlns:a="http://schemas.openxmlformats.org/drawingml/2006/main">
            <a:off x="609600" y="3267075"/>
            <a:ext cx="109728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A44270"/>
                </a:solidFill>
                <a:latin typeface="Arial"/>
                <a:ea typeface="Arial"/>
                <a:cs typeface="Arial"/>
              </a:defRPr>
            </a:defPPr>
            <a:lvl1pPr>
              <a:defRPr sz="2325" b="1">
                <a:solidFill>
                  <a:srgbClr val="A44270"/>
                </a:solidFill>
                <a:latin typeface="Arial"/>
                <a:ea typeface="Arial"/>
                <a:cs typeface="Arial"/>
              </a:defRPr>
            </a:lvl1pPr>
            <a:lvl2pPr>
              <a:defRPr sz="2325" b="1">
                <a:solidFill>
                  <a:srgbClr val="A44270"/>
                </a:solidFill>
                <a:latin typeface="Arial"/>
                <a:ea typeface="Arial"/>
                <a:cs typeface="Arial"/>
              </a:defRPr>
            </a:lvl2pPr>
            <a:lvl3pPr>
              <a:defRPr sz="2325" b="1">
                <a:solidFill>
                  <a:srgbClr val="A44270"/>
                </a:solidFill>
                <a:latin typeface="Arial"/>
                <a:ea typeface="Arial"/>
                <a:cs typeface="Arial"/>
              </a:defRPr>
            </a:lvl3pPr>
            <a:lvl4pPr>
              <a:defRPr sz="2325" b="1">
                <a:solidFill>
                  <a:srgbClr val="A44270"/>
                </a:solidFill>
                <a:latin typeface="Arial"/>
                <a:ea typeface="Arial"/>
                <a:cs typeface="Arial"/>
              </a:defRPr>
            </a:lvl4pPr>
            <a:lvl5pPr>
              <a:defRPr sz="2325" b="1">
                <a:solidFill>
                  <a:srgbClr val="A44270"/>
                </a:solidFill>
                <a:latin typeface="Arial"/>
                <a:ea typeface="Arial"/>
                <a:cs typeface="Arial"/>
              </a:defRPr>
            </a:lvl5pPr>
            <a:lvl6pPr>
              <a:defRPr sz="2325" b="1">
                <a:solidFill>
                  <a:srgbClr val="A44270"/>
                </a:solidFill>
                <a:latin typeface="Arial"/>
                <a:ea typeface="Arial"/>
                <a:cs typeface="Arial"/>
              </a:defRPr>
            </a:lvl6pPr>
            <a:lvl7pPr>
              <a:defRPr sz="2325" b="1">
                <a:solidFill>
                  <a:srgbClr val="A44270"/>
                </a:solidFill>
                <a:latin typeface="Arial"/>
                <a:ea typeface="Arial"/>
                <a:cs typeface="Arial"/>
              </a:defRPr>
            </a:lvl7pPr>
            <a:lvl8pPr>
              <a:defRPr sz="2325" b="1">
                <a:solidFill>
                  <a:srgbClr val="A44270"/>
                </a:solidFill>
                <a:latin typeface="Arial"/>
                <a:ea typeface="Arial"/>
                <a:cs typeface="Arial"/>
              </a:defRPr>
            </a:lvl8pPr>
            <a:lvl9pPr>
              <a:defRPr sz="2325" b="1">
                <a:solidFill>
                  <a:srgbClr val="A44270"/>
                </a:solidFill>
                <a:latin typeface="Arial"/>
                <a:ea typeface="Arial"/>
                <a:cs typeface="Arial"/>
              </a:defRPr>
            </a:lvl9pPr>
          </a:lstStyle>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M[i][i] = 0</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M[i][j] = min over i ≤ k &lt; j of</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M[i][k] + M[k+1][j] + p[i−1]·p[k]·p[j]</a:t>
            </a:r>
          </a:p>
        </p:txBody>
      </p:sp>
      <p:sp>
        <p:nvSpPr>
          <p:cNvPr id="8" name="">
            <a:extLst xmlns:a="http://schemas.openxmlformats.org/drawingml/2006/main">
              <a:ext uri="{FF2B5EF4-FFF2-40B4-BE49-F238E27FC236}">
                <a16:creationId xmlns:a16="http://schemas.microsoft.com/office/drawing/2014/main" id="{B678324B-EE31-41A0-91D5-286BCC6166FA}"/>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25C568DC-12E9-40AD-8D08-04ABCFF0C664}"/>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22 / 34</a:t>
            </a:r>
          </a:p>
        </p:txBody>
      </p:sp>
    </p:spTree>
    <p:extLst>
      <p:ext uri="{BB962C8B-B14F-4D97-AF65-F5344CB8AC3E}">
        <p14:creationId xmlns:p14="http://schemas.microsoft.com/office/powerpoint/2010/main" val="57469897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1F108F9-F290-4373-B2AF-07F96DEE87D9}"/>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60172C6D-8626-42C3-8BB0-42FF29EC580F}"/>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The lecture example: cost 26,000</a:t>
            </a:r>
          </a:p>
        </p:txBody>
      </p:sp>
      <p:sp>
        <p:nvSpPr>
          <p:cNvPr id="4" name="">
            <a:extLst xmlns:a="http://schemas.openxmlformats.org/drawingml/2006/main">
              <a:ext uri="{FF2B5EF4-FFF2-40B4-BE49-F238E27FC236}">
                <a16:creationId xmlns:a16="http://schemas.microsoft.com/office/drawing/2014/main" id="{8D09C180-411F-41BB-9078-F14CEC1E4B59}"/>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Dimensions: [40, 20, 30, 10, 30]</a:t>
            </a:r>
          </a:p>
        </p:txBody>
      </p:sp>
      <p:sp>
        <p:nvSpPr>
          <p:cNvPr id="5" name="">
            <a:extLst xmlns:a="http://schemas.openxmlformats.org/drawingml/2006/main">
              <a:ext uri="{FF2B5EF4-FFF2-40B4-BE49-F238E27FC236}">
                <a16:creationId xmlns:a16="http://schemas.microsoft.com/office/drawing/2014/main" id="{B5CE86FE-AD55-47E3-A142-3B8832EA71ED}"/>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The best final split is after matrix 3.</a:t>
            </a:r>
          </a:p>
        </p:txBody>
      </p:sp>
      <p:sp>
        <p:nvSpPr>
          <p:cNvPr id="6" name="">
            <a:extLst xmlns:a="http://schemas.openxmlformats.org/drawingml/2006/main">
              <a:ext uri="{FF2B5EF4-FFF2-40B4-BE49-F238E27FC236}">
                <a16:creationId xmlns:a16="http://schemas.microsoft.com/office/drawing/2014/main" id="{1F40659F-D74B-4BE9-9CAE-C5C082159116}"/>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One optimum is ((A1(A2A3))A4).</a:t>
            </a:r>
          </a:p>
        </p:txBody>
      </p:sp>
      <p:graphicFrame>
        <p:nvGraphicFramePr>
          <p:cNvPr id="7" name="">
            <a:extLst xmlns:a="http://schemas.openxmlformats.org/drawingml/2006/main">
              <a:ext uri="{FF2B5EF4-FFF2-40B4-BE49-F238E27FC236}">
                <a16:creationId xmlns:a16="http://schemas.microsoft.com/office/drawing/2014/main" id="{611B39FE-79BF-4A4C-9FBA-A7DD8D98A102}"/>
              </a:ext>
            </a:extLst>
          </p:cNvPr>
          <p:cNvGraphicFramePr/>
          <p:nvPr/>
        </p:nvGraphicFramePr>
        <p:xfrm>
          <a:off xmlns:a="http://schemas.openxmlformats.org/drawingml/2006/main" x="609600" y="3171825"/>
          <a:ext xmlns:a="http://schemas.openxmlformats.org/drawingml/2006/main" cx="10972800" cy="2286000"/>
        </p:xfrm>
        <a:graphic xmlns:a="http://schemas.openxmlformats.org/drawingml/2006/main">
          <a:graphicData uri="http://schemas.openxmlformats.org/drawingml/2006/table">
            <a:tbl>
              <a:tblPr/>
              <a:tblGrid>
                <a:gridCol w="3810000"/>
                <a:gridCol w="4095750"/>
                <a:gridCol w="3067050"/>
              </a:tblGrid>
              <a:tr h="457200">
                <a:tc>
                  <a:txBody>
                    <a:bodyPr/>
                    <a:lstStyle/>
                    <a:p>
                      <a:r>
                        <a:rPr sz="1725" b="1">
                          <a:solidFill>
                            <a:srgbClr val="162D42"/>
                          </a:solidFill>
                          <a:latin typeface="Arial"/>
                          <a:ea typeface="Arial"/>
                          <a:cs typeface="Arial"/>
                        </a:rPr>
                        <a:t>Interval</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Best cost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Best k</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r>
              <a:tr h="457200">
                <a:tc>
                  <a:txBody>
                    <a:bodyPr/>
                    <a:lstStyle/>
                    <a:p>
                      <a:r>
                        <a:rPr sz="1725" b="0">
                          <a:solidFill>
                            <a:srgbClr val="162D42"/>
                          </a:solidFill>
                          <a:latin typeface="Arial"/>
                          <a:ea typeface="Arial"/>
                          <a:cs typeface="Arial"/>
                        </a:rPr>
                        <a:t>[1,2] / [2,3] / [3,4]</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24,000 / 6,000 / 9,000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1 / 2 / 3</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[1,3]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14,000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[2,4]</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12,000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[1,4]</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26,000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02B76F71-AD08-4E7F-B50C-679ED67E3B8C}"/>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092E1759-3B08-458A-84DB-607976179D21}"/>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23 / 34</a:t>
            </a:r>
          </a:p>
        </p:txBody>
      </p:sp>
    </p:spTree>
    <p:extLst>
      <p:ext uri="{BB962C8B-B14F-4D97-AF65-F5344CB8AC3E}">
        <p14:creationId xmlns:p14="http://schemas.microsoft.com/office/powerpoint/2010/main" val="197906603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7CE1456-8F56-4B72-8721-38553FF36B5B}"/>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AE85C2B0-DA78-45FC-8E2F-76E6894A6799}"/>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Matrix-chain loops in Java</a:t>
            </a:r>
          </a:p>
        </p:txBody>
      </p:sp>
      <p:sp>
        <p:nvSpPr>
          <p:cNvPr id="4" name="">
            <a:extLst xmlns:a="http://schemas.openxmlformats.org/drawingml/2006/main">
              <a:ext uri="{FF2B5EF4-FFF2-40B4-BE49-F238E27FC236}">
                <a16:creationId xmlns:a16="http://schemas.microsoft.com/office/drawing/2014/main" id="{FF56E86C-20D8-472C-8F19-F30A5287F9AA}"/>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len grows from 2 to n.</a:t>
            </a:r>
          </a:p>
        </p:txBody>
      </p:sp>
      <p:sp>
        <p:nvSpPr>
          <p:cNvPr id="5" name="">
            <a:extLst xmlns:a="http://schemas.openxmlformats.org/drawingml/2006/main">
              <a:ext uri="{FF2B5EF4-FFF2-40B4-BE49-F238E27FC236}">
                <a16:creationId xmlns:a16="http://schemas.microsoft.com/office/drawing/2014/main" id="{E5799738-26E6-4E05-B6C8-69DAC95A2386}"/>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Each candidate uses two shorter intervals.</a:t>
            </a:r>
          </a:p>
        </p:txBody>
      </p:sp>
      <p:sp>
        <p:nvSpPr>
          <p:cNvPr id="6" name="">
            <a:extLst xmlns:a="http://schemas.openxmlformats.org/drawingml/2006/main">
              <a:ext uri="{FF2B5EF4-FFF2-40B4-BE49-F238E27FC236}">
                <a16:creationId xmlns:a16="http://schemas.microsoft.com/office/drawing/2014/main" id="{F5FD2DCF-79BF-454B-BCD2-62E1EFF9907A}"/>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1L makes the dimension product use long arithmetic.</a:t>
            </a:r>
          </a:p>
        </p:txBody>
      </p:sp>
      <p:sp>
        <p:nvSpPr>
          <p:cNvPr id="7" name="">
            <a:extLst xmlns:a="http://schemas.openxmlformats.org/drawingml/2006/main">
              <a:ext uri="{FF2B5EF4-FFF2-40B4-BE49-F238E27FC236}">
                <a16:creationId xmlns:a16="http://schemas.microsoft.com/office/drawing/2014/main" id="{C79E3D0D-613B-4F1F-934E-58C996CACA3B}"/>
              </a:ext>
            </a:extLst>
          </p:cNvPr>
          <p:cNvSpPr>
            <a:spLocks xmlns:a="http://schemas.openxmlformats.org/drawingml/2006/main" noGrp="1"/>
          </p:cNvSpPr>
          <p:nvPr/>
        </p:nvSpPr>
        <p:spPr>
          <a:xfrm xmlns:a="http://schemas.openxmlformats.org/drawingml/2006/main">
            <a:off x="609600" y="3171825"/>
            <a:ext cx="109728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62D42"/>
                </a:solidFill>
                <a:latin typeface="Courier New"/>
                <a:ea typeface="Courier New"/>
                <a:cs typeface="Courier New"/>
              </a:defRPr>
            </a:defPPr>
            <a:lvl1pPr>
              <a:defRPr sz="1725" b="0">
                <a:solidFill>
                  <a:srgbClr val="162D42"/>
                </a:solidFill>
                <a:latin typeface="Courier New"/>
                <a:ea typeface="Courier New"/>
                <a:cs typeface="Courier New"/>
              </a:defRPr>
            </a:lvl1pPr>
            <a:lvl2pPr>
              <a:defRPr sz="1725" b="0">
                <a:solidFill>
                  <a:srgbClr val="162D42"/>
                </a:solidFill>
                <a:latin typeface="Courier New"/>
                <a:ea typeface="Courier New"/>
                <a:cs typeface="Courier New"/>
              </a:defRPr>
            </a:lvl2pPr>
            <a:lvl3pPr>
              <a:defRPr sz="1725" b="0">
                <a:solidFill>
                  <a:srgbClr val="162D42"/>
                </a:solidFill>
                <a:latin typeface="Courier New"/>
                <a:ea typeface="Courier New"/>
                <a:cs typeface="Courier New"/>
              </a:defRPr>
            </a:lvl3pPr>
            <a:lvl4pPr>
              <a:defRPr sz="1725" b="0">
                <a:solidFill>
                  <a:srgbClr val="162D42"/>
                </a:solidFill>
                <a:latin typeface="Courier New"/>
                <a:ea typeface="Courier New"/>
                <a:cs typeface="Courier New"/>
              </a:defRPr>
            </a:lvl4pPr>
            <a:lvl5pPr>
              <a:defRPr sz="1725" b="0">
                <a:solidFill>
                  <a:srgbClr val="162D42"/>
                </a:solidFill>
                <a:latin typeface="Courier New"/>
                <a:ea typeface="Courier New"/>
                <a:cs typeface="Courier New"/>
              </a:defRPr>
            </a:lvl5pPr>
            <a:lvl6pPr>
              <a:defRPr sz="1725" b="0">
                <a:solidFill>
                  <a:srgbClr val="162D42"/>
                </a:solidFill>
                <a:latin typeface="Courier New"/>
                <a:ea typeface="Courier New"/>
                <a:cs typeface="Courier New"/>
              </a:defRPr>
            </a:lvl6pPr>
            <a:lvl7pPr>
              <a:defRPr sz="1725" b="0">
                <a:solidFill>
                  <a:srgbClr val="162D42"/>
                </a:solidFill>
                <a:latin typeface="Courier New"/>
                <a:ea typeface="Courier New"/>
                <a:cs typeface="Courier New"/>
              </a:defRPr>
            </a:lvl7pPr>
            <a:lvl8pPr>
              <a:defRPr sz="1725" b="0">
                <a:solidFill>
                  <a:srgbClr val="162D42"/>
                </a:solidFill>
                <a:latin typeface="Courier New"/>
                <a:ea typeface="Courier New"/>
                <a:cs typeface="Courier New"/>
              </a:defRPr>
            </a:lvl8pPr>
            <a:lvl9pPr>
              <a:defRPr sz="1725" b="0">
                <a:solidFill>
                  <a:srgbClr val="162D42"/>
                </a:solidFill>
                <a:latin typeface="Courier New"/>
                <a:ea typeface="Courier New"/>
                <a:cs typeface="Courier New"/>
              </a:defRPr>
            </a:lvl9pPr>
          </a:lstStyle>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for (int len = 2; len &lt;= n; len++)</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for (int i = 1; i + len - 1 &lt;= n; i++) {</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int j = i + len - 1;</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M[i][j] = Long.MAX_VALUE;</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for (int k = i; k &lt; j; k++)</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M[i][j] = Math.min(M[i][j],</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M[i][k] + M[k+1][j] + 1L*p[i-1]*p[k]*p[j]);</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a:t>
            </a:r>
          </a:p>
        </p:txBody>
      </p:sp>
      <p:sp>
        <p:nvSpPr>
          <p:cNvPr id="8" name="">
            <a:extLst xmlns:a="http://schemas.openxmlformats.org/drawingml/2006/main">
              <a:ext uri="{FF2B5EF4-FFF2-40B4-BE49-F238E27FC236}">
                <a16:creationId xmlns:a16="http://schemas.microsoft.com/office/drawing/2014/main" id="{F013B76C-C76E-4B69-9763-22B21CD9FD94}"/>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B2E0A613-FDA5-4856-AD07-E674990A0387}"/>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24 / 34</a:t>
            </a:r>
          </a:p>
        </p:txBody>
      </p:sp>
    </p:spTree>
    <p:extLst>
      <p:ext uri="{BB962C8B-B14F-4D97-AF65-F5344CB8AC3E}">
        <p14:creationId xmlns:p14="http://schemas.microsoft.com/office/powerpoint/2010/main" val="37302925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59F90DA-4FFB-4A29-A207-7CCBE13C3B2C}"/>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681864AD-8A09-4DE5-8653-CB460480C360}"/>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Another interval problem: stick cutting</a:t>
            </a:r>
          </a:p>
        </p:txBody>
      </p:sp>
      <p:sp>
        <p:nvSpPr>
          <p:cNvPr id="4" name="">
            <a:extLst xmlns:a="http://schemas.openxmlformats.org/drawingml/2006/main">
              <a:ext uri="{FF2B5EF4-FFF2-40B4-BE49-F238E27FC236}">
                <a16:creationId xmlns:a16="http://schemas.microsoft.com/office/drawing/2014/main" id="{B7968447-10E3-4382-A4B6-D82DAA1BE0C4}"/>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cut costs the length of its current segment.</a:t>
            </a:r>
          </a:p>
        </p:txBody>
      </p:sp>
      <p:sp>
        <p:nvSpPr>
          <p:cNvPr id="5" name="">
            <a:extLst xmlns:a="http://schemas.openxmlformats.org/drawingml/2006/main">
              <a:ext uri="{FF2B5EF4-FFF2-40B4-BE49-F238E27FC236}">
                <a16:creationId xmlns:a16="http://schemas.microsoft.com/office/drawing/2014/main" id="{0FE9141E-B34B-4BF3-8C2A-0A896103AFC1}"/>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Add endpoints and sort all required cut positions.</a:t>
            </a:r>
          </a:p>
        </p:txBody>
      </p:sp>
      <p:sp>
        <p:nvSpPr>
          <p:cNvPr id="6" name="">
            <a:extLst xmlns:a="http://schemas.openxmlformats.org/drawingml/2006/main">
              <a:ext uri="{FF2B5EF4-FFF2-40B4-BE49-F238E27FC236}">
                <a16:creationId xmlns:a16="http://schemas.microsoft.com/office/drawing/2014/main" id="{15DBC4BB-4F0C-40FD-AA09-47CAD02A30F6}"/>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An interval with no internal required cut costs 0.</a:t>
            </a:r>
          </a:p>
        </p:txBody>
      </p:sp>
      <p:sp>
        <p:nvSpPr>
          <p:cNvPr id="7" name="">
            <a:extLst xmlns:a="http://schemas.openxmlformats.org/drawingml/2006/main">
              <a:ext uri="{FF2B5EF4-FFF2-40B4-BE49-F238E27FC236}">
                <a16:creationId xmlns:a16="http://schemas.microsoft.com/office/drawing/2014/main" id="{F8D4D395-DE9E-4AE2-96F8-284EB9779EA2}"/>
              </a:ext>
            </a:extLst>
          </p:cNvPr>
          <p:cNvSpPr>
            <a:spLocks xmlns:a="http://schemas.openxmlformats.org/drawingml/2006/main" noGrp="1"/>
          </p:cNvSpPr>
          <p:nvPr/>
        </p:nvSpPr>
        <p:spPr>
          <a:xfrm xmlns:a="http://schemas.openxmlformats.org/drawingml/2006/main">
            <a:off x="609600" y="3267075"/>
            <a:ext cx="109728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A44270"/>
                </a:solidFill>
                <a:latin typeface="Arial"/>
                <a:ea typeface="Arial"/>
                <a:cs typeface="Arial"/>
              </a:defRPr>
            </a:defPPr>
            <a:lvl1pPr>
              <a:defRPr sz="2325" b="1">
                <a:solidFill>
                  <a:srgbClr val="A44270"/>
                </a:solidFill>
                <a:latin typeface="Arial"/>
                <a:ea typeface="Arial"/>
                <a:cs typeface="Arial"/>
              </a:defRPr>
            </a:lvl1pPr>
            <a:lvl2pPr>
              <a:defRPr sz="2325" b="1">
                <a:solidFill>
                  <a:srgbClr val="A44270"/>
                </a:solidFill>
                <a:latin typeface="Arial"/>
                <a:ea typeface="Arial"/>
                <a:cs typeface="Arial"/>
              </a:defRPr>
            </a:lvl2pPr>
            <a:lvl3pPr>
              <a:defRPr sz="2325" b="1">
                <a:solidFill>
                  <a:srgbClr val="A44270"/>
                </a:solidFill>
                <a:latin typeface="Arial"/>
                <a:ea typeface="Arial"/>
                <a:cs typeface="Arial"/>
              </a:defRPr>
            </a:lvl3pPr>
            <a:lvl4pPr>
              <a:defRPr sz="2325" b="1">
                <a:solidFill>
                  <a:srgbClr val="A44270"/>
                </a:solidFill>
                <a:latin typeface="Arial"/>
                <a:ea typeface="Arial"/>
                <a:cs typeface="Arial"/>
              </a:defRPr>
            </a:lvl4pPr>
            <a:lvl5pPr>
              <a:defRPr sz="2325" b="1">
                <a:solidFill>
                  <a:srgbClr val="A44270"/>
                </a:solidFill>
                <a:latin typeface="Arial"/>
                <a:ea typeface="Arial"/>
                <a:cs typeface="Arial"/>
              </a:defRPr>
            </a:lvl5pPr>
            <a:lvl6pPr>
              <a:defRPr sz="2325" b="1">
                <a:solidFill>
                  <a:srgbClr val="A44270"/>
                </a:solidFill>
                <a:latin typeface="Arial"/>
                <a:ea typeface="Arial"/>
                <a:cs typeface="Arial"/>
              </a:defRPr>
            </a:lvl6pPr>
            <a:lvl7pPr>
              <a:defRPr sz="2325" b="1">
                <a:solidFill>
                  <a:srgbClr val="A44270"/>
                </a:solidFill>
                <a:latin typeface="Arial"/>
                <a:ea typeface="Arial"/>
                <a:cs typeface="Arial"/>
              </a:defRPr>
            </a:lvl7pPr>
            <a:lvl8pPr>
              <a:defRPr sz="2325" b="1">
                <a:solidFill>
                  <a:srgbClr val="A44270"/>
                </a:solidFill>
                <a:latin typeface="Arial"/>
                <a:ea typeface="Arial"/>
                <a:cs typeface="Arial"/>
              </a:defRPr>
            </a:lvl8pPr>
            <a:lvl9pPr>
              <a:defRPr sz="2325" b="1">
                <a:solidFill>
                  <a:srgbClr val="A44270"/>
                </a:solidFill>
                <a:latin typeface="Arial"/>
                <a:ea typeface="Arial"/>
                <a:cs typeface="Arial"/>
              </a:defRPr>
            </a:lvl9pPr>
          </a:lstStyle>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C[l][r] = min over l &lt; k &lt; r of</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C[l][k] + C[k][r] + (x[r] − x[l])</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Base: C[l][l+1] = 0</a:t>
            </a:r>
          </a:p>
        </p:txBody>
      </p:sp>
      <p:sp>
        <p:nvSpPr>
          <p:cNvPr id="8" name="">
            <a:extLst xmlns:a="http://schemas.openxmlformats.org/drawingml/2006/main">
              <a:ext uri="{FF2B5EF4-FFF2-40B4-BE49-F238E27FC236}">
                <a16:creationId xmlns:a16="http://schemas.microsoft.com/office/drawing/2014/main" id="{F1AA7FA0-6E0D-4A6E-937C-45EFCE3FE768}"/>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30A2AC79-2C7F-48B9-A0E3-30986A9E788D}"/>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25 / 34</a:t>
            </a:r>
          </a:p>
        </p:txBody>
      </p:sp>
    </p:spTree>
    <p:extLst>
      <p:ext uri="{BB962C8B-B14F-4D97-AF65-F5344CB8AC3E}">
        <p14:creationId xmlns:p14="http://schemas.microsoft.com/office/powerpoint/2010/main" val="168482561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B37BFDE-32B5-403A-A07A-910C923BC818}"/>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BA05063A-AE4A-4C60-BF54-924BE8C9ADE0}"/>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Tree DP: choosing guests</a:t>
            </a:r>
          </a:p>
        </p:txBody>
      </p:sp>
      <p:sp>
        <p:nvSpPr>
          <p:cNvPr id="4" name="">
            <a:extLst xmlns:a="http://schemas.openxmlformats.org/drawingml/2006/main">
              <a:ext uri="{FF2B5EF4-FFF2-40B4-BE49-F238E27FC236}">
                <a16:creationId xmlns:a16="http://schemas.microsoft.com/office/drawing/2014/main" id="{F66F19A4-7465-49FE-A993-364BBFE99A21}"/>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Each node has a weight.</a:t>
            </a:r>
          </a:p>
        </p:txBody>
      </p:sp>
      <p:sp>
        <p:nvSpPr>
          <p:cNvPr id="5" name="">
            <a:extLst xmlns:a="http://schemas.openxmlformats.org/drawingml/2006/main">
              <a:ext uri="{FF2B5EF4-FFF2-40B4-BE49-F238E27FC236}">
                <a16:creationId xmlns:a16="http://schemas.microsoft.com/office/drawing/2014/main" id="{B824B317-D58A-4C73-92CD-3CF2FFB88146}"/>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A selected node excludes its immediate neighbors.</a:t>
            </a:r>
          </a:p>
        </p:txBody>
      </p:sp>
      <p:sp>
        <p:nvSpPr>
          <p:cNvPr id="6" name="">
            <a:extLst xmlns:a="http://schemas.openxmlformats.org/drawingml/2006/main">
              <a:ext uri="{FF2B5EF4-FFF2-40B4-BE49-F238E27FC236}">
                <a16:creationId xmlns:a16="http://schemas.microsoft.com/office/drawing/2014/main" id="{6B45D041-2615-4340-88AB-984A8BF74497}"/>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The goal is maximum total weight.</a:t>
            </a:r>
          </a:p>
        </p:txBody>
      </p:sp>
      <p:graphicFrame>
        <p:nvGraphicFramePr>
          <p:cNvPr id="7" name="">
            <a:extLst xmlns:a="http://schemas.openxmlformats.org/drawingml/2006/main">
              <a:ext uri="{FF2B5EF4-FFF2-40B4-BE49-F238E27FC236}">
                <a16:creationId xmlns:a16="http://schemas.microsoft.com/office/drawing/2014/main" id="{1C91C9CE-BD71-4138-B607-B71757C8788A}"/>
              </a:ext>
            </a:extLst>
          </p:cNvPr>
          <p:cNvGraphicFramePr/>
          <p:nvPr/>
        </p:nvGraphicFramePr>
        <p:xfrm>
          <a:off xmlns:a="http://schemas.openxmlformats.org/drawingml/2006/main" x="609600" y="3171825"/>
          <a:ext xmlns:a="http://schemas.openxmlformats.org/drawingml/2006/main" cx="10972800" cy="2286000"/>
        </p:xfrm>
        <a:graphic xmlns:a="http://schemas.openxmlformats.org/drawingml/2006/main">
          <a:graphicData uri="http://schemas.openxmlformats.org/drawingml/2006/table">
            <a:tbl>
              <a:tblPr/>
              <a:tblGrid>
                <a:gridCol w="3810000"/>
                <a:gridCol w="4095750"/>
                <a:gridCol w="3067050"/>
              </a:tblGrid>
              <a:tr h="457200">
                <a:tc>
                  <a:txBody>
                    <a:bodyPr/>
                    <a:lstStyle/>
                    <a:p>
                      <a:r>
                        <a:rPr sz="1725" b="1">
                          <a:solidFill>
                            <a:srgbClr val="162D42"/>
                          </a:solidFill>
                          <a:latin typeface="Arial"/>
                          <a:ea typeface="Arial"/>
                          <a:cs typeface="Arial"/>
                        </a:rPr>
                        <a:t>Node</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Weight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Children</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r>
              <a:tr h="457200">
                <a:tc>
                  <a:txBody>
                    <a:bodyPr/>
                    <a:lstStyle/>
                    <a:p>
                      <a:r>
                        <a:rPr sz="1725" b="0">
                          <a:solidFill>
                            <a:srgbClr val="162D42"/>
                          </a:solidFill>
                          <a:latin typeface="Arial"/>
                          <a:ea typeface="Arial"/>
                          <a:cs typeface="Arial"/>
                        </a:rPr>
                        <a:t>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5</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1, 2</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1</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3, 4</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3 / 4</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6 / 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49BF380-570A-4A6E-B09B-2593A2AA1D4E}"/>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91B6F770-3CF5-4608-8A73-95F2413CFFD4}"/>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26 / 34</a:t>
            </a:r>
          </a:p>
        </p:txBody>
      </p:sp>
    </p:spTree>
    <p:extLst>
      <p:ext uri="{BB962C8B-B14F-4D97-AF65-F5344CB8AC3E}">
        <p14:creationId xmlns:p14="http://schemas.microsoft.com/office/powerpoint/2010/main" val="169768862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BAB6F7-943C-4EA1-8652-9D55A6B39EBA}"/>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5AC1AB6D-BBAD-4032-A422-1F366D6D60A7}"/>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Two states per tree node</a:t>
            </a:r>
          </a:p>
        </p:txBody>
      </p:sp>
      <p:sp>
        <p:nvSpPr>
          <p:cNvPr id="4" name="">
            <a:extLst xmlns:a="http://schemas.openxmlformats.org/drawingml/2006/main">
              <a:ext uri="{FF2B5EF4-FFF2-40B4-BE49-F238E27FC236}">
                <a16:creationId xmlns:a16="http://schemas.microsoft.com/office/drawing/2014/main" id="{A85C2BC4-1B73-424F-B488-3665F3935402}"/>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take[u] includes u and excludes every child.</a:t>
            </a:r>
          </a:p>
        </p:txBody>
      </p:sp>
      <p:sp>
        <p:nvSpPr>
          <p:cNvPr id="5" name="">
            <a:extLst xmlns:a="http://schemas.openxmlformats.org/drawingml/2006/main">
              <a:ext uri="{FF2B5EF4-FFF2-40B4-BE49-F238E27FC236}">
                <a16:creationId xmlns:a16="http://schemas.microsoft.com/office/drawing/2014/main" id="{3E1B3D4B-0D1F-45AE-944C-0BBC6A56DA24}"/>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skip[u] excludes u and lets each child choose.</a:t>
            </a:r>
          </a:p>
        </p:txBody>
      </p:sp>
      <p:sp>
        <p:nvSpPr>
          <p:cNvPr id="6" name="">
            <a:extLst xmlns:a="http://schemas.openxmlformats.org/drawingml/2006/main">
              <a:ext uri="{FF2B5EF4-FFF2-40B4-BE49-F238E27FC236}">
                <a16:creationId xmlns:a16="http://schemas.microsoft.com/office/drawing/2014/main" id="{11D5717D-0464-49B6-86F4-BD05931B7B45}"/>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Children must be solved before their parent.</a:t>
            </a:r>
          </a:p>
        </p:txBody>
      </p:sp>
      <p:sp>
        <p:nvSpPr>
          <p:cNvPr id="7" name="">
            <a:extLst xmlns:a="http://schemas.openxmlformats.org/drawingml/2006/main">
              <a:ext uri="{FF2B5EF4-FFF2-40B4-BE49-F238E27FC236}">
                <a16:creationId xmlns:a16="http://schemas.microsoft.com/office/drawing/2014/main" id="{FA5DD7CE-034B-4004-A57A-146CFEEF5A09}"/>
              </a:ext>
            </a:extLst>
          </p:cNvPr>
          <p:cNvSpPr>
            <a:spLocks xmlns:a="http://schemas.openxmlformats.org/drawingml/2006/main" noGrp="1"/>
          </p:cNvSpPr>
          <p:nvPr/>
        </p:nvSpPr>
        <p:spPr>
          <a:xfrm xmlns:a="http://schemas.openxmlformats.org/drawingml/2006/main">
            <a:off x="609600" y="3267075"/>
            <a:ext cx="109728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A44270"/>
                </a:solidFill>
                <a:latin typeface="Arial"/>
                <a:ea typeface="Arial"/>
                <a:cs typeface="Arial"/>
              </a:defRPr>
            </a:defPPr>
            <a:lvl1pPr>
              <a:defRPr sz="2325" b="1">
                <a:solidFill>
                  <a:srgbClr val="A44270"/>
                </a:solidFill>
                <a:latin typeface="Arial"/>
                <a:ea typeface="Arial"/>
                <a:cs typeface="Arial"/>
              </a:defRPr>
            </a:lvl1pPr>
            <a:lvl2pPr>
              <a:defRPr sz="2325" b="1">
                <a:solidFill>
                  <a:srgbClr val="A44270"/>
                </a:solidFill>
                <a:latin typeface="Arial"/>
                <a:ea typeface="Arial"/>
                <a:cs typeface="Arial"/>
              </a:defRPr>
            </a:lvl2pPr>
            <a:lvl3pPr>
              <a:defRPr sz="2325" b="1">
                <a:solidFill>
                  <a:srgbClr val="A44270"/>
                </a:solidFill>
                <a:latin typeface="Arial"/>
                <a:ea typeface="Arial"/>
                <a:cs typeface="Arial"/>
              </a:defRPr>
            </a:lvl3pPr>
            <a:lvl4pPr>
              <a:defRPr sz="2325" b="1">
                <a:solidFill>
                  <a:srgbClr val="A44270"/>
                </a:solidFill>
                <a:latin typeface="Arial"/>
                <a:ea typeface="Arial"/>
                <a:cs typeface="Arial"/>
              </a:defRPr>
            </a:lvl4pPr>
            <a:lvl5pPr>
              <a:defRPr sz="2325" b="1">
                <a:solidFill>
                  <a:srgbClr val="A44270"/>
                </a:solidFill>
                <a:latin typeface="Arial"/>
                <a:ea typeface="Arial"/>
                <a:cs typeface="Arial"/>
              </a:defRPr>
            </a:lvl5pPr>
            <a:lvl6pPr>
              <a:defRPr sz="2325" b="1">
                <a:solidFill>
                  <a:srgbClr val="A44270"/>
                </a:solidFill>
                <a:latin typeface="Arial"/>
                <a:ea typeface="Arial"/>
                <a:cs typeface="Arial"/>
              </a:defRPr>
            </a:lvl6pPr>
            <a:lvl7pPr>
              <a:defRPr sz="2325" b="1">
                <a:solidFill>
                  <a:srgbClr val="A44270"/>
                </a:solidFill>
                <a:latin typeface="Arial"/>
                <a:ea typeface="Arial"/>
                <a:cs typeface="Arial"/>
              </a:defRPr>
            </a:lvl7pPr>
            <a:lvl8pPr>
              <a:defRPr sz="2325" b="1">
                <a:solidFill>
                  <a:srgbClr val="A44270"/>
                </a:solidFill>
                <a:latin typeface="Arial"/>
                <a:ea typeface="Arial"/>
                <a:cs typeface="Arial"/>
              </a:defRPr>
            </a:lvl8pPr>
            <a:lvl9pPr>
              <a:defRPr sz="2325" b="1">
                <a:solidFill>
                  <a:srgbClr val="A44270"/>
                </a:solidFill>
                <a:latin typeface="Arial"/>
                <a:ea typeface="Arial"/>
                <a:cs typeface="Arial"/>
              </a:defRPr>
            </a:lvl9pPr>
          </a:lstStyle>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take[u] = w[u] + Σ skip[v]</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skip[u] = Σ max(take[v], skip[v])</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v ranges over children of u</a:t>
            </a:r>
          </a:p>
        </p:txBody>
      </p:sp>
      <p:sp>
        <p:nvSpPr>
          <p:cNvPr id="8" name="">
            <a:extLst xmlns:a="http://schemas.openxmlformats.org/drawingml/2006/main">
              <a:ext uri="{FF2B5EF4-FFF2-40B4-BE49-F238E27FC236}">
                <a16:creationId xmlns:a16="http://schemas.microsoft.com/office/drawing/2014/main" id="{0DDD3FE3-9725-4A11-86D4-64C56BAEB3BE}"/>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1AA067F0-610E-4A9E-8101-46B13959D5CA}"/>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27 / 34</a:t>
            </a:r>
          </a:p>
        </p:txBody>
      </p:sp>
    </p:spTree>
    <p:extLst>
      <p:ext uri="{BB962C8B-B14F-4D97-AF65-F5344CB8AC3E}">
        <p14:creationId xmlns:p14="http://schemas.microsoft.com/office/powerpoint/2010/main" val="194922724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E9BB620-8931-4A5E-91F1-60B72781ADDD}"/>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04B5EA0E-4145-4114-901C-C804A04BE7F0}"/>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Tree DP: the complete calculation</a:t>
            </a:r>
          </a:p>
        </p:txBody>
      </p:sp>
      <p:sp>
        <p:nvSpPr>
          <p:cNvPr id="4" name="">
            <a:extLst xmlns:a="http://schemas.openxmlformats.org/drawingml/2006/main">
              <a:ext uri="{FF2B5EF4-FFF2-40B4-BE49-F238E27FC236}">
                <a16:creationId xmlns:a16="http://schemas.microsoft.com/office/drawing/2014/main" id="{F0C8CAD8-6407-493E-96C7-D34CFD67F025}"/>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Node 1: take = 3, skip = 6 + 1 = 7.</a:t>
            </a:r>
          </a:p>
        </p:txBody>
      </p:sp>
      <p:sp>
        <p:nvSpPr>
          <p:cNvPr id="5" name="">
            <a:extLst xmlns:a="http://schemas.openxmlformats.org/drawingml/2006/main">
              <a:ext uri="{FF2B5EF4-FFF2-40B4-BE49-F238E27FC236}">
                <a16:creationId xmlns:a16="http://schemas.microsoft.com/office/drawing/2014/main" id="{ECE5DF45-48D7-4FCD-AC92-1CA0FAD82FC3}"/>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Root 0: take = 5 + 7 + 0 = 12.</a:t>
            </a:r>
          </a:p>
        </p:txBody>
      </p:sp>
      <p:sp>
        <p:nvSpPr>
          <p:cNvPr id="6" name="">
            <a:extLst xmlns:a="http://schemas.openxmlformats.org/drawingml/2006/main">
              <a:ext uri="{FF2B5EF4-FFF2-40B4-BE49-F238E27FC236}">
                <a16:creationId xmlns:a16="http://schemas.microsoft.com/office/drawing/2014/main" id="{54CBF8BA-4D8A-4D61-940A-8F89FA13A5E5}"/>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Root 0: skip = 7 + 4 = 11.</a:t>
            </a:r>
          </a:p>
        </p:txBody>
      </p:sp>
      <p:graphicFrame>
        <p:nvGraphicFramePr>
          <p:cNvPr id="7" name="">
            <a:extLst xmlns:a="http://schemas.openxmlformats.org/drawingml/2006/main">
              <a:ext uri="{FF2B5EF4-FFF2-40B4-BE49-F238E27FC236}">
                <a16:creationId xmlns:a16="http://schemas.microsoft.com/office/drawing/2014/main" id="{A2DB0213-E521-41A0-A765-4517A83A5698}"/>
              </a:ext>
            </a:extLst>
          </p:cNvPr>
          <p:cNvGraphicFramePr/>
          <p:nvPr/>
        </p:nvGraphicFramePr>
        <p:xfrm>
          <a:off xmlns:a="http://schemas.openxmlformats.org/drawingml/2006/main" x="609600" y="3171825"/>
          <a:ext xmlns:a="http://schemas.openxmlformats.org/drawingml/2006/main" cx="10972800" cy="2743200"/>
        </p:xfrm>
        <a:graphic xmlns:a="http://schemas.openxmlformats.org/drawingml/2006/main">
          <a:graphicData uri="http://schemas.openxmlformats.org/drawingml/2006/table">
            <a:tbl>
              <a:tblPr/>
              <a:tblGrid>
                <a:gridCol w="3810000"/>
                <a:gridCol w="4095750"/>
                <a:gridCol w="3067050"/>
              </a:tblGrid>
              <a:tr h="457200">
                <a:tc>
                  <a:txBody>
                    <a:bodyPr/>
                    <a:lstStyle/>
                    <a:p>
                      <a:r>
                        <a:rPr sz="1725" b="1">
                          <a:solidFill>
                            <a:srgbClr val="162D42"/>
                          </a:solidFill>
                          <a:latin typeface="Arial"/>
                          <a:ea typeface="Arial"/>
                          <a:cs typeface="Arial"/>
                        </a:rPr>
                        <a:t>u</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take[u]</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skip[u]</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r>
              <a:tr h="457200">
                <a:tc>
                  <a:txBody>
                    <a:bodyPr/>
                    <a:lstStyle/>
                    <a:p>
                      <a:r>
                        <a:rPr sz="1725" b="0">
                          <a:solidFill>
                            <a:srgbClr val="162D42"/>
                          </a:solidFill>
                          <a:latin typeface="Arial"/>
                          <a:ea typeface="Arial"/>
                          <a:cs typeface="Arial"/>
                        </a:rPr>
                        <a:t>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6</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4</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1</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12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11</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B3543EBB-6E9D-4A2F-B53A-278F8AD4FA4F}"/>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EDC4E79E-514A-43E3-AC6F-EF267C8AFDBA}"/>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28 / 34</a:t>
            </a:r>
          </a:p>
        </p:txBody>
      </p:sp>
    </p:spTree>
    <p:extLst>
      <p:ext uri="{BB962C8B-B14F-4D97-AF65-F5344CB8AC3E}">
        <p14:creationId xmlns:p14="http://schemas.microsoft.com/office/powerpoint/2010/main" val="2124444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C414E81-8BD6-463D-BB7C-4B76FDD11949}"/>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75758F05-6170-42BE-BE3B-E14CCAAA9053}"/>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Recovering the selected nodes</a:t>
            </a:r>
          </a:p>
        </p:txBody>
      </p:sp>
      <p:sp>
        <p:nvSpPr>
          <p:cNvPr id="4" name="">
            <a:extLst xmlns:a="http://schemas.openxmlformats.org/drawingml/2006/main">
              <a:ext uri="{FF2B5EF4-FFF2-40B4-BE49-F238E27FC236}">
                <a16:creationId xmlns:a16="http://schemas.microsoft.com/office/drawing/2014/main" id="{70DF0909-A456-4556-937E-A4DAEC4151B7}"/>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If the parent is selected, skip the current node.</a:t>
            </a:r>
          </a:p>
        </p:txBody>
      </p:sp>
      <p:sp>
        <p:nvSpPr>
          <p:cNvPr id="5" name="">
            <a:extLst xmlns:a="http://schemas.openxmlformats.org/drawingml/2006/main">
              <a:ext uri="{FF2B5EF4-FFF2-40B4-BE49-F238E27FC236}">
                <a16:creationId xmlns:a16="http://schemas.microsoft.com/office/drawing/2014/main" id="{292F1803-A6C1-44C2-B96C-D33EDBD7F4A9}"/>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Otherwise choose the better state at the current node.</a:t>
            </a:r>
          </a:p>
        </p:txBody>
      </p:sp>
      <p:sp>
        <p:nvSpPr>
          <p:cNvPr id="6" name="">
            <a:extLst xmlns:a="http://schemas.openxmlformats.org/drawingml/2006/main">
              <a:ext uri="{FF2B5EF4-FFF2-40B4-BE49-F238E27FC236}">
                <a16:creationId xmlns:a16="http://schemas.microsoft.com/office/drawing/2014/main" id="{8B5BFDD1-C5DF-4657-88E2-7C38B767A9E5}"/>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Check every edge and recompute the selected weight.</a:t>
            </a:r>
          </a:p>
        </p:txBody>
      </p:sp>
      <p:sp>
        <p:nvSpPr>
          <p:cNvPr id="7" name="">
            <a:extLst xmlns:a="http://schemas.openxmlformats.org/drawingml/2006/main">
              <a:ext uri="{FF2B5EF4-FFF2-40B4-BE49-F238E27FC236}">
                <a16:creationId xmlns:a16="http://schemas.microsoft.com/office/drawing/2014/main" id="{78B870F1-77DE-41D1-8385-48539F13B5F2}"/>
              </a:ext>
            </a:extLst>
          </p:cNvPr>
          <p:cNvSpPr>
            <a:spLocks xmlns:a="http://schemas.openxmlformats.org/drawingml/2006/main" noGrp="1"/>
          </p:cNvSpPr>
          <p:nvPr/>
        </p:nvSpPr>
        <p:spPr>
          <a:xfrm xmlns:a="http://schemas.openxmlformats.org/drawingml/2006/main">
            <a:off x="609600" y="3267075"/>
            <a:ext cx="109728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A44270"/>
                </a:solidFill>
                <a:latin typeface="Arial"/>
                <a:ea typeface="Arial"/>
                <a:cs typeface="Arial"/>
              </a:defRPr>
            </a:defPPr>
            <a:lvl1pPr>
              <a:defRPr sz="2325" b="1">
                <a:solidFill>
                  <a:srgbClr val="A44270"/>
                </a:solidFill>
                <a:latin typeface="Arial"/>
                <a:ea typeface="Arial"/>
                <a:cs typeface="Arial"/>
              </a:defRPr>
            </a:lvl1pPr>
            <a:lvl2pPr>
              <a:defRPr sz="2325" b="1">
                <a:solidFill>
                  <a:srgbClr val="A44270"/>
                </a:solidFill>
                <a:latin typeface="Arial"/>
                <a:ea typeface="Arial"/>
                <a:cs typeface="Arial"/>
              </a:defRPr>
            </a:lvl2pPr>
            <a:lvl3pPr>
              <a:defRPr sz="2325" b="1">
                <a:solidFill>
                  <a:srgbClr val="A44270"/>
                </a:solidFill>
                <a:latin typeface="Arial"/>
                <a:ea typeface="Arial"/>
                <a:cs typeface="Arial"/>
              </a:defRPr>
            </a:lvl3pPr>
            <a:lvl4pPr>
              <a:defRPr sz="2325" b="1">
                <a:solidFill>
                  <a:srgbClr val="A44270"/>
                </a:solidFill>
                <a:latin typeface="Arial"/>
                <a:ea typeface="Arial"/>
                <a:cs typeface="Arial"/>
              </a:defRPr>
            </a:lvl4pPr>
            <a:lvl5pPr>
              <a:defRPr sz="2325" b="1">
                <a:solidFill>
                  <a:srgbClr val="A44270"/>
                </a:solidFill>
                <a:latin typeface="Arial"/>
                <a:ea typeface="Arial"/>
                <a:cs typeface="Arial"/>
              </a:defRPr>
            </a:lvl5pPr>
            <a:lvl6pPr>
              <a:defRPr sz="2325" b="1">
                <a:solidFill>
                  <a:srgbClr val="A44270"/>
                </a:solidFill>
                <a:latin typeface="Arial"/>
                <a:ea typeface="Arial"/>
                <a:cs typeface="Arial"/>
              </a:defRPr>
            </a:lvl6pPr>
            <a:lvl7pPr>
              <a:defRPr sz="2325" b="1">
                <a:solidFill>
                  <a:srgbClr val="A44270"/>
                </a:solidFill>
                <a:latin typeface="Arial"/>
                <a:ea typeface="Arial"/>
                <a:cs typeface="Arial"/>
              </a:defRPr>
            </a:lvl7pPr>
            <a:lvl8pPr>
              <a:defRPr sz="2325" b="1">
                <a:solidFill>
                  <a:srgbClr val="A44270"/>
                </a:solidFill>
                <a:latin typeface="Arial"/>
                <a:ea typeface="Arial"/>
                <a:cs typeface="Arial"/>
              </a:defRPr>
            </a:lvl8pPr>
            <a:lvl9pPr>
              <a:defRPr sz="2325" b="1">
                <a:solidFill>
                  <a:srgbClr val="A44270"/>
                </a:solidFill>
                <a:latin typeface="Arial"/>
                <a:ea typeface="Arial"/>
                <a:cs typeface="Arial"/>
              </a:defRPr>
            </a:lvl9pPr>
          </a:lstStyle>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Selected nodes: {0, 3, 4}</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Total: 5 + 6 + 1 = 12</a:t>
            </a:r>
          </a:p>
          <a:p xmlns:a="http://schemas.openxmlformats.org/drawingml/2006/main">
            <a:pPr>
              <a:defRPr sz="2325" b="1">
                <a:solidFill>
                  <a:srgbClr val="A44270"/>
                </a:solidFill>
                <a:latin typeface="Arial"/>
                <a:ea typeface="Arial"/>
                <a:cs typeface="Arial"/>
              </a:defRPr>
            </a:pPr>
            <a:r>
              <a:rPr sz="2325" b="1">
                <a:solidFill>
                  <a:srgbClr val="A44270"/>
                </a:solidFill>
                <a:latin typeface="Arial"/>
                <a:ea typeface="Arial"/>
                <a:cs typeface="Arial"/>
              </a:rPr>
              <a:t>No selected edge has both endpoints selected.</a:t>
            </a:r>
          </a:p>
        </p:txBody>
      </p:sp>
      <p:sp>
        <p:nvSpPr>
          <p:cNvPr id="8" name="">
            <a:extLst xmlns:a="http://schemas.openxmlformats.org/drawingml/2006/main">
              <a:ext uri="{FF2B5EF4-FFF2-40B4-BE49-F238E27FC236}">
                <a16:creationId xmlns:a16="http://schemas.microsoft.com/office/drawing/2014/main" id="{6767614C-EBCE-4493-A7F8-93717B857538}"/>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446D4015-EC93-41D2-8D42-5253E84B4F9E}"/>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29 / 34</a:t>
            </a:r>
          </a:p>
        </p:txBody>
      </p:sp>
    </p:spTree>
    <p:extLst>
      <p:ext uri="{BB962C8B-B14F-4D97-AF65-F5344CB8AC3E}">
        <p14:creationId xmlns:p14="http://schemas.microsoft.com/office/powerpoint/2010/main" val="1791357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5C97CFC-FD21-4534-BC20-A30B53FF3B5B}"/>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AEEA227B-DB31-469A-A1F9-D83EE48E3B40}"/>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Tree DP in reverse traversal order</a:t>
            </a:r>
          </a:p>
        </p:txBody>
      </p:sp>
      <p:sp>
        <p:nvSpPr>
          <p:cNvPr id="4" name="">
            <a:extLst xmlns:a="http://schemas.openxmlformats.org/drawingml/2006/main">
              <a:ext uri="{FF2B5EF4-FFF2-40B4-BE49-F238E27FC236}">
                <a16:creationId xmlns:a16="http://schemas.microsoft.com/office/drawing/2014/main" id="{A063F2FF-CC1B-491F-AE45-61069DFD8A3A}"/>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First build parent[] and a traversal order.</a:t>
            </a:r>
          </a:p>
        </p:txBody>
      </p:sp>
      <p:sp>
        <p:nvSpPr>
          <p:cNvPr id="5" name="">
            <a:extLst xmlns:a="http://schemas.openxmlformats.org/drawingml/2006/main">
              <a:ext uri="{FF2B5EF4-FFF2-40B4-BE49-F238E27FC236}">
                <a16:creationId xmlns:a16="http://schemas.microsoft.com/office/drawing/2014/main" id="{D2BD11CA-C152-4984-B390-B001144DA9B2}"/>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Reverse the order so every child appears before its parent.</a:t>
            </a:r>
          </a:p>
        </p:txBody>
      </p:sp>
      <p:sp>
        <p:nvSpPr>
          <p:cNvPr id="6" name="">
            <a:extLst xmlns:a="http://schemas.openxmlformats.org/drawingml/2006/main">
              <a:ext uri="{FF2B5EF4-FFF2-40B4-BE49-F238E27FC236}">
                <a16:creationId xmlns:a16="http://schemas.microsoft.com/office/drawing/2014/main" id="{745D107A-3ED3-4F56-AF1E-ADE917E7366E}"/>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Iterative traversal avoids deep recursive call stacks.</a:t>
            </a:r>
          </a:p>
        </p:txBody>
      </p:sp>
      <p:sp>
        <p:nvSpPr>
          <p:cNvPr id="7" name="">
            <a:extLst xmlns:a="http://schemas.openxmlformats.org/drawingml/2006/main">
              <a:ext uri="{FF2B5EF4-FFF2-40B4-BE49-F238E27FC236}">
                <a16:creationId xmlns:a16="http://schemas.microsoft.com/office/drawing/2014/main" id="{8108900A-667A-4F81-9BC0-16E1858E2821}"/>
              </a:ext>
            </a:extLst>
          </p:cNvPr>
          <p:cNvSpPr>
            <a:spLocks xmlns:a="http://schemas.openxmlformats.org/drawingml/2006/main" noGrp="1"/>
          </p:cNvSpPr>
          <p:nvPr/>
        </p:nvSpPr>
        <p:spPr>
          <a:xfrm xmlns:a="http://schemas.openxmlformats.org/drawingml/2006/main">
            <a:off x="609600" y="3171825"/>
            <a:ext cx="109728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62D42"/>
                </a:solidFill>
                <a:latin typeface="Courier New"/>
                <a:ea typeface="Courier New"/>
                <a:cs typeface="Courier New"/>
              </a:defRPr>
            </a:defPPr>
            <a:lvl1pPr>
              <a:defRPr sz="1725" b="0">
                <a:solidFill>
                  <a:srgbClr val="162D42"/>
                </a:solidFill>
                <a:latin typeface="Courier New"/>
                <a:ea typeface="Courier New"/>
                <a:cs typeface="Courier New"/>
              </a:defRPr>
            </a:lvl1pPr>
            <a:lvl2pPr>
              <a:defRPr sz="1725" b="0">
                <a:solidFill>
                  <a:srgbClr val="162D42"/>
                </a:solidFill>
                <a:latin typeface="Courier New"/>
                <a:ea typeface="Courier New"/>
                <a:cs typeface="Courier New"/>
              </a:defRPr>
            </a:lvl2pPr>
            <a:lvl3pPr>
              <a:defRPr sz="1725" b="0">
                <a:solidFill>
                  <a:srgbClr val="162D42"/>
                </a:solidFill>
                <a:latin typeface="Courier New"/>
                <a:ea typeface="Courier New"/>
                <a:cs typeface="Courier New"/>
              </a:defRPr>
            </a:lvl3pPr>
            <a:lvl4pPr>
              <a:defRPr sz="1725" b="0">
                <a:solidFill>
                  <a:srgbClr val="162D42"/>
                </a:solidFill>
                <a:latin typeface="Courier New"/>
                <a:ea typeface="Courier New"/>
                <a:cs typeface="Courier New"/>
              </a:defRPr>
            </a:lvl4pPr>
            <a:lvl5pPr>
              <a:defRPr sz="1725" b="0">
                <a:solidFill>
                  <a:srgbClr val="162D42"/>
                </a:solidFill>
                <a:latin typeface="Courier New"/>
                <a:ea typeface="Courier New"/>
                <a:cs typeface="Courier New"/>
              </a:defRPr>
            </a:lvl5pPr>
            <a:lvl6pPr>
              <a:defRPr sz="1725" b="0">
                <a:solidFill>
                  <a:srgbClr val="162D42"/>
                </a:solidFill>
                <a:latin typeface="Courier New"/>
                <a:ea typeface="Courier New"/>
                <a:cs typeface="Courier New"/>
              </a:defRPr>
            </a:lvl6pPr>
            <a:lvl7pPr>
              <a:defRPr sz="1725" b="0">
                <a:solidFill>
                  <a:srgbClr val="162D42"/>
                </a:solidFill>
                <a:latin typeface="Courier New"/>
                <a:ea typeface="Courier New"/>
                <a:cs typeface="Courier New"/>
              </a:defRPr>
            </a:lvl7pPr>
            <a:lvl8pPr>
              <a:defRPr sz="1725" b="0">
                <a:solidFill>
                  <a:srgbClr val="162D42"/>
                </a:solidFill>
                <a:latin typeface="Courier New"/>
                <a:ea typeface="Courier New"/>
                <a:cs typeface="Courier New"/>
              </a:defRPr>
            </a:lvl8pPr>
            <a:lvl9pPr>
              <a:defRPr sz="1725" b="0">
                <a:solidFill>
                  <a:srgbClr val="162D42"/>
                </a:solidFill>
                <a:latin typeface="Courier New"/>
                <a:ea typeface="Courier New"/>
                <a:cs typeface="Courier New"/>
              </a:defRPr>
            </a:lvl9pPr>
          </a:lstStyle>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for (int t = order.size() - 1; t &gt;= 0; t--) {</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int u = order.get(t);</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take[u] = weight[u];</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skip[u] = 0;</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for (int v : graph[u]) if (parent[v] == u) {</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take[u] += skip[v];</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skip[u] += Math.max(take[v], skip[v]);</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  }</a:t>
            </a:r>
          </a:p>
          <a:p xmlns:a="http://schemas.openxmlformats.org/drawingml/2006/main">
            <a:pPr>
              <a:defRPr sz="1725" b="0">
                <a:solidFill>
                  <a:srgbClr val="162D42"/>
                </a:solidFill>
                <a:latin typeface="Courier New"/>
                <a:ea typeface="Courier New"/>
                <a:cs typeface="Courier New"/>
              </a:defRPr>
            </a:pPr>
            <a:r>
              <a:rPr sz="1725" b="0">
                <a:solidFill>
                  <a:srgbClr val="162D42"/>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CF0EB335-50A2-4429-BCEF-65BF2E4B4C13}"/>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92A86C93-25A0-4B6A-93B0-6741EFAF0740}"/>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30 / 34</a:t>
            </a:r>
          </a:p>
        </p:txBody>
      </p:sp>
    </p:spTree>
    <p:extLst>
      <p:ext uri="{BB962C8B-B14F-4D97-AF65-F5344CB8AC3E}">
        <p14:creationId xmlns:p14="http://schemas.microsoft.com/office/powerpoint/2010/main" val="94245028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D8572D3-845F-4B76-A18B-2B32A432ACC7}"/>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950C05C4-D9F1-4885-8329-0E88EAF5073A}"/>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Correctness and complexity</a:t>
            </a:r>
          </a:p>
        </p:txBody>
      </p:sp>
      <p:sp>
        <p:nvSpPr>
          <p:cNvPr id="4" name="">
            <a:extLst xmlns:a="http://schemas.openxmlformats.org/drawingml/2006/main">
              <a:ext uri="{FF2B5EF4-FFF2-40B4-BE49-F238E27FC236}">
                <a16:creationId xmlns:a16="http://schemas.microsoft.com/office/drawing/2014/main" id="{3027E385-EE27-40B8-BB7C-661AFBC0D108}"/>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Every recurrence needs exhaustive legal choices.</a:t>
            </a:r>
          </a:p>
        </p:txBody>
      </p:sp>
      <p:sp>
        <p:nvSpPr>
          <p:cNvPr id="5" name="">
            <a:extLst xmlns:a="http://schemas.openxmlformats.org/drawingml/2006/main">
              <a:ext uri="{FF2B5EF4-FFF2-40B4-BE49-F238E27FC236}">
                <a16:creationId xmlns:a16="http://schemas.microsoft.com/office/drawing/2014/main" id="{2DEEEB50-0AC4-4A4D-A604-C723D03B9EBD}"/>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Induction follows the dependency order.</a:t>
            </a:r>
          </a:p>
        </p:txBody>
      </p:sp>
      <p:sp>
        <p:nvSpPr>
          <p:cNvPr id="6" name="">
            <a:extLst xmlns:a="http://schemas.openxmlformats.org/drawingml/2006/main">
              <a:ext uri="{FF2B5EF4-FFF2-40B4-BE49-F238E27FC236}">
                <a16:creationId xmlns:a16="http://schemas.microsoft.com/office/drawing/2014/main" id="{78AC99E7-AAAF-4E0F-8934-14F09FD2DA8B}"/>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Count states and transition work separately.</a:t>
            </a:r>
          </a:p>
        </p:txBody>
      </p:sp>
      <p:graphicFrame>
        <p:nvGraphicFramePr>
          <p:cNvPr id="7" name="">
            <a:extLst xmlns:a="http://schemas.openxmlformats.org/drawingml/2006/main">
              <a:ext uri="{FF2B5EF4-FFF2-40B4-BE49-F238E27FC236}">
                <a16:creationId xmlns:a16="http://schemas.microsoft.com/office/drawing/2014/main" id="{2F595D73-195E-4D1B-8D8B-6C0371758FCC}"/>
              </a:ext>
            </a:extLst>
          </p:cNvPr>
          <p:cNvGraphicFramePr/>
          <p:nvPr/>
        </p:nvGraphicFramePr>
        <p:xfrm>
          <a:off xmlns:a="http://schemas.openxmlformats.org/drawingml/2006/main" x="609600" y="3171825"/>
          <a:ext xmlns:a="http://schemas.openxmlformats.org/drawingml/2006/main" cx="10972800" cy="2286000"/>
        </p:xfrm>
        <a:graphic xmlns:a="http://schemas.openxmlformats.org/drawingml/2006/main">
          <a:graphicData uri="http://schemas.openxmlformats.org/drawingml/2006/table">
            <a:tbl>
              <a:tblPr/>
              <a:tblGrid>
                <a:gridCol w="3810000"/>
                <a:gridCol w="4095750"/>
                <a:gridCol w="3067050"/>
              </a:tblGrid>
              <a:tr h="457200">
                <a:tc>
                  <a:txBody>
                    <a:bodyPr/>
                    <a:lstStyle/>
                    <a:p>
                      <a:r>
                        <a:rPr sz="1725" b="1">
                          <a:solidFill>
                            <a:srgbClr val="162D42"/>
                          </a:solidFill>
                          <a:latin typeface="Arial"/>
                          <a:ea typeface="Arial"/>
                          <a:cs typeface="Arial"/>
                        </a:rPr>
                        <a:t>Problem</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Time</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Working storage</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r>
              <a:tr h="457200">
                <a:tc>
                  <a:txBody>
                    <a:bodyPr/>
                    <a:lstStyle/>
                    <a:p>
                      <a:r>
                        <a:rPr sz="1725" b="0">
                          <a:solidFill>
                            <a:srgbClr val="162D42"/>
                          </a:solidFill>
                          <a:latin typeface="Arial"/>
                          <a:ea typeface="Arial"/>
                          <a:cs typeface="Arial"/>
                        </a:rPr>
                        <a:t>LIS, basic DP</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O(n²)</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O(n)</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LCS, full table</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Matrix chain</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O(n³)</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O(n²)</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Tree independent set</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O(n)</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O(n)</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197C8B63-BB9C-4A45-B9C2-D37F43B37937}"/>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ABD7F9FE-D572-40E3-9DD8-C3DF07055136}"/>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31 / 34</a:t>
            </a:r>
          </a:p>
        </p:txBody>
      </p:sp>
    </p:spTree>
    <p:extLst>
      <p:ext uri="{BB962C8B-B14F-4D97-AF65-F5344CB8AC3E}">
        <p14:creationId xmlns:p14="http://schemas.microsoft.com/office/powerpoint/2010/main" val="120107801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19A33E5-369A-47F9-BE9C-BB94074DAA16}"/>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453C9C54-87D5-4701-9809-93713FBAB665}"/>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Small tests reveal state errors</a:t>
            </a:r>
          </a:p>
        </p:txBody>
      </p:sp>
      <p:sp>
        <p:nvSpPr>
          <p:cNvPr id="4" name="">
            <a:extLst xmlns:a="http://schemas.openxmlformats.org/drawingml/2006/main">
              <a:ext uri="{FF2B5EF4-FFF2-40B4-BE49-F238E27FC236}">
                <a16:creationId xmlns:a16="http://schemas.microsoft.com/office/drawing/2014/main" id="{0FD1F76D-F8ED-476E-A0BC-3F14E66112E6}"/>
              </a:ext>
            </a:extLst>
          </p:cNvPr>
          <p:cNvSpPr>
            <a:spLocks xmlns:a="http://schemas.openxmlformats.org/drawingml/2006/main" noGrp="1"/>
          </p:cNvSpPr>
          <p:nvPr/>
        </p:nvSpPr>
        <p:spPr>
          <a:xfrm xmlns:a="http://schemas.openxmlformats.org/drawingml/2006/main">
            <a:off x="609600" y="20764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1">
                <a:solidFill>
                  <a:srgbClr val="162D42"/>
                </a:solidFill>
                <a:latin typeface="Arial"/>
                <a:ea typeface="Arial"/>
                <a:cs typeface="Arial"/>
              </a:defRPr>
            </a:defPPr>
            <a:lvl1pPr>
              <a:defRPr sz="2550" b="1">
                <a:solidFill>
                  <a:srgbClr val="162D42"/>
                </a:solidFill>
                <a:latin typeface="Arial"/>
                <a:ea typeface="Arial"/>
                <a:cs typeface="Arial"/>
              </a:defRPr>
            </a:lvl1pPr>
            <a:lvl2pPr>
              <a:defRPr sz="2550" b="1">
                <a:solidFill>
                  <a:srgbClr val="162D42"/>
                </a:solidFill>
                <a:latin typeface="Arial"/>
                <a:ea typeface="Arial"/>
                <a:cs typeface="Arial"/>
              </a:defRPr>
            </a:lvl2pPr>
            <a:lvl3pPr>
              <a:defRPr sz="2550" b="1">
                <a:solidFill>
                  <a:srgbClr val="162D42"/>
                </a:solidFill>
                <a:latin typeface="Arial"/>
                <a:ea typeface="Arial"/>
                <a:cs typeface="Arial"/>
              </a:defRPr>
            </a:lvl3pPr>
            <a:lvl4pPr>
              <a:defRPr sz="2550" b="1">
                <a:solidFill>
                  <a:srgbClr val="162D42"/>
                </a:solidFill>
                <a:latin typeface="Arial"/>
                <a:ea typeface="Arial"/>
                <a:cs typeface="Arial"/>
              </a:defRPr>
            </a:lvl4pPr>
            <a:lvl5pPr>
              <a:defRPr sz="2550" b="1">
                <a:solidFill>
                  <a:srgbClr val="162D42"/>
                </a:solidFill>
                <a:latin typeface="Arial"/>
                <a:ea typeface="Arial"/>
                <a:cs typeface="Arial"/>
              </a:defRPr>
            </a:lvl5pPr>
            <a:lvl6pPr>
              <a:defRPr sz="2550" b="1">
                <a:solidFill>
                  <a:srgbClr val="162D42"/>
                </a:solidFill>
                <a:latin typeface="Arial"/>
                <a:ea typeface="Arial"/>
                <a:cs typeface="Arial"/>
              </a:defRPr>
            </a:lvl6pPr>
            <a:lvl7pPr>
              <a:defRPr sz="2550" b="1">
                <a:solidFill>
                  <a:srgbClr val="162D42"/>
                </a:solidFill>
                <a:latin typeface="Arial"/>
                <a:ea typeface="Arial"/>
                <a:cs typeface="Arial"/>
              </a:defRPr>
            </a:lvl7pPr>
            <a:lvl8pPr>
              <a:defRPr sz="2550" b="1">
                <a:solidFill>
                  <a:srgbClr val="162D42"/>
                </a:solidFill>
                <a:latin typeface="Arial"/>
                <a:ea typeface="Arial"/>
                <a:cs typeface="Arial"/>
              </a:defRPr>
            </a:lvl8pPr>
            <a:lvl9pPr>
              <a:defRPr sz="2550" b="1">
                <a:solidFill>
                  <a:srgbClr val="162D42"/>
                </a:solidFill>
                <a:latin typeface="Arial"/>
                <a:ea typeface="Arial"/>
                <a:cs typeface="Arial"/>
              </a:defRPr>
            </a:lvl9pPr>
          </a:lstStyle>
          <a:p xmlns:a="http://schemas.openxmlformats.org/drawingml/2006/main">
            <a:pPr>
              <a:defRPr sz="2550" b="1">
                <a:solidFill>
                  <a:srgbClr val="162D42"/>
                </a:solidFill>
                <a:latin typeface="Arial"/>
                <a:ea typeface="Arial"/>
                <a:cs typeface="Arial"/>
              </a:defRPr>
            </a:pPr>
            <a:r>
              <a:rPr sz="2550" b="1">
                <a:solidFill>
                  <a:srgbClr val="162D42"/>
                </a:solidFill>
                <a:latin typeface="Arial"/>
                <a:ea typeface="Arial"/>
                <a:cs typeface="Arial"/>
              </a:rPr>
              <a:t>LIS: empty, equal values, descending order.</a:t>
            </a:r>
          </a:p>
        </p:txBody>
      </p:sp>
      <p:sp>
        <p:nvSpPr>
          <p:cNvPr id="5" name="">
            <a:extLst xmlns:a="http://schemas.openxmlformats.org/drawingml/2006/main">
              <a:ext uri="{FF2B5EF4-FFF2-40B4-BE49-F238E27FC236}">
                <a16:creationId xmlns:a16="http://schemas.microsoft.com/office/drawing/2014/main" id="{9C89881C-ACA3-489D-AD23-97FD0DCF4A62}"/>
              </a:ext>
            </a:extLst>
          </p:cNvPr>
          <p:cNvSpPr>
            <a:spLocks xmlns:a="http://schemas.openxmlformats.org/drawingml/2006/main" noGrp="1"/>
          </p:cNvSpPr>
          <p:nvPr/>
        </p:nvSpPr>
        <p:spPr>
          <a:xfrm xmlns:a="http://schemas.openxmlformats.org/drawingml/2006/main">
            <a:off x="609600" y="3124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62D42"/>
                </a:solidFill>
                <a:latin typeface="Arial"/>
                <a:ea typeface="Arial"/>
                <a:cs typeface="Arial"/>
              </a:defRPr>
            </a:defPPr>
            <a:lvl1pPr>
              <a:defRPr sz="2550" b="0">
                <a:solidFill>
                  <a:srgbClr val="162D42"/>
                </a:solidFill>
                <a:latin typeface="Arial"/>
                <a:ea typeface="Arial"/>
                <a:cs typeface="Arial"/>
              </a:defRPr>
            </a:lvl1pPr>
            <a:lvl2pPr>
              <a:defRPr sz="2550" b="0">
                <a:solidFill>
                  <a:srgbClr val="162D42"/>
                </a:solidFill>
                <a:latin typeface="Arial"/>
                <a:ea typeface="Arial"/>
                <a:cs typeface="Arial"/>
              </a:defRPr>
            </a:lvl2pPr>
            <a:lvl3pPr>
              <a:defRPr sz="2550" b="0">
                <a:solidFill>
                  <a:srgbClr val="162D42"/>
                </a:solidFill>
                <a:latin typeface="Arial"/>
                <a:ea typeface="Arial"/>
                <a:cs typeface="Arial"/>
              </a:defRPr>
            </a:lvl3pPr>
            <a:lvl4pPr>
              <a:defRPr sz="2550" b="0">
                <a:solidFill>
                  <a:srgbClr val="162D42"/>
                </a:solidFill>
                <a:latin typeface="Arial"/>
                <a:ea typeface="Arial"/>
                <a:cs typeface="Arial"/>
              </a:defRPr>
            </a:lvl4pPr>
            <a:lvl5pPr>
              <a:defRPr sz="2550" b="0">
                <a:solidFill>
                  <a:srgbClr val="162D42"/>
                </a:solidFill>
                <a:latin typeface="Arial"/>
                <a:ea typeface="Arial"/>
                <a:cs typeface="Arial"/>
              </a:defRPr>
            </a:lvl5pPr>
            <a:lvl6pPr>
              <a:defRPr sz="2550" b="0">
                <a:solidFill>
                  <a:srgbClr val="162D42"/>
                </a:solidFill>
                <a:latin typeface="Arial"/>
                <a:ea typeface="Arial"/>
                <a:cs typeface="Arial"/>
              </a:defRPr>
            </a:lvl6pPr>
            <a:lvl7pPr>
              <a:defRPr sz="2550" b="0">
                <a:solidFill>
                  <a:srgbClr val="162D42"/>
                </a:solidFill>
                <a:latin typeface="Arial"/>
                <a:ea typeface="Arial"/>
                <a:cs typeface="Arial"/>
              </a:defRPr>
            </a:lvl7pPr>
            <a:lvl8pPr>
              <a:defRPr sz="2550" b="0">
                <a:solidFill>
                  <a:srgbClr val="162D42"/>
                </a:solidFill>
                <a:latin typeface="Arial"/>
                <a:ea typeface="Arial"/>
                <a:cs typeface="Arial"/>
              </a:defRPr>
            </a:lvl8pPr>
            <a:lvl9pPr>
              <a:defRPr sz="2550" b="0">
                <a:solidFill>
                  <a:srgbClr val="162D42"/>
                </a:solidFill>
                <a:latin typeface="Arial"/>
                <a:ea typeface="Arial"/>
                <a:cs typeface="Arial"/>
              </a:defRPr>
            </a:lvl9pPr>
          </a:lstStyle>
          <a:p xmlns:a="http://schemas.openxmlformats.org/drawingml/2006/main">
            <a:pPr>
              <a:defRPr sz="2550" b="0">
                <a:solidFill>
                  <a:srgbClr val="162D42"/>
                </a:solidFill>
                <a:latin typeface="Arial"/>
                <a:ea typeface="Arial"/>
                <a:cs typeface="Arial"/>
              </a:defRPr>
            </a:pPr>
            <a:r>
              <a:rPr sz="2550" b="0">
                <a:solidFill>
                  <a:srgbClr val="162D42"/>
                </a:solidFill>
                <a:latin typeface="Arial"/>
                <a:ea typeface="Arial"/>
                <a:cs typeface="Arial"/>
              </a:rPr>
              <a:t>LCS: empty prefixes, no match, repeated characters.</a:t>
            </a:r>
          </a:p>
        </p:txBody>
      </p:sp>
      <p:sp>
        <p:nvSpPr>
          <p:cNvPr id="6" name="">
            <a:extLst xmlns:a="http://schemas.openxmlformats.org/drawingml/2006/main">
              <a:ext uri="{FF2B5EF4-FFF2-40B4-BE49-F238E27FC236}">
                <a16:creationId xmlns:a16="http://schemas.microsoft.com/office/drawing/2014/main" id="{F7F8DB88-D308-49F2-9726-12A3FC99DCB0}"/>
              </a:ext>
            </a:extLst>
          </p:cNvPr>
          <p:cNvSpPr>
            <a:spLocks xmlns:a="http://schemas.openxmlformats.org/drawingml/2006/main" noGrp="1"/>
          </p:cNvSpPr>
          <p:nvPr/>
        </p:nvSpPr>
        <p:spPr>
          <a:xfrm xmlns:a="http://schemas.openxmlformats.org/drawingml/2006/main">
            <a:off x="609600" y="417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62D42"/>
                </a:solidFill>
                <a:latin typeface="Arial"/>
                <a:ea typeface="Arial"/>
                <a:cs typeface="Arial"/>
              </a:defRPr>
            </a:defPPr>
            <a:lvl1pPr>
              <a:defRPr sz="2550" b="0">
                <a:solidFill>
                  <a:srgbClr val="162D42"/>
                </a:solidFill>
                <a:latin typeface="Arial"/>
                <a:ea typeface="Arial"/>
                <a:cs typeface="Arial"/>
              </a:defRPr>
            </a:lvl1pPr>
            <a:lvl2pPr>
              <a:defRPr sz="2550" b="0">
                <a:solidFill>
                  <a:srgbClr val="162D42"/>
                </a:solidFill>
                <a:latin typeface="Arial"/>
                <a:ea typeface="Arial"/>
                <a:cs typeface="Arial"/>
              </a:defRPr>
            </a:lvl2pPr>
            <a:lvl3pPr>
              <a:defRPr sz="2550" b="0">
                <a:solidFill>
                  <a:srgbClr val="162D42"/>
                </a:solidFill>
                <a:latin typeface="Arial"/>
                <a:ea typeface="Arial"/>
                <a:cs typeface="Arial"/>
              </a:defRPr>
            </a:lvl3pPr>
            <a:lvl4pPr>
              <a:defRPr sz="2550" b="0">
                <a:solidFill>
                  <a:srgbClr val="162D42"/>
                </a:solidFill>
                <a:latin typeface="Arial"/>
                <a:ea typeface="Arial"/>
                <a:cs typeface="Arial"/>
              </a:defRPr>
            </a:lvl4pPr>
            <a:lvl5pPr>
              <a:defRPr sz="2550" b="0">
                <a:solidFill>
                  <a:srgbClr val="162D42"/>
                </a:solidFill>
                <a:latin typeface="Arial"/>
                <a:ea typeface="Arial"/>
                <a:cs typeface="Arial"/>
              </a:defRPr>
            </a:lvl5pPr>
            <a:lvl6pPr>
              <a:defRPr sz="2550" b="0">
                <a:solidFill>
                  <a:srgbClr val="162D42"/>
                </a:solidFill>
                <a:latin typeface="Arial"/>
                <a:ea typeface="Arial"/>
                <a:cs typeface="Arial"/>
              </a:defRPr>
            </a:lvl6pPr>
            <a:lvl7pPr>
              <a:defRPr sz="2550" b="0">
                <a:solidFill>
                  <a:srgbClr val="162D42"/>
                </a:solidFill>
                <a:latin typeface="Arial"/>
                <a:ea typeface="Arial"/>
                <a:cs typeface="Arial"/>
              </a:defRPr>
            </a:lvl7pPr>
            <a:lvl8pPr>
              <a:defRPr sz="2550" b="0">
                <a:solidFill>
                  <a:srgbClr val="162D42"/>
                </a:solidFill>
                <a:latin typeface="Arial"/>
                <a:ea typeface="Arial"/>
                <a:cs typeface="Arial"/>
              </a:defRPr>
            </a:lvl8pPr>
            <a:lvl9pPr>
              <a:defRPr sz="2550" b="0">
                <a:solidFill>
                  <a:srgbClr val="162D42"/>
                </a:solidFill>
                <a:latin typeface="Arial"/>
                <a:ea typeface="Arial"/>
                <a:cs typeface="Arial"/>
              </a:defRPr>
            </a:lvl9pPr>
          </a:lstStyle>
          <a:p xmlns:a="http://schemas.openxmlformats.org/drawingml/2006/main">
            <a:pPr>
              <a:defRPr sz="2550" b="0">
                <a:solidFill>
                  <a:srgbClr val="162D42"/>
                </a:solidFill>
                <a:latin typeface="Arial"/>
                <a:ea typeface="Arial"/>
                <a:cs typeface="Arial"/>
              </a:defRPr>
            </a:pPr>
            <a:r>
              <a:rPr sz="2550" b="0">
                <a:solidFill>
                  <a:srgbClr val="162D42"/>
                </a:solidFill>
                <a:latin typeface="Arial"/>
                <a:ea typeface="Arial"/>
                <a:cs typeface="Arial"/>
              </a:rPr>
              <a:t>Intervals: one matrix. Trees: one node and negative weights.</a:t>
            </a:r>
          </a:p>
        </p:txBody>
      </p:sp>
      <p:sp>
        <p:nvSpPr>
          <p:cNvPr id="7" name="">
            <a:extLst xmlns:a="http://schemas.openxmlformats.org/drawingml/2006/main">
              <a:ext uri="{FF2B5EF4-FFF2-40B4-BE49-F238E27FC236}">
                <a16:creationId xmlns:a16="http://schemas.microsoft.com/office/drawing/2014/main" id="{74C7C075-E77D-49E4-A2F9-B39658A74B2E}"/>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8" name="">
            <a:extLst xmlns:a="http://schemas.openxmlformats.org/drawingml/2006/main">
              <a:ext uri="{FF2B5EF4-FFF2-40B4-BE49-F238E27FC236}">
                <a16:creationId xmlns:a16="http://schemas.microsoft.com/office/drawing/2014/main" id="{319513C2-2017-40A5-9BB3-37E474FE51CF}"/>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32 / 34</a:t>
            </a:r>
          </a:p>
        </p:txBody>
      </p:sp>
    </p:spTree>
    <p:extLst>
      <p:ext uri="{BB962C8B-B14F-4D97-AF65-F5344CB8AC3E}">
        <p14:creationId xmlns:p14="http://schemas.microsoft.com/office/powerpoint/2010/main" val="76060278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3EE00A2-1173-4253-9EE4-5E560044DF3F}"/>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CE84147C-E5F1-400A-BAB6-6BADBEA6E541}"/>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DP problem-solving questions</a:t>
            </a:r>
          </a:p>
        </p:txBody>
      </p:sp>
      <p:sp>
        <p:nvSpPr>
          <p:cNvPr id="4" name="">
            <a:extLst xmlns:a="http://schemas.openxmlformats.org/drawingml/2006/main">
              <a:ext uri="{FF2B5EF4-FFF2-40B4-BE49-F238E27FC236}">
                <a16:creationId xmlns:a16="http://schemas.microsoft.com/office/drawing/2014/main" id="{88AAE42F-EC56-43FA-85A4-867FEF2D25E7}"/>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What does the state remember?</a:t>
            </a:r>
          </a:p>
        </p:txBody>
      </p:sp>
      <p:sp>
        <p:nvSpPr>
          <p:cNvPr id="5" name="">
            <a:extLst xmlns:a="http://schemas.openxmlformats.org/drawingml/2006/main">
              <a:ext uri="{FF2B5EF4-FFF2-40B4-BE49-F238E27FC236}">
                <a16:creationId xmlns:a16="http://schemas.microsoft.com/office/drawing/2014/main" id="{C5067735-6196-45E2-A34F-2E4F0D31BC1E}"/>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Which choices does the recurrence consider?</a:t>
            </a:r>
          </a:p>
        </p:txBody>
      </p:sp>
      <p:sp>
        <p:nvSpPr>
          <p:cNvPr id="6" name="">
            <a:extLst xmlns:a="http://schemas.openxmlformats.org/drawingml/2006/main">
              <a:ext uri="{FF2B5EF4-FFF2-40B4-BE49-F238E27FC236}">
                <a16:creationId xmlns:a16="http://schemas.microsoft.com/office/drawing/2014/main" id="{083D8DCF-CE22-4D72-AD9C-1EB9BA2CD185}"/>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How can an optimal solution be reconstructed?</a:t>
            </a:r>
          </a:p>
        </p:txBody>
      </p:sp>
      <p:graphicFrame>
        <p:nvGraphicFramePr>
          <p:cNvPr id="7" name="">
            <a:extLst xmlns:a="http://schemas.openxmlformats.org/drawingml/2006/main">
              <a:ext uri="{FF2B5EF4-FFF2-40B4-BE49-F238E27FC236}">
                <a16:creationId xmlns:a16="http://schemas.microsoft.com/office/drawing/2014/main" id="{3462AB4D-143B-4312-AEEA-C052B6C73F39}"/>
              </a:ext>
            </a:extLst>
          </p:cNvPr>
          <p:cNvGraphicFramePr/>
          <p:nvPr/>
        </p:nvGraphicFramePr>
        <p:xfrm>
          <a:off xmlns:a="http://schemas.openxmlformats.org/drawingml/2006/main" x="609600" y="3171825"/>
          <a:ext xmlns:a="http://schemas.openxmlformats.org/drawingml/2006/main" cx="10972800" cy="2286000"/>
        </p:xfrm>
        <a:graphic xmlns:a="http://schemas.openxmlformats.org/drawingml/2006/main">
          <a:graphicData uri="http://schemas.openxmlformats.org/drawingml/2006/table">
            <a:tbl>
              <a:tblPr/>
              <a:tblGrid>
                <a:gridCol w="3714750"/>
                <a:gridCol w="7258050"/>
              </a:tblGrid>
              <a:tr h="457200">
                <a:tc>
                  <a:txBody>
                    <a:bodyPr/>
                    <a:lstStyle/>
                    <a:p>
                      <a:r>
                        <a:rPr sz="1725" b="1">
                          <a:solidFill>
                            <a:srgbClr val="162D42"/>
                          </a:solidFill>
                          <a:latin typeface="Arial"/>
                          <a:ea typeface="Arial"/>
                          <a:cs typeface="Arial"/>
                        </a:rPr>
                        <a:t>Problem</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Question</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r>
              <a:tr h="457200">
                <a:tc>
                  <a:txBody>
                    <a:bodyPr/>
                    <a:lstStyle/>
                    <a:p>
                      <a:r>
                        <a:rPr sz="1725" b="0">
                          <a:solidFill>
                            <a:srgbClr val="162D42"/>
                          </a:solidFill>
                          <a:latin typeface="Arial"/>
                          <a:ea typeface="Arial"/>
                          <a:cs typeface="Arial"/>
                        </a:rPr>
                        <a:t>LIS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Why is the answer max(dp)?</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LCS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Why does a mismatch use max(above, left)?</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Matrix chain</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Why do shorter intervals come first?</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Tree DP</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rPr>
                        <a:t>Why does each node need take and skip?</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33C83BE7-1345-410F-BF1E-B0F45D3F9923}"/>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5D74A400-C1B8-4936-9EC2-1275760836D6}"/>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33 / 34</a:t>
            </a:r>
          </a:p>
        </p:txBody>
      </p:sp>
    </p:spTree>
    <p:extLst>
      <p:ext uri="{BB962C8B-B14F-4D97-AF65-F5344CB8AC3E}">
        <p14:creationId xmlns:p14="http://schemas.microsoft.com/office/powerpoint/2010/main" val="93970806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D9E4E78-EB17-455B-8CCF-8DFA59A86D41}"/>
              </a:ext>
            </a:extLst>
          </p:cNvPr>
          <p:cNvSpPr>
            <a:spLocks xmlns:a="http://schemas.openxmlformats.org/drawingml/2006/main" noGrp="1"/>
          </p:cNvSpPr>
          <p:nvPr/>
        </p:nvSpPr>
        <p:spPr>
          <a:xfrm xmlns:a="http://schemas.openxmlformats.org/drawingml/2006/main">
            <a:off x="609600" y="2667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1">
                <a:solidFill>
                  <a:srgbClr val="A44270"/>
                </a:solidFill>
                <a:latin typeface="Arial"/>
                <a:ea typeface="Arial"/>
                <a:cs typeface="Arial"/>
              </a:defRPr>
            </a:defPPr>
            <a:lvl1pPr>
              <a:defRPr sz="1350" b="1">
                <a:solidFill>
                  <a:srgbClr val="A44270"/>
                </a:solidFill>
                <a:latin typeface="Arial"/>
                <a:ea typeface="Arial"/>
                <a:cs typeface="Arial"/>
              </a:defRPr>
            </a:lvl1pPr>
            <a:lvl2pPr>
              <a:defRPr sz="1350" b="1">
                <a:solidFill>
                  <a:srgbClr val="A44270"/>
                </a:solidFill>
                <a:latin typeface="Arial"/>
                <a:ea typeface="Arial"/>
                <a:cs typeface="Arial"/>
              </a:defRPr>
            </a:lvl2pPr>
            <a:lvl3pPr>
              <a:defRPr sz="1350" b="1">
                <a:solidFill>
                  <a:srgbClr val="A44270"/>
                </a:solidFill>
                <a:latin typeface="Arial"/>
                <a:ea typeface="Arial"/>
                <a:cs typeface="Arial"/>
              </a:defRPr>
            </a:lvl3pPr>
            <a:lvl4pPr>
              <a:defRPr sz="1350" b="1">
                <a:solidFill>
                  <a:srgbClr val="A44270"/>
                </a:solidFill>
                <a:latin typeface="Arial"/>
                <a:ea typeface="Arial"/>
                <a:cs typeface="Arial"/>
              </a:defRPr>
            </a:lvl4pPr>
            <a:lvl5pPr>
              <a:defRPr sz="1350" b="1">
                <a:solidFill>
                  <a:srgbClr val="A44270"/>
                </a:solidFill>
                <a:latin typeface="Arial"/>
                <a:ea typeface="Arial"/>
                <a:cs typeface="Arial"/>
              </a:defRPr>
            </a:lvl5pPr>
            <a:lvl6pPr>
              <a:defRPr sz="1350" b="1">
                <a:solidFill>
                  <a:srgbClr val="A44270"/>
                </a:solidFill>
                <a:latin typeface="Arial"/>
                <a:ea typeface="Arial"/>
                <a:cs typeface="Arial"/>
              </a:defRPr>
            </a:lvl6pPr>
            <a:lvl7pPr>
              <a:defRPr sz="1350" b="1">
                <a:solidFill>
                  <a:srgbClr val="A44270"/>
                </a:solidFill>
                <a:latin typeface="Arial"/>
                <a:ea typeface="Arial"/>
                <a:cs typeface="Arial"/>
              </a:defRPr>
            </a:lvl7pPr>
            <a:lvl8pPr>
              <a:defRPr sz="1350" b="1">
                <a:solidFill>
                  <a:srgbClr val="A44270"/>
                </a:solidFill>
                <a:latin typeface="Arial"/>
                <a:ea typeface="Arial"/>
                <a:cs typeface="Arial"/>
              </a:defRPr>
            </a:lvl8pPr>
            <a:lvl9pPr>
              <a:defRPr sz="1350" b="1">
                <a:solidFill>
                  <a:srgbClr val="A44270"/>
                </a:solidFill>
                <a:latin typeface="Arial"/>
                <a:ea typeface="Arial"/>
                <a:cs typeface="Arial"/>
              </a:defRPr>
            </a:lvl9pPr>
          </a:lstStyle>
          <a:p xmlns:a="http://schemas.openxmlformats.org/drawingml/2006/main">
            <a:pPr>
              <a:defRPr sz="1350" b="1">
                <a:solidFill>
                  <a:srgbClr val="A44270"/>
                </a:solidFill>
                <a:latin typeface="Arial"/>
                <a:ea typeface="Arial"/>
                <a:cs typeface="Arial"/>
              </a:defRPr>
            </a:pPr>
            <a:r>
              <a:rPr sz="1350" b="1">
                <a:solidFill>
                  <a:srgbClr val="A44270"/>
                </a:solidFill>
                <a:latin typeface="Arial"/>
                <a:ea typeface="Arial"/>
                <a:cs typeface="Arial"/>
              </a:rPr>
              <a:t>WEEK 8  /  DYNAMIC PROGRAMMING</a:t>
            </a:r>
          </a:p>
        </p:txBody>
      </p:sp>
      <p:sp>
        <p:nvSpPr>
          <p:cNvPr id="3" name="">
            <a:extLst xmlns:a="http://schemas.openxmlformats.org/drawingml/2006/main">
              <a:ext uri="{FF2B5EF4-FFF2-40B4-BE49-F238E27FC236}">
                <a16:creationId xmlns:a16="http://schemas.microsoft.com/office/drawing/2014/main" id="{DACE0B6B-46A3-4772-B562-32D6C6444051}"/>
              </a:ext>
            </a:extLst>
          </p:cNvPr>
          <p:cNvSpPr>
            <a:spLocks xmlns:a="http://schemas.openxmlformats.org/drawingml/2006/main" noGrp="1"/>
          </p:cNvSpPr>
          <p:nvPr/>
        </p:nvSpPr>
        <p:spPr>
          <a:xfrm xmlns:a="http://schemas.openxmlformats.org/drawingml/2006/main">
            <a:off x="609600" y="7905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62D42"/>
                </a:solidFill>
                <a:latin typeface="Arial"/>
                <a:ea typeface="Arial"/>
                <a:cs typeface="Arial"/>
              </a:defRPr>
            </a:defPPr>
            <a:lvl1pPr>
              <a:defRPr sz="3225" b="1">
                <a:solidFill>
                  <a:srgbClr val="162D42"/>
                </a:solidFill>
                <a:latin typeface="Arial"/>
                <a:ea typeface="Arial"/>
                <a:cs typeface="Arial"/>
              </a:defRPr>
            </a:lvl1pPr>
            <a:lvl2pPr>
              <a:defRPr sz="3225" b="1">
                <a:solidFill>
                  <a:srgbClr val="162D42"/>
                </a:solidFill>
                <a:latin typeface="Arial"/>
                <a:ea typeface="Arial"/>
                <a:cs typeface="Arial"/>
              </a:defRPr>
            </a:lvl2pPr>
            <a:lvl3pPr>
              <a:defRPr sz="3225" b="1">
                <a:solidFill>
                  <a:srgbClr val="162D42"/>
                </a:solidFill>
                <a:latin typeface="Arial"/>
                <a:ea typeface="Arial"/>
                <a:cs typeface="Arial"/>
              </a:defRPr>
            </a:lvl3pPr>
            <a:lvl4pPr>
              <a:defRPr sz="3225" b="1">
                <a:solidFill>
                  <a:srgbClr val="162D42"/>
                </a:solidFill>
                <a:latin typeface="Arial"/>
                <a:ea typeface="Arial"/>
                <a:cs typeface="Arial"/>
              </a:defRPr>
            </a:lvl4pPr>
            <a:lvl5pPr>
              <a:defRPr sz="3225" b="1">
                <a:solidFill>
                  <a:srgbClr val="162D42"/>
                </a:solidFill>
                <a:latin typeface="Arial"/>
                <a:ea typeface="Arial"/>
                <a:cs typeface="Arial"/>
              </a:defRPr>
            </a:lvl5pPr>
            <a:lvl6pPr>
              <a:defRPr sz="3225" b="1">
                <a:solidFill>
                  <a:srgbClr val="162D42"/>
                </a:solidFill>
                <a:latin typeface="Arial"/>
                <a:ea typeface="Arial"/>
                <a:cs typeface="Arial"/>
              </a:defRPr>
            </a:lvl6pPr>
            <a:lvl7pPr>
              <a:defRPr sz="3225" b="1">
                <a:solidFill>
                  <a:srgbClr val="162D42"/>
                </a:solidFill>
                <a:latin typeface="Arial"/>
                <a:ea typeface="Arial"/>
                <a:cs typeface="Arial"/>
              </a:defRPr>
            </a:lvl7pPr>
            <a:lvl8pPr>
              <a:defRPr sz="3225" b="1">
                <a:solidFill>
                  <a:srgbClr val="162D42"/>
                </a:solidFill>
                <a:latin typeface="Arial"/>
                <a:ea typeface="Arial"/>
                <a:cs typeface="Arial"/>
              </a:defRPr>
            </a:lvl8pPr>
            <a:lvl9pPr>
              <a:defRPr sz="3225" b="1">
                <a:solidFill>
                  <a:srgbClr val="162D42"/>
                </a:solidFill>
                <a:latin typeface="Arial"/>
                <a:ea typeface="Arial"/>
                <a:cs typeface="Arial"/>
              </a:defRPr>
            </a:lvl9pPr>
          </a:lstStyle>
          <a:p xmlns:a="http://schemas.openxmlformats.org/drawingml/2006/main">
            <a:pPr>
              <a:defRPr sz="3225" b="1">
                <a:solidFill>
                  <a:srgbClr val="162D42"/>
                </a:solidFill>
                <a:latin typeface="Arial"/>
                <a:ea typeface="Arial"/>
                <a:cs typeface="Arial"/>
              </a:defRPr>
            </a:pPr>
            <a:r>
              <a:rPr sz="3225" b="1">
                <a:solidFill>
                  <a:srgbClr val="162D42"/>
                </a:solidFill>
                <a:latin typeface="Arial"/>
                <a:ea typeface="Arial"/>
                <a:cs typeface="Arial"/>
              </a:rPr>
              <a:t>References and review</a:t>
            </a:r>
          </a:p>
        </p:txBody>
      </p:sp>
      <p:sp>
        <p:nvSpPr>
          <p:cNvPr id="4" name="">
            <a:extLst xmlns:a="http://schemas.openxmlformats.org/drawingml/2006/main">
              <a:ext uri="{FF2B5EF4-FFF2-40B4-BE49-F238E27FC236}">
                <a16:creationId xmlns:a16="http://schemas.microsoft.com/office/drawing/2014/main" id="{FE635732-E174-4765-BC2F-DB8266A81313}"/>
              </a:ext>
            </a:extLst>
          </p:cNvPr>
          <p:cNvSpPr>
            <a:spLocks xmlns:a="http://schemas.openxmlformats.org/drawingml/2006/main" noGrp="1"/>
          </p:cNvSpPr>
          <p:nvPr/>
        </p:nvSpPr>
        <p:spPr>
          <a:xfrm xmlns:a="http://schemas.openxmlformats.org/drawingml/2006/main">
            <a:off x="609600" y="1828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CLRS, chapter 14: dynamic programming.</a:t>
            </a:r>
          </a:p>
        </p:txBody>
      </p:sp>
      <p:sp>
        <p:nvSpPr>
          <p:cNvPr id="5" name="">
            <a:extLst xmlns:a="http://schemas.openxmlformats.org/drawingml/2006/main">
              <a:ext uri="{FF2B5EF4-FFF2-40B4-BE49-F238E27FC236}">
                <a16:creationId xmlns:a16="http://schemas.microsoft.com/office/drawing/2014/main" id="{1D8D532B-E3A4-4EDE-A5AA-4BE6594751C1}"/>
              </a:ext>
            </a:extLst>
          </p:cNvPr>
          <p:cNvSpPr>
            <a:spLocks xmlns:a="http://schemas.openxmlformats.org/drawingml/2006/main" noGrp="1"/>
          </p:cNvSpPr>
          <p:nvPr/>
        </p:nvSpPr>
        <p:spPr>
          <a:xfrm xmlns:a="http://schemas.openxmlformats.org/drawingml/2006/main">
            <a:off x="609600" y="2209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LCS/LIS, matrix chains and independent sets.</a:t>
            </a:r>
          </a:p>
        </p:txBody>
      </p:sp>
      <p:sp>
        <p:nvSpPr>
          <p:cNvPr id="6" name="">
            <a:extLst xmlns:a="http://schemas.openxmlformats.org/drawingml/2006/main">
              <a:ext uri="{FF2B5EF4-FFF2-40B4-BE49-F238E27FC236}">
                <a16:creationId xmlns:a16="http://schemas.microsoft.com/office/drawing/2014/main" id="{13646FCA-877F-4FA0-91A6-29A1AE210236}"/>
              </a:ext>
            </a:extLst>
          </p:cNvPr>
          <p:cNvSpPr>
            <a:spLocks xmlns:a="http://schemas.openxmlformats.org/drawingml/2006/main" noGrp="1"/>
          </p:cNvSpPr>
          <p:nvPr/>
        </p:nvSpPr>
        <p:spPr>
          <a:xfrm xmlns:a="http://schemas.openxmlformats.org/drawingml/2006/main">
            <a:off x="609600" y="25908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62D42"/>
                </a:solidFill>
                <a:latin typeface="Arial"/>
                <a:ea typeface="Arial"/>
                <a:cs typeface="Arial"/>
              </a:defRPr>
            </a:defPPr>
            <a:lvl1pPr>
              <a:defRPr sz="2025" b="0">
                <a:solidFill>
                  <a:srgbClr val="162D42"/>
                </a:solidFill>
                <a:latin typeface="Arial"/>
                <a:ea typeface="Arial"/>
                <a:cs typeface="Arial"/>
              </a:defRPr>
            </a:lvl1pPr>
            <a:lvl2pPr>
              <a:defRPr sz="2025" b="0">
                <a:solidFill>
                  <a:srgbClr val="162D42"/>
                </a:solidFill>
                <a:latin typeface="Arial"/>
                <a:ea typeface="Arial"/>
                <a:cs typeface="Arial"/>
              </a:defRPr>
            </a:lvl2pPr>
            <a:lvl3pPr>
              <a:defRPr sz="2025" b="0">
                <a:solidFill>
                  <a:srgbClr val="162D42"/>
                </a:solidFill>
                <a:latin typeface="Arial"/>
                <a:ea typeface="Arial"/>
                <a:cs typeface="Arial"/>
              </a:defRPr>
            </a:lvl3pPr>
            <a:lvl4pPr>
              <a:defRPr sz="2025" b="0">
                <a:solidFill>
                  <a:srgbClr val="162D42"/>
                </a:solidFill>
                <a:latin typeface="Arial"/>
                <a:ea typeface="Arial"/>
                <a:cs typeface="Arial"/>
              </a:defRPr>
            </a:lvl4pPr>
            <a:lvl5pPr>
              <a:defRPr sz="2025" b="0">
                <a:solidFill>
                  <a:srgbClr val="162D42"/>
                </a:solidFill>
                <a:latin typeface="Arial"/>
                <a:ea typeface="Arial"/>
                <a:cs typeface="Arial"/>
              </a:defRPr>
            </a:lvl5pPr>
            <a:lvl6pPr>
              <a:defRPr sz="2025" b="0">
                <a:solidFill>
                  <a:srgbClr val="162D42"/>
                </a:solidFill>
                <a:latin typeface="Arial"/>
                <a:ea typeface="Arial"/>
                <a:cs typeface="Arial"/>
              </a:defRPr>
            </a:lvl6pPr>
            <a:lvl7pPr>
              <a:defRPr sz="2025" b="0">
                <a:solidFill>
                  <a:srgbClr val="162D42"/>
                </a:solidFill>
                <a:latin typeface="Arial"/>
                <a:ea typeface="Arial"/>
                <a:cs typeface="Arial"/>
              </a:defRPr>
            </a:lvl7pPr>
            <a:lvl8pPr>
              <a:defRPr sz="2025" b="0">
                <a:solidFill>
                  <a:srgbClr val="162D42"/>
                </a:solidFill>
                <a:latin typeface="Arial"/>
                <a:ea typeface="Arial"/>
                <a:cs typeface="Arial"/>
              </a:defRPr>
            </a:lvl8pPr>
            <a:lvl9pPr>
              <a:defRPr sz="2025" b="0">
                <a:solidFill>
                  <a:srgbClr val="162D42"/>
                </a:solidFill>
                <a:latin typeface="Arial"/>
                <a:ea typeface="Arial"/>
                <a:cs typeface="Arial"/>
              </a:defRPr>
            </a:lvl9pPr>
          </a:lstStyle>
          <a:p xmlns:a="http://schemas.openxmlformats.org/drawingml/2006/main">
            <a:pPr>
              <a:defRPr sz="2025" b="0">
                <a:solidFill>
                  <a:srgbClr val="162D42"/>
                </a:solidFill>
                <a:latin typeface="Arial"/>
                <a:ea typeface="Arial"/>
                <a:cs typeface="Arial"/>
              </a:defRPr>
            </a:pPr>
            <a:r>
              <a:rPr sz="2025" b="0">
                <a:solidFill>
                  <a:srgbClr val="162D42"/>
                </a:solidFill>
                <a:latin typeface="Arial"/>
                <a:ea typeface="Arial"/>
                <a:cs typeface="Arial"/>
              </a:rPr>
              <a:t>Review: state, recurrence, base cases and evaluation order.</a:t>
            </a:r>
          </a:p>
        </p:txBody>
      </p:sp>
      <p:graphicFrame>
        <p:nvGraphicFramePr>
          <p:cNvPr id="7" name="">
            <a:extLst xmlns:a="http://schemas.openxmlformats.org/drawingml/2006/main">
              <a:ext uri="{FF2B5EF4-FFF2-40B4-BE49-F238E27FC236}">
                <a16:creationId xmlns:a16="http://schemas.microsoft.com/office/drawing/2014/main" id="{7639A8BC-2AF3-44D5-A331-3A7018957429}"/>
              </a:ext>
            </a:extLst>
          </p:cNvPr>
          <p:cNvGraphicFramePr/>
          <p:nvPr/>
        </p:nvGraphicFramePr>
        <p:xfrm>
          <a:off xmlns:a="http://schemas.openxmlformats.org/drawingml/2006/main" x="609600" y="3171825"/>
          <a:ext xmlns:a="http://schemas.openxmlformats.org/drawingml/2006/main" cx="10972800" cy="2286000"/>
        </p:xfrm>
        <a:graphic xmlns:a="http://schemas.openxmlformats.org/drawingml/2006/main">
          <a:graphicData uri="http://schemas.openxmlformats.org/drawingml/2006/table">
            <a:tbl>
              <a:tblPr/>
              <a:tblGrid>
                <a:gridCol w="3714750"/>
                <a:gridCol w="7258050"/>
              </a:tblGrid>
              <a:tr h="457200">
                <a:tc>
                  <a:txBody>
                    <a:bodyPr/>
                    <a:lstStyle/>
                    <a:p>
                      <a:r>
                        <a:rPr sz="1725" b="1">
                          <a:solidFill>
                            <a:srgbClr val="162D42"/>
                          </a:solidFill>
                          <a:latin typeface="Arial"/>
                          <a:ea typeface="Arial"/>
                          <a:cs typeface="Arial"/>
                        </a:rPr>
                        <a:t>Language</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c>
                  <a:txBody>
                    <a:bodyPr/>
                    <a:lstStyle/>
                    <a:p>
                      <a:r>
                        <a:rPr sz="1725" b="1">
                          <a:solidFill>
                            <a:srgbClr val="162D42"/>
                          </a:solidFill>
                          <a:latin typeface="Arial"/>
                          <a:ea typeface="Arial"/>
                          <a:cs typeface="Arial"/>
                        </a:rPr>
                        <a:t>Direct YouTube link</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5E6EE"/>
                    </a:solidFill>
                  </a:tcPr>
                </a:tc>
              </a:tr>
              <a:tr h="457200">
                <a:tc>
                  <a:txBody>
                    <a:bodyPr/>
                    <a:lstStyle/>
                    <a:p>
                      <a:r>
                        <a:rPr sz="1725" b="0">
                          <a:solidFill>
                            <a:srgbClr val="162D42"/>
                          </a:solidFill>
                          <a:latin typeface="Arial"/>
                          <a:ea typeface="Arial"/>
                          <a:cs typeface="Arial"/>
                        </a:rPr>
                        <a:t>EN · MIT LCS/LIS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hlinkClick xmlns:r="http://schemas.openxmlformats.org/officeDocument/2006/relationships" r:id="Rbad9783bbf18497f"/>
                        </a:rPr>
                        <a:t>youtube.com/watch?v=KLBCUx1is2c</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EN · Matrix chain</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hlinkClick xmlns:r="http://schemas.openxmlformats.org/officeDocument/2006/relationships" r:id="Rcb1089ce9bbb4e58"/>
                        </a:rPr>
                        <a:t>youtube.com/watch?v=_WncuhSJZyA</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RU · LCS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hlinkClick xmlns:r="http://schemas.openxmlformats.org/officeDocument/2006/relationships" r:id="R1e44868326e64664"/>
                        </a:rPr>
                        <a:t>youtube.com/watch?v=-yiKNcjcK0Y</a:t>
                      </a:r>
                    </a:p>
                  </a:txBody>
                  <a:tcPr marL="91440" marR="91440" marT="45720" marB="45720">
                    <a:lnR w="9525">
                      <a:solidFill>
                        <a:srgbClr val="D8DEE6"/>
                      </a:solidFill>
                      <a:prstDash val="solid"/>
                    </a:lnR>
                    <a:lnB w="9525">
                      <a:solidFill>
                        <a:srgbClr val="D8DEE6"/>
                      </a:solidFill>
                      <a:prstDash val="solid"/>
                    </a:lnB>
                    <a:solidFill>
                      <a:srgbClr val="FFFFFF"/>
                    </a:solidFill>
                  </a:tcPr>
                </a:tc>
              </a:tr>
              <a:tr h="457200">
                <a:tc>
                  <a:txBody>
                    <a:bodyPr/>
                    <a:lstStyle/>
                    <a:p>
                      <a:r>
                        <a:rPr sz="1725" b="0">
                          <a:solidFill>
                            <a:srgbClr val="162D42"/>
                          </a:solidFill>
                          <a:latin typeface="Arial"/>
                          <a:ea typeface="Arial"/>
                          <a:cs typeface="Arial"/>
                        </a:rPr>
                        <a:t>RU · Independent set</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62D42"/>
                          </a:solidFill>
                          <a:latin typeface="Arial"/>
                          <a:ea typeface="Arial"/>
                          <a:cs typeface="Arial"/>
                          <a:hlinkClick xmlns:r="http://schemas.openxmlformats.org/officeDocument/2006/relationships" r:id="R5c3a6f577cdc4bed"/>
                        </a:rPr>
                        <a:t>youtube.com/watch?v=bKrRqJID_Dw</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CAA6B34D-85EE-4F7D-A3D6-122DECAF970C}"/>
              </a:ext>
            </a:extLst>
          </p:cNvPr>
          <p:cNvSpPr>
            <a:spLocks xmlns:a="http://schemas.openxmlformats.org/drawingml/2006/main" noGrp="1"/>
          </p:cNvSpPr>
          <p:nvPr/>
        </p:nvSpPr>
        <p:spPr>
          <a:xfrm xmlns:a="http://schemas.openxmlformats.org/drawingml/2006/main">
            <a:off x="609600" y="6457950"/>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00" b="0">
                <a:solidFill>
                  <a:srgbClr val="5C6D7D"/>
                </a:solidFill>
                <a:latin typeface="Arial"/>
                <a:ea typeface="Arial"/>
                <a:cs typeface="Arial"/>
              </a:defRPr>
            </a:defPPr>
            <a:lvl1pPr>
              <a:defRPr sz="1200" b="0">
                <a:solidFill>
                  <a:srgbClr val="5C6D7D"/>
                </a:solidFill>
                <a:latin typeface="Arial"/>
                <a:ea typeface="Arial"/>
                <a:cs typeface="Arial"/>
              </a:defRPr>
            </a:lvl1pPr>
            <a:lvl2pPr>
              <a:defRPr sz="1200" b="0">
                <a:solidFill>
                  <a:srgbClr val="5C6D7D"/>
                </a:solidFill>
                <a:latin typeface="Arial"/>
                <a:ea typeface="Arial"/>
                <a:cs typeface="Arial"/>
              </a:defRPr>
            </a:lvl2pPr>
            <a:lvl3pPr>
              <a:defRPr sz="1200" b="0">
                <a:solidFill>
                  <a:srgbClr val="5C6D7D"/>
                </a:solidFill>
                <a:latin typeface="Arial"/>
                <a:ea typeface="Arial"/>
                <a:cs typeface="Arial"/>
              </a:defRPr>
            </a:lvl3pPr>
            <a:lvl4pPr>
              <a:defRPr sz="1200" b="0">
                <a:solidFill>
                  <a:srgbClr val="5C6D7D"/>
                </a:solidFill>
                <a:latin typeface="Arial"/>
                <a:ea typeface="Arial"/>
                <a:cs typeface="Arial"/>
              </a:defRPr>
            </a:lvl4pPr>
            <a:lvl5pPr>
              <a:defRPr sz="1200" b="0">
                <a:solidFill>
                  <a:srgbClr val="5C6D7D"/>
                </a:solidFill>
                <a:latin typeface="Arial"/>
                <a:ea typeface="Arial"/>
                <a:cs typeface="Arial"/>
              </a:defRPr>
            </a:lvl5pPr>
            <a:lvl6pPr>
              <a:defRPr sz="1200" b="0">
                <a:solidFill>
                  <a:srgbClr val="5C6D7D"/>
                </a:solidFill>
                <a:latin typeface="Arial"/>
                <a:ea typeface="Arial"/>
                <a:cs typeface="Arial"/>
              </a:defRPr>
            </a:lvl6pPr>
            <a:lvl7pPr>
              <a:defRPr sz="1200" b="0">
                <a:solidFill>
                  <a:srgbClr val="5C6D7D"/>
                </a:solidFill>
                <a:latin typeface="Arial"/>
                <a:ea typeface="Arial"/>
                <a:cs typeface="Arial"/>
              </a:defRPr>
            </a:lvl7pPr>
            <a:lvl8pPr>
              <a:defRPr sz="1200" b="0">
                <a:solidFill>
                  <a:srgbClr val="5C6D7D"/>
                </a:solidFill>
                <a:latin typeface="Arial"/>
                <a:ea typeface="Arial"/>
                <a:cs typeface="Arial"/>
              </a:defRPr>
            </a:lvl8pPr>
            <a:lvl9pPr>
              <a:defRPr sz="1200" b="0">
                <a:solidFill>
                  <a:srgbClr val="5C6D7D"/>
                </a:solidFill>
                <a:latin typeface="Arial"/>
                <a:ea typeface="Arial"/>
                <a:cs typeface="Arial"/>
              </a:defRPr>
            </a:lvl9pPr>
          </a:lstStyle>
          <a:p xmlns:a="http://schemas.openxmlformats.org/drawingml/2006/main">
            <a:pPr>
              <a:defRPr sz="1200" b="0">
                <a:solidFill>
                  <a:srgbClr val="5C6D7D"/>
                </a:solidFill>
                <a:latin typeface="Arial"/>
                <a:ea typeface="Arial"/>
                <a:cs typeface="Arial"/>
              </a:defRPr>
            </a:pPr>
            <a:r>
              <a:rPr sz="1200" b="0">
                <a:solidFill>
                  <a:srgbClr val="5C6D7D"/>
                </a:solidFill>
                <a:latin typeface="Arial"/>
                <a:ea typeface="Arial"/>
                <a:cs typeface="Arial"/>
              </a:rPr>
              <a:t>State, recurrence, base, order, answer</a:t>
            </a:r>
          </a:p>
        </p:txBody>
      </p:sp>
      <p:sp>
        <p:nvSpPr>
          <p:cNvPr id="9" name="">
            <a:extLst xmlns:a="http://schemas.openxmlformats.org/drawingml/2006/main">
              <a:ext uri="{FF2B5EF4-FFF2-40B4-BE49-F238E27FC236}">
                <a16:creationId xmlns:a16="http://schemas.microsoft.com/office/drawing/2014/main" id="{682843C3-A05F-4501-AF04-83F7D6717F69}"/>
              </a:ext>
            </a:extLst>
          </p:cNvPr>
          <p:cNvSpPr>
            <a:spLocks xmlns:a="http://schemas.openxmlformats.org/drawingml/2006/main" noGrp="1"/>
          </p:cNvSpPr>
          <p:nvPr/>
        </p:nvSpPr>
        <p:spPr>
          <a:xfrm xmlns:a="http://schemas.openxmlformats.org/drawingml/2006/main">
            <a:off x="10477500" y="6429375"/>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44270"/>
                </a:solidFill>
                <a:latin typeface="Arial"/>
                <a:ea typeface="Arial"/>
                <a:cs typeface="Arial"/>
              </a:defRPr>
            </a:defPPr>
            <a:lvl1pPr>
              <a:defRPr sz="1500" b="1">
                <a:solidFill>
                  <a:srgbClr val="A44270"/>
                </a:solidFill>
                <a:latin typeface="Arial"/>
                <a:ea typeface="Arial"/>
                <a:cs typeface="Arial"/>
              </a:defRPr>
            </a:lvl1pPr>
            <a:lvl2pPr>
              <a:defRPr sz="1500" b="1">
                <a:solidFill>
                  <a:srgbClr val="A44270"/>
                </a:solidFill>
                <a:latin typeface="Arial"/>
                <a:ea typeface="Arial"/>
                <a:cs typeface="Arial"/>
              </a:defRPr>
            </a:lvl2pPr>
            <a:lvl3pPr>
              <a:defRPr sz="1500" b="1">
                <a:solidFill>
                  <a:srgbClr val="A44270"/>
                </a:solidFill>
                <a:latin typeface="Arial"/>
                <a:ea typeface="Arial"/>
                <a:cs typeface="Arial"/>
              </a:defRPr>
            </a:lvl3pPr>
            <a:lvl4pPr>
              <a:defRPr sz="1500" b="1">
                <a:solidFill>
                  <a:srgbClr val="A44270"/>
                </a:solidFill>
                <a:latin typeface="Arial"/>
                <a:ea typeface="Arial"/>
                <a:cs typeface="Arial"/>
              </a:defRPr>
            </a:lvl4pPr>
            <a:lvl5pPr>
              <a:defRPr sz="1500" b="1">
                <a:solidFill>
                  <a:srgbClr val="A44270"/>
                </a:solidFill>
                <a:latin typeface="Arial"/>
                <a:ea typeface="Arial"/>
                <a:cs typeface="Arial"/>
              </a:defRPr>
            </a:lvl5pPr>
            <a:lvl6pPr>
              <a:defRPr sz="1500" b="1">
                <a:solidFill>
                  <a:srgbClr val="A44270"/>
                </a:solidFill>
                <a:latin typeface="Arial"/>
                <a:ea typeface="Arial"/>
                <a:cs typeface="Arial"/>
              </a:defRPr>
            </a:lvl6pPr>
            <a:lvl7pPr>
              <a:defRPr sz="1500" b="1">
                <a:solidFill>
                  <a:srgbClr val="A44270"/>
                </a:solidFill>
                <a:latin typeface="Arial"/>
                <a:ea typeface="Arial"/>
                <a:cs typeface="Arial"/>
              </a:defRPr>
            </a:lvl7pPr>
            <a:lvl8pPr>
              <a:defRPr sz="1500" b="1">
                <a:solidFill>
                  <a:srgbClr val="A44270"/>
                </a:solidFill>
                <a:latin typeface="Arial"/>
                <a:ea typeface="Arial"/>
                <a:cs typeface="Arial"/>
              </a:defRPr>
            </a:lvl8pPr>
            <a:lvl9pPr>
              <a:defRPr sz="1500" b="1">
                <a:solidFill>
                  <a:srgbClr val="A44270"/>
                </a:solidFill>
                <a:latin typeface="Arial"/>
                <a:ea typeface="Arial"/>
                <a:cs typeface="Arial"/>
              </a:defRPr>
            </a:lvl9pPr>
          </a:lstStyle>
          <a:p xmlns:a="http://schemas.openxmlformats.org/drawingml/2006/main">
            <a:pPr>
              <a:defRPr sz="1500" b="1">
                <a:solidFill>
                  <a:srgbClr val="A44270"/>
                </a:solidFill>
                <a:latin typeface="Arial"/>
                <a:ea typeface="Arial"/>
                <a:cs typeface="Arial"/>
              </a:defRPr>
            </a:pPr>
            <a:r>
              <a:rPr sz="1500" b="1">
                <a:solidFill>
                  <a:srgbClr val="A44270"/>
                </a:solidFill>
                <a:latin typeface="Arial"/>
                <a:ea typeface="Arial"/>
                <a:cs typeface="Arial"/>
              </a:rPr>
              <a:t>34 / 34</a:t>
            </a:r>
          </a:p>
        </p:txBody>
      </p:sp>
    </p:spTree>
    <p:extLst>
      <p:ext uri="{BB962C8B-B14F-4D97-AF65-F5344CB8AC3E}">
        <p14:creationId xmlns:p14="http://schemas.microsoft.com/office/powerpoint/2010/main" val="7654580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ns0:coreProperties xmlns:dc="http://purl.org/dc/elements/1.1/" xmlns:ns0="http://schemas.openxmlformats.org/package/2006/metadata/core-properties" xmlns:ns2="http://purl.org/dc/terms/" xmlns:xsi="http://www.w3.org/2001/XMLSchema-instance">
  <dc:creator>Zhaniya Rakhymbayeva</dc:creator>
  <ns0:lastModifiedBy>Zhaniya Rakhymbayeva</ns0:lastModifiedBy>
  <dc:title>Presentation</dc:title>
  <ns2:created xsi:type="dcterms:W3CDTF">2026-10-28T19:40:06.9860000Z</ns2:created>
  <ns2:modified xsi:type="dcterms:W3CDTF">2026-10-28T19:40:06.9860000Z</ns2:modified>
</ns0:coreProperties>
</file>