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0ba2b90bc4faa" /><Relationship Type="http://schemas.openxmlformats.org/officeDocument/2006/relationships/extended-properties" Target="/docProps/app.xml" Id="Rac2c6ff1de894656" /><Relationship Type="http://schemas.openxmlformats.org/officeDocument/2006/relationships/officeDocument" Target="/ppt/presentation.xml" Id="Rdfd94cba0a56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235b299ea46a1"/>
  </p:sldMasterIdLst>
  <p:notesMasterIdLst>
    <p:notesMasterId xmlns:r="http://schemas.openxmlformats.org/officeDocument/2006/relationships" r:id="R70f190e0fa994b4c"/>
  </p:notesMasterIdLst>
  <p:sldIdLst>
    <p:sldId xmlns:r="http://schemas.openxmlformats.org/officeDocument/2006/relationships" id="256" r:id="Rf5e702099b0f4136"/>
    <p:sldId xmlns:r="http://schemas.openxmlformats.org/officeDocument/2006/relationships" id="257" r:id="Rfd17355dc4a045a0"/>
    <p:sldId xmlns:r="http://schemas.openxmlformats.org/officeDocument/2006/relationships" id="258" r:id="Rc57f6d59ecae41f9"/>
    <p:sldId xmlns:r="http://schemas.openxmlformats.org/officeDocument/2006/relationships" id="259" r:id="R74d2a1c49d924230"/>
    <p:sldId xmlns:r="http://schemas.openxmlformats.org/officeDocument/2006/relationships" id="260" r:id="R90f4ca4cf9d34923"/>
    <p:sldId xmlns:r="http://schemas.openxmlformats.org/officeDocument/2006/relationships" id="261" r:id="Rb08cbdd285a24fe5"/>
    <p:sldId xmlns:r="http://schemas.openxmlformats.org/officeDocument/2006/relationships" id="262" r:id="R6d63b33f117a49eb"/>
    <p:sldId xmlns:r="http://schemas.openxmlformats.org/officeDocument/2006/relationships" id="263" r:id="R10baa88c82fa4bf5"/>
    <p:sldId xmlns:r="http://schemas.openxmlformats.org/officeDocument/2006/relationships" id="264" r:id="R8d719068f17346ce"/>
    <p:sldId xmlns:r="http://schemas.openxmlformats.org/officeDocument/2006/relationships" id="265" r:id="Rb0b0876e9fdf455a"/>
    <p:sldId xmlns:r="http://schemas.openxmlformats.org/officeDocument/2006/relationships" id="266" r:id="R8dfac883e8b44429"/>
    <p:sldId xmlns:r="http://schemas.openxmlformats.org/officeDocument/2006/relationships" id="267" r:id="R1c0dbff5fb2c4ade"/>
    <p:sldId xmlns:r="http://schemas.openxmlformats.org/officeDocument/2006/relationships" id="268" r:id="R5a2e4c9af4cd4d6a"/>
    <p:sldId xmlns:r="http://schemas.openxmlformats.org/officeDocument/2006/relationships" id="269" r:id="Rcc032e5441d142a9"/>
    <p:sldId xmlns:r="http://schemas.openxmlformats.org/officeDocument/2006/relationships" id="270" r:id="Re43d67f336aa474a"/>
    <p:sldId xmlns:r="http://schemas.openxmlformats.org/officeDocument/2006/relationships" id="271" r:id="R16c2a1eb9d894d11"/>
    <p:sldId xmlns:r="http://schemas.openxmlformats.org/officeDocument/2006/relationships" id="272" r:id="R3f3441db01b9442d"/>
    <p:sldId xmlns:r="http://schemas.openxmlformats.org/officeDocument/2006/relationships" id="273" r:id="R310c1bb491714244"/>
    <p:sldId xmlns:r="http://schemas.openxmlformats.org/officeDocument/2006/relationships" id="274" r:id="R57a6ab7395d94023"/>
    <p:sldId xmlns:r="http://schemas.openxmlformats.org/officeDocument/2006/relationships" id="275" r:id="Re94622b798024d5a"/>
    <p:sldId xmlns:r="http://schemas.openxmlformats.org/officeDocument/2006/relationships" id="276" r:id="Rb71aba62202e47c9"/>
    <p:sldId xmlns:r="http://schemas.openxmlformats.org/officeDocument/2006/relationships" id="277" r:id="R664c0d8f9f4b43f6"/>
    <p:sldId xmlns:r="http://schemas.openxmlformats.org/officeDocument/2006/relationships" id="278" r:id="R4f8c4b699bc742ee"/>
    <p:sldId xmlns:r="http://schemas.openxmlformats.org/officeDocument/2006/relationships" id="279" r:id="R91ec15bce23c4e0c"/>
    <p:sldId xmlns:r="http://schemas.openxmlformats.org/officeDocument/2006/relationships" id="280" r:id="Rea0a790303ae428d"/>
    <p:sldId xmlns:r="http://schemas.openxmlformats.org/officeDocument/2006/relationships" id="281" r:id="R66ddf5a4fd404df1"/>
    <p:sldId xmlns:r="http://schemas.openxmlformats.org/officeDocument/2006/relationships" id="282" r:id="Rd1bfd98bd5524c81"/>
    <p:sldId xmlns:r="http://schemas.openxmlformats.org/officeDocument/2006/relationships" id="283" r:id="R842b0b1d898a4bbd"/>
    <p:sldId xmlns:r="http://schemas.openxmlformats.org/officeDocument/2006/relationships" id="284" r:id="R40dc6d6fd8ac4725"/>
    <p:sldId xmlns:r="http://schemas.openxmlformats.org/officeDocument/2006/relationships" id="285" r:id="R16f05f4a4e9f45fe"/>
    <p:sldId xmlns:r="http://schemas.openxmlformats.org/officeDocument/2006/relationships" id="286" r:id="R77940728d6184b4f"/>
    <p:sldId xmlns:r="http://schemas.openxmlformats.org/officeDocument/2006/relationships" id="287" r:id="R94e634075f0d4946"/>
    <p:sldId xmlns:r="http://schemas.openxmlformats.org/officeDocument/2006/relationships" id="288" r:id="R13d165493a8d4c64"/>
    <p:sldId xmlns:r="http://schemas.openxmlformats.org/officeDocument/2006/relationships" id="289" r:id="R9ea9fcad4b914c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7d1f51cabf4e4a" /><Relationship Type="http://schemas.openxmlformats.org/officeDocument/2006/relationships/slideMaster" Target="/ppt/slideMasters/slideMaster1.xml" Id="Rabd235b299ea46a1" /><Relationship Type="http://schemas.openxmlformats.org/officeDocument/2006/relationships/notesMaster" Target="/ppt/notesMasters/notesMaster1.xml" Id="R70f190e0fa994b4c" /><Relationship Type="http://schemas.openxmlformats.org/officeDocument/2006/relationships/presProps" Target="/ppt/presProps.xml" Id="R1807a701ab324df5" /><Relationship Type="http://schemas.openxmlformats.org/officeDocument/2006/relationships/tableStyles" Target="/ppt/tableStyles.xml" Id="R5453c778ed84463e" /><Relationship Type="http://schemas.openxmlformats.org/officeDocument/2006/relationships/slide" Target="/ppt/slides/slide1.xml" Id="Rf5e702099b0f4136" /><Relationship Type="http://schemas.openxmlformats.org/officeDocument/2006/relationships/slide" Target="/ppt/slides/slide2.xml" Id="Rfd17355dc4a045a0" /><Relationship Type="http://schemas.openxmlformats.org/officeDocument/2006/relationships/slide" Target="/ppt/slides/slide3.xml" Id="Rc57f6d59ecae41f9" /><Relationship Type="http://schemas.openxmlformats.org/officeDocument/2006/relationships/slide" Target="/ppt/slides/slide4.xml" Id="R74d2a1c49d924230" /><Relationship Type="http://schemas.openxmlformats.org/officeDocument/2006/relationships/slide" Target="/ppt/slides/slide5.xml" Id="R90f4ca4cf9d34923" /><Relationship Type="http://schemas.openxmlformats.org/officeDocument/2006/relationships/slide" Target="/ppt/slides/slide6.xml" Id="Rb08cbdd285a24fe5" /><Relationship Type="http://schemas.openxmlformats.org/officeDocument/2006/relationships/slide" Target="/ppt/slides/slide7.xml" Id="R6d63b33f117a49eb" /><Relationship Type="http://schemas.openxmlformats.org/officeDocument/2006/relationships/slide" Target="/ppt/slides/slide8.xml" Id="R10baa88c82fa4bf5" /><Relationship Type="http://schemas.openxmlformats.org/officeDocument/2006/relationships/slide" Target="/ppt/slides/slide9.xml" Id="R8d719068f17346ce" /><Relationship Type="http://schemas.openxmlformats.org/officeDocument/2006/relationships/slide" Target="/ppt/slides/slide10.xml" Id="Rb0b0876e9fdf455a" /><Relationship Type="http://schemas.openxmlformats.org/officeDocument/2006/relationships/slide" Target="/ppt/slides/slide11.xml" Id="R8dfac883e8b44429" /><Relationship Type="http://schemas.openxmlformats.org/officeDocument/2006/relationships/slide" Target="/ppt/slides/slide12.xml" Id="R1c0dbff5fb2c4ade" /><Relationship Type="http://schemas.openxmlformats.org/officeDocument/2006/relationships/slide" Target="/ppt/slides/slide13.xml" Id="R5a2e4c9af4cd4d6a" /><Relationship Type="http://schemas.openxmlformats.org/officeDocument/2006/relationships/slide" Target="/ppt/slides/slide14.xml" Id="Rcc032e5441d142a9" /><Relationship Type="http://schemas.openxmlformats.org/officeDocument/2006/relationships/slide" Target="/ppt/slides/slide15.xml" Id="Re43d67f336aa474a" /><Relationship Type="http://schemas.openxmlformats.org/officeDocument/2006/relationships/slide" Target="/ppt/slides/slide16.xml" Id="R16c2a1eb9d894d11" /><Relationship Type="http://schemas.openxmlformats.org/officeDocument/2006/relationships/slide" Target="/ppt/slides/slide17.xml" Id="R3f3441db01b9442d" /><Relationship Type="http://schemas.openxmlformats.org/officeDocument/2006/relationships/slide" Target="/ppt/slides/slide18.xml" Id="R310c1bb491714244" /><Relationship Type="http://schemas.openxmlformats.org/officeDocument/2006/relationships/slide" Target="/ppt/slides/slide19.xml" Id="R57a6ab7395d94023" /><Relationship Type="http://schemas.openxmlformats.org/officeDocument/2006/relationships/slide" Target="/ppt/slides/slide20.xml" Id="Re94622b798024d5a" /><Relationship Type="http://schemas.openxmlformats.org/officeDocument/2006/relationships/slide" Target="/ppt/slides/slide21.xml" Id="Rb71aba62202e47c9" /><Relationship Type="http://schemas.openxmlformats.org/officeDocument/2006/relationships/slide" Target="/ppt/slides/slide22.xml" Id="R664c0d8f9f4b43f6" /><Relationship Type="http://schemas.openxmlformats.org/officeDocument/2006/relationships/slide" Target="/ppt/slides/slide23.xml" Id="R4f8c4b699bc742ee" /><Relationship Type="http://schemas.openxmlformats.org/officeDocument/2006/relationships/slide" Target="/ppt/slides/slide24.xml" Id="R91ec15bce23c4e0c" /><Relationship Type="http://schemas.openxmlformats.org/officeDocument/2006/relationships/slide" Target="/ppt/slides/slide25.xml" Id="Rea0a790303ae428d" /><Relationship Type="http://schemas.openxmlformats.org/officeDocument/2006/relationships/slide" Target="/ppt/slides/slide26.xml" Id="R66ddf5a4fd404df1" /><Relationship Type="http://schemas.openxmlformats.org/officeDocument/2006/relationships/slide" Target="/ppt/slides/slide27.xml" Id="Rd1bfd98bd5524c81" /><Relationship Type="http://schemas.openxmlformats.org/officeDocument/2006/relationships/slide" Target="/ppt/slides/slide28.xml" Id="R842b0b1d898a4bbd" /><Relationship Type="http://schemas.openxmlformats.org/officeDocument/2006/relationships/slide" Target="/ppt/slides/slide29.xml" Id="R40dc6d6fd8ac4725" /><Relationship Type="http://schemas.openxmlformats.org/officeDocument/2006/relationships/slide" Target="/ppt/slides/slide30.xml" Id="R16f05f4a4e9f45fe" /><Relationship Type="http://schemas.openxmlformats.org/officeDocument/2006/relationships/slide" Target="/ppt/slides/slide31.xml" Id="R77940728d6184b4f" /><Relationship Type="http://schemas.openxmlformats.org/officeDocument/2006/relationships/slide" Target="/ppt/slides/slide32.xml" Id="R94e634075f0d4946" /><Relationship Type="http://schemas.openxmlformats.org/officeDocument/2006/relationships/slide" Target="/ppt/slides/slide33.xml" Id="R13d165493a8d4c64" /><Relationship Type="http://schemas.openxmlformats.org/officeDocument/2006/relationships/slide" Target="/ppt/slides/slide34.xml" Id="R9ea9fcad4b914c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2811e50ec240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fee813ba884450" /><Relationship Type="http://schemas.openxmlformats.org/officeDocument/2006/relationships/notesMaster" Target="/ppt/notesMasters/notesMaster1.xml" Id="R14a6750a1ef24a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0ba5134def43c8" /><Relationship Type="http://schemas.openxmlformats.org/officeDocument/2006/relationships/notesMaster" Target="/ppt/notesMasters/notesMaster1.xml" Id="R1d59ba17af8f45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beb7ca92e643e0" /><Relationship Type="http://schemas.openxmlformats.org/officeDocument/2006/relationships/notesMaster" Target="/ppt/notesMasters/notesMaster1.xml" Id="R4c9e161eca2744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d5b9dcb1be4849" /><Relationship Type="http://schemas.openxmlformats.org/officeDocument/2006/relationships/notesMaster" Target="/ppt/notesMasters/notesMaster1.xml" Id="R510f46987997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d5f15233049fd" /><Relationship Type="http://schemas.openxmlformats.org/officeDocument/2006/relationships/notesMaster" Target="/ppt/notesMasters/notesMaster1.xml" Id="R42cc7c0b4e3b43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c4daf132de46cb" /><Relationship Type="http://schemas.openxmlformats.org/officeDocument/2006/relationships/notesMaster" Target="/ppt/notesMasters/notesMaster1.xml" Id="Rb8a56a9df3824e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bc11b75c2541cb" /><Relationship Type="http://schemas.openxmlformats.org/officeDocument/2006/relationships/notesMaster" Target="/ppt/notesMasters/notesMaster1.xml" Id="R5951b99fa3554d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19cd4999e44436" /><Relationship Type="http://schemas.openxmlformats.org/officeDocument/2006/relationships/notesMaster" Target="/ppt/notesMasters/notesMaster1.xml" Id="Re0dd9a052f174f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3286cfb2794ebf" /><Relationship Type="http://schemas.openxmlformats.org/officeDocument/2006/relationships/notesMaster" Target="/ppt/notesMasters/notesMaster1.xml" Id="Rf4b275aad9aa4c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0d6c5abf3741a3" /><Relationship Type="http://schemas.openxmlformats.org/officeDocument/2006/relationships/notesMaster" Target="/ppt/notesMasters/notesMaster1.xml" Id="R5cfbef8134ac49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25809b2b0e4467" /><Relationship Type="http://schemas.openxmlformats.org/officeDocument/2006/relationships/notesMaster" Target="/ppt/notesMasters/notesMaster1.xml" Id="R046ac556c03b49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20787bc5ed46da" /><Relationship Type="http://schemas.openxmlformats.org/officeDocument/2006/relationships/notesMaster" Target="/ppt/notesMasters/notesMaster1.xml" Id="R16b34c71482b49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9de2505cd44a9f" /><Relationship Type="http://schemas.openxmlformats.org/officeDocument/2006/relationships/notesMaster" Target="/ppt/notesMasters/notesMaster1.xml" Id="R205e1c0adc8442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b9c1edd5a14963" /><Relationship Type="http://schemas.openxmlformats.org/officeDocument/2006/relationships/notesMaster" Target="/ppt/notesMasters/notesMaster1.xml" Id="Rfa3f694e79e940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a4613bbca247e7" /><Relationship Type="http://schemas.openxmlformats.org/officeDocument/2006/relationships/notesMaster" Target="/ppt/notesMasters/notesMaster1.xml" Id="Ree9acfd470ea4d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f10db5c1cb46ff" /><Relationship Type="http://schemas.openxmlformats.org/officeDocument/2006/relationships/notesMaster" Target="/ppt/notesMasters/notesMaster1.xml" Id="Re2580adbf30c4e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efb2eef06a4c53" /><Relationship Type="http://schemas.openxmlformats.org/officeDocument/2006/relationships/notesMaster" Target="/ppt/notesMasters/notesMaster1.xml" Id="Rf768aa5b69714d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afc146f48d4cef" /><Relationship Type="http://schemas.openxmlformats.org/officeDocument/2006/relationships/notesMaster" Target="/ppt/notesMasters/notesMaster1.xml" Id="Ra2851a1d196444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6efff7a582451c" /><Relationship Type="http://schemas.openxmlformats.org/officeDocument/2006/relationships/notesMaster" Target="/ppt/notesMasters/notesMaster1.xml" Id="R500adee2c2e545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3bd135b4f34313" /><Relationship Type="http://schemas.openxmlformats.org/officeDocument/2006/relationships/notesMaster" Target="/ppt/notesMasters/notesMaster1.xml" Id="R238df6af2aa247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56cdda650a4d4f" /><Relationship Type="http://schemas.openxmlformats.org/officeDocument/2006/relationships/notesMaster" Target="/ppt/notesMasters/notesMaster1.xml" Id="R9b18858ffc5742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9a53b8153e4b7d" /><Relationship Type="http://schemas.openxmlformats.org/officeDocument/2006/relationships/notesMaster" Target="/ppt/notesMasters/notesMaster1.xml" Id="R7c917a475234423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bc949ca4514229" /><Relationship Type="http://schemas.openxmlformats.org/officeDocument/2006/relationships/notesMaster" Target="/ppt/notesMasters/notesMaster1.xml" Id="R7a8a412b37904e1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b3e8b06b234186" /><Relationship Type="http://schemas.openxmlformats.org/officeDocument/2006/relationships/notesMaster" Target="/ppt/notesMasters/notesMaster1.xml" Id="R6a6d13a31509494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1430b5aa734f07" /><Relationship Type="http://schemas.openxmlformats.org/officeDocument/2006/relationships/notesMaster" Target="/ppt/notesMasters/notesMaster1.xml" Id="Ra132ec819c6b43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df112179f234f63" /><Relationship Type="http://schemas.openxmlformats.org/officeDocument/2006/relationships/notesMaster" Target="/ppt/notesMasters/notesMaster1.xml" Id="R7d31578e85c3457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b207eb07d04929" /><Relationship Type="http://schemas.openxmlformats.org/officeDocument/2006/relationships/notesMaster" Target="/ppt/notesMasters/notesMaster1.xml" Id="R8937d751a6d14c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bb33fe5ad364248" /><Relationship Type="http://schemas.openxmlformats.org/officeDocument/2006/relationships/notesMaster" Target="/ppt/notesMasters/notesMaster1.xml" Id="R65e6d8db0d1146f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36d931750340b3" /><Relationship Type="http://schemas.openxmlformats.org/officeDocument/2006/relationships/notesMaster" Target="/ppt/notesMasters/notesMaster1.xml" Id="R1cc1f6ceb292419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82bdc195f04e2b" /><Relationship Type="http://schemas.openxmlformats.org/officeDocument/2006/relationships/notesMaster" Target="/ppt/notesMasters/notesMaster1.xml" Id="Rf8c1dd54b490427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34463ef4c84f0a" /><Relationship Type="http://schemas.openxmlformats.org/officeDocument/2006/relationships/notesMaster" Target="/ppt/notesMasters/notesMaster1.xml" Id="Rbe8076fbd8e4411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0e4759e4842490d" /><Relationship Type="http://schemas.openxmlformats.org/officeDocument/2006/relationships/notesMaster" Target="/ppt/notesMasters/notesMaster1.xml" Id="R0aec6558d8e34c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0effd187e24407e" /><Relationship Type="http://schemas.openxmlformats.org/officeDocument/2006/relationships/notesMaster" Target="/ppt/notesMasters/notesMaster1.xml" Id="R3afc8d63393b4fb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a28a634d2314964" /><Relationship Type="http://schemas.openxmlformats.org/officeDocument/2006/relationships/notesMaster" Target="/ppt/notesMasters/notesMaster1.xml" Id="R6db1fe90dc4049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Неделя 8 Подпоследовательности, разбиение и деревья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Динамическое программирование применяется к задачам, решение которых можно выразить через меньшие подзадачи. Если разные ветви рекурсии обращаются к одной и той же подзадаче, её ответ достаточно вычислить один раз и сохранить. Например, для F(5) нужны F(4) и F(3), а при вычислении F(4) значение F(3) понадобится снова.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8; CLRS 4e, §14.3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каждого состояния есть точный смысл. Переход учитывает все допустимые последние решения. Порядок вычисления обеспечивает готовность зависимостей.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Состояние определяет, какую именно подзадачу мы решаем. В нём должна остаться вся информация, от которой зависят допустимые дальнейшие действия. Для рюкзака недостаточно знать число рассмотренных предметов: важна также оставшаяся вместимость. Для дерева необходимо знать, выбрана ли корневая вершина поддерева.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8; CLRS 4e, §14.3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Оптимальная подструктура: меньшие оптимальные ответы дают больший. Перекрытие: разные решения обращаются к одной подзадаче. Состояние сохраняет всю информацию для следующих решений.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Оптимальная подструктура означает, что после фиксации решения меньшие части можно решить оптимально и объединить. Это свойство необходимо обосновать. Если замена одной части на более выгодную сохраняет допустимость всего решения, исходная неоптимальная часть не могла входить в оптимальный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8; CLRS 4e, §14.3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F(5) запрашивает F(4) и F(3). F(4) снова запрашивает F(3). F(k) = F(k−1) + F(k−2), база: F(0) = 0, F(1) 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Мемоизация сохраняет ответы при рекурсивных вызовах. Табуляция вычисляет состояния в заранее выбранном порядке. Для обоих подходов используются одинаковые состояния и переходы. При выборе реализации учитывают глубину рекурсии, число реально посещённых состояний и память.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8; CLRS 4e, §14.3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Мемоизация считает состояния по запросу рекурсии. Табуляция следует явному порядку зависимостей. Быстродействие зависит от посещённых состояний и реализации.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Решение DP описывается через состояние, переход, базовые случаи, порядок вычисления и место итогового ответа. Если требуется сама последовательность, расстановка скобок или набор вершин, дополнительно сохраняют информацию для восстановления. Время оценивают по числу состояний и работе, необходимой для каждого перехода.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8; CLRS 4e, §14.3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Состояние → переход → базовые случаи Порядок → итоговый ответ → восстановление Корректность → время → память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Динамическое программирование применяется к задачам, решение которых можно выразить через меньшие подзадачи. Если разные ветви рекурсии обращаются к одной и той же подзадаче, её ответ достаточно вычислить один раз и сохранить. Например, для F(5) нужны F(4) и F(3), а при вычислении F(4) значение F(3) понадобится снова.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8; CLRS 4e, §14.3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Состояние последовательности задаёт позицию или префиксы. Интервальное состояние задаёт непрерывный диапазон. Состояние дерева задаёт поддерево и решение на его границе.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Состояние определяет, какую именно подзадачу мы решаем. В нём должна остаться вся информация, от которой зависят допустимые дальнейшие действия. Для рюкзака недостаточно знать число рассмотренных предметов: важна также оставшаяся вместимость. Для дерева необходимо знать, выбрана ли корневая вершина поддерева.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8; CLRS 4e, §14.3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Подпоследовательность сохраняет порядок, пропуски допустимы. Подстрока занимает последовательные позиции. В ABCDE строка ACE является подпоследовательностью.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Чтобы восстановить ответ, при улучшении dp[i] сохраняем индекс предшественника parent[i]. Затем начинаем с позиции максимального dp, идём по parent до −1 и разворачиваем полученные индексы. Для пустого массива ответ равен 0. Для [3,3,3] строгая НВП имеет длину 1. Два вложенных цикла дают O(n²) времени и O(n)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5–10; CLRS 4e, §14.4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dp[i] — длина НВП, заканчивающейся именно в i. Предшественник j удовлетворяет j &lt; i и a[j] &lt; a[i]. Каждый элемент начинает подпоследовательность длины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Подпоследовательность сохраняет порядок элементов, но может пропускать позиции. Например, ACE является подпоследовательностью ABCDE. Подстрока состоит из соседних символов: CD — подстрока ABCDE, а ACE — нет. Для возрастающей подпоследовательности требуется дополнительное условие: каждое следующее значение строго больше предыдущего.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5–7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значения 2 продолжаем подпоследовательность [1]. У значения 4 продолжаем [1, 2]. Длина 3: [1, 2, 5] или [1, 2, 4].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Пусть dp[i] — длина наибольшей возрастающей подпоследовательности, которая заканчивается именно в позиции i. Каждый элемент сам по себе образует ответ длины 1. Продолжить последовательность из j можно только при j &lt; i и a[j] &lt; a[i]. Поэтому для каждого подходящего j рассматриваем dp[j] + 1 и выбираем максимум.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5–7; original worked 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Индекс parent хранит выбор, улучшивший dp[i]. Начинаем с индекса максимального dp. Идём по parent и разворачиваем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массива [3,1,2,5,4] получаем dp=[1,1,2,3,3]. Число 2 продолжает последовательность [1], а 5 и 4 могут продолжить [1,2]. Оптимальная длина равна 3. Подходят как [1,2,5], так и [1,2,4]. Ответ находится как max(dp), поскольку оптимальная подпоследовательность может закончиться в любой позиции.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5–7; original Java excerpt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= ABCDE, B = ACE L[i][j] — длина НОП префиксов A[0..i) и B[0..j). Префикс длины 0 пуст.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L[i][j] обозначает длину НОП первых i символов A и первых j символов B. Индексы i и j здесь являются длинами префиксов. Последние символы этих префиксов находятся в A[i−1] и B[j−1]. Для пустого префикса ответ равен 0, поэтому L[0][j]=L[i][0]=0.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8–10; CLRS 4e, §14.4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Совпавшие последние символы продолжают меньшую НОП. При несовпадении пропускаем символ одной из строк. Каждая зависимость использует более короткий префикс.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Если последние символы равны, к НОП двух меньших префиксов добавляется общий символ: L[i][j]=1+L[i−1][j−1]. Если символы различаются, хотя бы один из них не используется как последний символ ответа. Рассматриваем пропуск в A или в B и выбираем max(L[i−1][j],L[i][j−1]). При несовпадении значение не обнуляется.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8–10; CLRS 4e, §14.4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Строки — префиксы ABCDE. Столбцы — префиксы ACE. В клетке (C, C) диагональное значение 1 превращается в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Таблица заполняется по возрастанию i и j. В примере ABCDE/ACE на пересечении C и C значение становится 2, а при совпадении E и E — 3. В ячейке L[4][3] ответ равен 2: для ABCD и ACE подходит AC. Итоговая длина находится в L[n][m].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 10; CLRS 4e, §14.4; computed 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Совпадение даёт диагональный шаг и символ ответа. При несовпадении выбираем соседа с оптимальным значением. При равенстве возможны разные правильные НОП.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восстановления начинаем в L[n][m]. Совпадение символов означает диагональный шаг с добавлением символа. Иначе переходим к соседу сверху или слева, сохраняющему оптимальное значение. Собранные символы разворачиваем. При равенстве соседей возможны разные правильные ответы. Полная таблица требует O(nm) времени и памяти; две строки достаточно для длины, но не для этого простого обратного прохода.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CLRS 4e, §14.4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int[][] L содержит (n + 1) × (m + 1) ячеек. Java заполняет нулём базовую строку и столбец. Время O(nm), память таблицы O(nm).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Наибольшая общая подпоследовательность двух строк сохраняет порядок символов в каждой из них. Пропуски разрешены. У строк ABCDE и ACE общая подпоследовательность ACE имеет длину 3. Повторяющиеся символы рассматриваются как разные позиции.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CLRS 4e, §14.4; original Java excerpt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Редакционное расстояние минимизирует вставки, удаления и замены. Палиндромная подпоследовательность сравнивает края интервала. Похожие таблицы могут иметь разные базовые случаи.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L[i][j] обозначает длину НОП первых i символов A и первых j символов B. Индексы i и j здесь являются длинами префиксов. Последние символы этих префиксов находятся в A[i−1] и B[j−1]. Для пустого префикса ответ равен 0, поэтому L[0][j]=L[i][0]=0.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 8; CLRS problem 14-2 and problem 14-5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Каждый предмет можно взять не более одного раза. K[i][c] использует первые i предметов и вместимость не более c. Пропускаем предмет или берём его из предыдущей строки.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K[i][c] — максимальная ценность, которую можно получить из первых i предметов при вместимости c. Если предмет пропускается, ответ равен K[i−1][c]. Если его вес не превосходит c, можно взять предмет и прибавить его ценность к K[i−1][c−w[i−1]]. Оба варианта читают предыдущую строку, поэтому один предмет не используется повторно.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Syllabus week 8 practice; CLRS 4e, exercise 15.2-2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Одна строка хранит лучший ответ для каждой вместимости. Убывание c сохраняет ответы до текущего предмета. Возрастание c позволяет повторно взять тот же предмет.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версии с одним массивом вместимость перебирается по убыванию. Тогда значение для меньшей вместимости ещё относится к состоянию до текущего предмета. Прямой цикл может повторно использовать уже обновлённое значение. Например, один предмет веса 2 и ценности 3 при вместимости 4 должен дать 3, а прямой цикл ошибочно даст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Syllabus week 8 practice; original explanation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матриц фиксирован. Скобки меняют объём вычислений. Произведение матриц p × q и q × r стоит pqr скалярных умножений.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восстановления скобок сохраняем лучший split[i][j], затем восстанавливаем обе части. Всего O(n²) интервалов, в каждом до O(n) разбиений, поэтому время O(n³), память O(n²). Произведение размеров вычисляется в long; ограничения должны гарантировать отсутствие переполнения.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11–14; CLRS 4e, §14.2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(AB)C сначала создаёт матрицу 10 × 5. A(BC) сначала создаёт матрицу 30 × 60. Оба варианта дают результат 10 × 60.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матричной цепочке порядок матриц фиксирован. Требуется выбрать скобки, минимизирующие число скалярных умножений. Произведение матриц p×q и q×r стандартным алгоритмом требует pqr скалярных умножений. Разная расстановка скобок меняет размеры промежуточных результатов.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CLRS 4e, §14.2; original worked 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M[i][j] — минимум для матриц от i до j. Последнее умножение разделяет цепочку после k. Одна матрица не требует умножений.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Пусть A имеет размер 10×30, B — 30×5, C — 5×60. Для (AB)C стоимость равна 10·30·5+10·5·60=4500. Для A(BC) получаем 30·5·60+10·30·60=27000. В обоих случаях итоговая матрица имеет размер 10×60.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11–14; CLRS 4e, §14.2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Размеры: [40, 20, 30, 10, 30] Лучшее последнее разбиение — после матрицы 3. Оптимальный вариант: ((A1(A2A3))A4).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M[i][j] — минимальная стоимость произведения матриц от i до j. Если последнее умножение разделяет цепочку после k, его стоимость равна M[i][k]+M[k+1][j]+p[i−1]·p[k]·p[j]. Перебираем все i≤k&lt;j. Для одной матрицы M[i][i]=0.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 14; computed intermediate states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len растёт от 2 до n. Каждый кандидат использует два меньших интервала. 1L переводит произведение размеров в long.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Интервалы вычисляются по возрастанию длины. Для размеров [40,20,30,10,30] стоимости интервалов длины 2 равны 24000, 6000 и 9000. Затем M[1][3]=14000 и M[2][4]=12000. Для всей цепочки три кандидата дают 36000, 69000 и 26000. Лучшее последнее разбиение — k=3, скобки: ((A1(A2A3))A4).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CLRS 4e, §14.2; original Java excerpt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Разрез стоит длину текущего отрезка. Добавляем концы и сортируем позиции разрезов. Интервал без внутренних разрезов имеет стоимость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восстановления скобок сохраняем лучший split[i][j], затем восстанавливаем обе части. Всего O(n²) интервалов, в каждом до O(n) разбиений, поэтому время O(n³), память O(n²). Произведение размеров вычисляется в long; ограничения должны гарантировать отсутствие переполнения.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 12; original worked 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каждой вершины есть вес. Выбранная вершина исключает непосредственных соседей. Нужно максимизировать сумму весов.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Взвешенное независимое множество дерева — набор вершин, в котором никакое ребро не соединяет две выбранные вершины. Максимизируется сумма весов. В интерпретации праздника компании сотрудник и его непосредственный руководитель не могут присутствовать одновременно. При этом руководитель и сотрудник через один уровень могут быть выбраны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15–18; CLRS 4e, problem 14-6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take[u] включает u и исключает каждого ребёнка. skip[u] исключает u и разрешает выбор каждому ребёнку. Детей вычисляем раньше родителя.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Укореним дерево в вершине 0. Для каждой вершины храним два состояния: take[u] — лучший вес в её поддереве при обязательном выборе u; skip[u] — лучший вес при исключении u. Одного безусловного максимума недостаточно: родителю нужно знать, выбрана ли вершина-ребёнок.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15–18; CLRS 4e, problem 14-6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Вершина 1: take = 3, skip = 6 + 1 = 7. Корень 0: take = 5 + 7 + 0 = 12. Корень 0: skip = 7 + 4 = 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выборе u все дети исключаются, поэтому take[u]=w[u]+Σskip[v]. При исключении u каждому ребёнку разрешается выбрать лучшее состояние: skip[u]=Σmax(take[v],skip[v]). Для листа take[u]=w[u], skip[u]=0. Детей обрабатываем раньше родителя.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15–18; computed original 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родитель выбран, текущую вершину пропускаем. Иначе выбираем лучшее состояние текущей вершины. Проверяем каждое ребро и сумму выбранных весов.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рёбер 0–1, 0–2, 1–3, 1–4 и весов [5,3,4,6,1] у листьев получаем пары (4,0), (6,0), (1,0). В вершине 1: take=3, skip=7. В корне: take=5+7+0=12, skip=7+4=11. Оптимальный ответ равен 12, выбранные вершины — {0,3,4}.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CLRS 4e, problem 14-6; original reconstruction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строим parent[] и порядок обхода. Обратный порядок ставит каждого ребёнка раньше родителя. Итеративный обход избегает глубокого стека вызовов.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 восстановлении выбранный родитель запрещает выбор ребёнка. Если родитель не выбран, сравниваем take и skip. Затем проверяем допустимость по каждому ребру и сумму весов. Если пустое множество разрешено и все веса отрицательны, ответ равен 0. Время и память алгоритма — O(n). На произвольный граф с дополнительными рёбрами эта формула не переносится.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16–18; original Java excerpt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 должен охватывать все допустимые решения. Индукция следует порядку зависимостей. Отдельно считаем состояния и работу переходов.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палки длины 10 требуется выполнить разрезы в позициях 4 и 7. Стоимость каждого разреза равна длине разрезаемого в этот момент сегмента. Если сначала разрезать в 4, суммарная стоимость равна 10+6=16. Если сначала разрезать в 7, стоимость равна 10+7=17.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19–22; CLRS 4e, chapter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НВП: пустой ввод, равные значения, убывание. НОП: пустые префиксы, нет совпадений, повтор символов. Интервалы: одна матрица. Деревья: одна вершина и отрицательные веса.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Добавим концы к отсортированным позициям разрезов: x=[0,4,7,10]. C[l][r] — минимальная стоимость всех разрезов строго внутри сегмента с концами x[l],x[r]. Для соседних индексов C[l][l+1]=0. Иначе перебираем первый разрез k: C[l][r]=min(C[l][k]+C[k][r]+x[r]−x[l]). Интервалы вычисляем по возрастанию длины.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Lecture 8, slides 20–22; original test guidance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Какую информацию хранит состояние? Какие решения перебирает переход? Как восстановить оптимальное решение?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каждого алгоритма полезно проверить пустой или минимальный вход, повторяющиеся значения и случай с несколькими оптимальными ответами. Восстановленный объект проверяется отдельно: он должен быть допустимым и иметь заявленное оптимальное значение.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CLRS 4e, chapter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CLRS, глава 14: динамическое программирование. НОП/НВП, цепочки матриц и независимые множества. Повторение: состояние, переход, база и порядок.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палки длины 10 требуется выполнить разрезы в позициях 4 и 7. Стоимость каждого разреза равна длине разрезаемого в этот момент сегмента. Если сначала разрезать в 4, суммарная стоимость равна 10+6=16. Если сначала разрезать в 7, стоимость равна 10+7=17.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https://ocw.mit.edu/courses/6-006-introduction-to-algorithms-spring-2020/resources/lecture-16-dynamic-programming-part-2-lcs-lis-coins/; https://www.youtube.com/watch?v=KLBCUx1is2c; https://www.youtube.com/watch?v=_WncuhSJZyA; https://www.youtube.com/watch?v=-yiKNcjcK0Y; https://www.youtube.com/watch?v=bKrRqJID_Dw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854fdfdee4a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996b676184b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031e6c9b840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e6ee5007540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3d5e4e0d043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ac199d42c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76C9B6-5827-41F0-B0F3-6AD786562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599467-4198-49D7-BD28-A1859985A4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B6829B-91E7-4FAF-8E28-DA3C9029B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6D4FA1-4C2C-436B-85C4-0F285C1EB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DAAA71-74AC-4EE7-B752-78CCC45368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34F396-2A77-4286-B46A-1E1B134BB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A6092C-37FE-422C-BDDF-1F042C53C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775108-E818-4345-AA11-CD774C480D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886908-67AF-4BA6-8B4F-0E7E1E8B2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8751B9-EE01-4FD5-B076-2E8CC96BE7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1f9637af0e4ec5" /><Relationship Type="http://schemas.openxmlformats.org/officeDocument/2006/relationships/slideLayout" Target="/ppt/slideLayouts/slideLayout1.xml" Id="R6a807ee717f242b0" /><Relationship Type="http://schemas.openxmlformats.org/officeDocument/2006/relationships/slideLayout" Target="/ppt/slideLayouts/slideLayout2.xml" Id="Rcf5406b30c66408c" /><Relationship Type="http://schemas.openxmlformats.org/officeDocument/2006/relationships/slideLayout" Target="/ppt/slideLayouts/slideLayout3.xml" Id="R9a25ad6b7f294a4f" /><Relationship Type="http://schemas.openxmlformats.org/officeDocument/2006/relationships/slideLayout" Target="/ppt/slideLayouts/slideLayout4.xml" Id="Raff17c726c76425c" /><Relationship Type="http://schemas.openxmlformats.org/officeDocument/2006/relationships/slideLayout" Target="/ppt/slideLayouts/slideLayout5.xml" Id="R752bad6ff985429f" /><Relationship Type="http://schemas.openxmlformats.org/officeDocument/2006/relationships/slideLayout" Target="/ppt/slideLayouts/slideLayout6.xml" Id="Rc97c9814478441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807ee717f242b0"/>
    <p:sldLayoutId xmlns:r="http://schemas.openxmlformats.org/officeDocument/2006/relationships" id="2147483650" r:id="Rcf5406b30c66408c"/>
    <p:sldLayoutId xmlns:r="http://schemas.openxmlformats.org/officeDocument/2006/relationships" id="2147483651" r:id="R9a25ad6b7f294a4f"/>
    <p:sldLayoutId xmlns:r="http://schemas.openxmlformats.org/officeDocument/2006/relationships" id="2147483652" r:id="Raff17c726c76425c"/>
    <p:sldLayoutId xmlns:r="http://schemas.openxmlformats.org/officeDocument/2006/relationships" id="2147483653" r:id="R752bad6ff985429f"/>
    <p:sldLayoutId xmlns:r="http://schemas.openxmlformats.org/officeDocument/2006/relationships" id="2147483654" r:id="Rc97c98144784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f269936044ae0" /><Relationship Type="http://schemas.openxmlformats.org/officeDocument/2006/relationships/notesSlide" Target="/ppt/notesSlides/notesSlide1.xml" Id="R1ec2653a188749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67938313840d4" /><Relationship Type="http://schemas.openxmlformats.org/officeDocument/2006/relationships/notesSlide" Target="/ppt/notesSlides/notesSlide2.xml" Id="R7b2a75e7e915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d93f49c8248ff" /><Relationship Type="http://schemas.openxmlformats.org/officeDocument/2006/relationships/notesSlide" Target="/ppt/notesSlides/notesSlide3.xml" Id="Rd696815c6f2748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f287bb5ce4aa9" /><Relationship Type="http://schemas.openxmlformats.org/officeDocument/2006/relationships/notesSlide" Target="/ppt/notesSlides/notesSlide4.xml" Id="R9ca97deee73749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667b1c0cf4820" /><Relationship Type="http://schemas.openxmlformats.org/officeDocument/2006/relationships/notesSlide" Target="/ppt/notesSlides/notesSlide5.xml" Id="Rea051f2ff9c144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e7f3991eb4db4" /><Relationship Type="http://schemas.openxmlformats.org/officeDocument/2006/relationships/notesSlide" Target="/ppt/notesSlides/notesSlide6.xml" Id="R46b93fccbb1941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d950ec7024002" /><Relationship Type="http://schemas.openxmlformats.org/officeDocument/2006/relationships/notesSlide" Target="/ppt/notesSlides/notesSlide7.xml" Id="R06b01f118b5047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7fa04d9f84d38" /><Relationship Type="http://schemas.openxmlformats.org/officeDocument/2006/relationships/notesSlide" Target="/ppt/notesSlides/notesSlide8.xml" Id="R7dfa42c9649645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4c2d885f04bbd" /><Relationship Type="http://schemas.openxmlformats.org/officeDocument/2006/relationships/notesSlide" Target="/ppt/notesSlides/notesSlide9.xml" Id="Rcf741799918049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5488254b443a3" /><Relationship Type="http://schemas.openxmlformats.org/officeDocument/2006/relationships/notesSlide" Target="/ppt/notesSlides/notesSlide10.xml" Id="R4e3eb4cec71545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77fb1d6cf4cbd" /><Relationship Type="http://schemas.openxmlformats.org/officeDocument/2006/relationships/notesSlide" Target="/ppt/notesSlides/notesSlide11.xml" Id="R51b3caa083eb44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a88bed0f94e55" /><Relationship Type="http://schemas.openxmlformats.org/officeDocument/2006/relationships/notesSlide" Target="/ppt/notesSlides/notesSlide12.xml" Id="Rab3fd479cfc949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4d3d25f1a4c82" /><Relationship Type="http://schemas.openxmlformats.org/officeDocument/2006/relationships/notesSlide" Target="/ppt/notesSlides/notesSlide13.xml" Id="R371ae27e2c714c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cc15961d241ae" /><Relationship Type="http://schemas.openxmlformats.org/officeDocument/2006/relationships/notesSlide" Target="/ppt/notesSlides/notesSlide14.xml" Id="Refd2a6174045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4013a9ae04ae1" /><Relationship Type="http://schemas.openxmlformats.org/officeDocument/2006/relationships/notesSlide" Target="/ppt/notesSlides/notesSlide15.xml" Id="Rbea21ef34d5f4f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09556315048a0" /><Relationship Type="http://schemas.openxmlformats.org/officeDocument/2006/relationships/notesSlide" Target="/ppt/notesSlides/notesSlide16.xml" Id="R998a54cac57947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c8aba0dfa4679" /><Relationship Type="http://schemas.openxmlformats.org/officeDocument/2006/relationships/notesSlide" Target="/ppt/notesSlides/notesSlide17.xml" Id="R42125f743c9548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a8352f4c14897" /><Relationship Type="http://schemas.openxmlformats.org/officeDocument/2006/relationships/notesSlide" Target="/ppt/notesSlides/notesSlide18.xml" Id="R4ab81744ef3849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a88f286ee492b" /><Relationship Type="http://schemas.openxmlformats.org/officeDocument/2006/relationships/notesSlide" Target="/ppt/notesSlides/notesSlide19.xml" Id="R6b8532ced4c14c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bc45d415a4857" /><Relationship Type="http://schemas.openxmlformats.org/officeDocument/2006/relationships/notesSlide" Target="/ppt/notesSlides/notesSlide20.xml" Id="R0a0d9566525640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96c14c0884fa6" /><Relationship Type="http://schemas.openxmlformats.org/officeDocument/2006/relationships/notesSlide" Target="/ppt/notesSlides/notesSlide21.xml" Id="Rcae8b14f8fc346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8ad70bdfe4282" /><Relationship Type="http://schemas.openxmlformats.org/officeDocument/2006/relationships/notesSlide" Target="/ppt/notesSlides/notesSlide22.xml" Id="R7a32beba276b4b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a0d61d6614c3f" /><Relationship Type="http://schemas.openxmlformats.org/officeDocument/2006/relationships/notesSlide" Target="/ppt/notesSlides/notesSlide23.xml" Id="R129b59031c7c41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09b7898ce408d" /><Relationship Type="http://schemas.openxmlformats.org/officeDocument/2006/relationships/notesSlide" Target="/ppt/notesSlides/notesSlide24.xml" Id="R60938ec2cf5b455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01bcf13584eb7" /><Relationship Type="http://schemas.openxmlformats.org/officeDocument/2006/relationships/notesSlide" Target="/ppt/notesSlides/notesSlide25.xml" Id="Rfcbf1d380b7e40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3233169fb43fa" /><Relationship Type="http://schemas.openxmlformats.org/officeDocument/2006/relationships/notesSlide" Target="/ppt/notesSlides/notesSlide26.xml" Id="Reaed52df6030406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cce4c67a14395" /><Relationship Type="http://schemas.openxmlformats.org/officeDocument/2006/relationships/notesSlide" Target="/ppt/notesSlides/notesSlide27.xml" Id="Rac3519f3a41046a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a45983b5345b3" /><Relationship Type="http://schemas.openxmlformats.org/officeDocument/2006/relationships/notesSlide" Target="/ppt/notesSlides/notesSlide28.xml" Id="Rd6e7f63d9521469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e471d8b6e45a2" /><Relationship Type="http://schemas.openxmlformats.org/officeDocument/2006/relationships/notesSlide" Target="/ppt/notesSlides/notesSlide29.xml" Id="R55d9b829249946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330b6ca7746b6" /><Relationship Type="http://schemas.openxmlformats.org/officeDocument/2006/relationships/notesSlide" Target="/ppt/notesSlides/notesSlide30.xml" Id="Rad33cd4f55ac412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7335d6eac4a54" /><Relationship Type="http://schemas.openxmlformats.org/officeDocument/2006/relationships/notesSlide" Target="/ppt/notesSlides/notesSlide31.xml" Id="R914dd67728ff4d1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0159e8b83041c2" /><Relationship Type="http://schemas.openxmlformats.org/officeDocument/2006/relationships/notesSlide" Target="/ppt/notesSlides/notesSlide32.xml" Id="R4d0edd95110643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89af9ff2848dc" /><Relationship Type="http://schemas.openxmlformats.org/officeDocument/2006/relationships/notesSlide" Target="/ppt/notesSlides/notesSlide33.xml" Id="R8ca01c2deb1e46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063d0c6634681" /><Relationship Type="http://schemas.openxmlformats.org/officeDocument/2006/relationships/hyperlink" Target="https://www.youtube.com/watch?v=KLBCUx1is2c" TargetMode="External" Id="Racc6065df69047eb" /><Relationship Type="http://schemas.openxmlformats.org/officeDocument/2006/relationships/hyperlink" Target="https://www.youtube.com/watch?v=_WncuhSJZyA" TargetMode="External" Id="R0fe49e00036e4632" /><Relationship Type="http://schemas.openxmlformats.org/officeDocument/2006/relationships/hyperlink" Target="https://www.youtube.com/watch?v=-yiKNcjcK0Y" TargetMode="External" Id="Reb07863acf79418d" /><Relationship Type="http://schemas.openxmlformats.org/officeDocument/2006/relationships/hyperlink" Target="https://www.youtube.com/watch?v=bKrRqJID_Dw" TargetMode="External" Id="R72f0516053aa479d" /><Relationship Type="http://schemas.openxmlformats.org/officeDocument/2006/relationships/notesSlide" Target="/ppt/notesSlides/notesSlide34.xml" Id="Rd608945bbcbb4e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375F6-5995-4EF8-86E5-FCD6ABD8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2C9D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C9DB"/>
                </a:solidFill>
                <a:latin typeface="Arial"/>
                <a:ea typeface="Arial"/>
                <a:cs typeface="Arial"/>
              </a:rPr>
              <a:t>НЕДЕЛЯ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9DE8E-91AD-4A4F-8CE8-1AA6B9A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Паттерны динамического программирования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1239E-39CB-45C8-9859-42995484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Подпоследовательности, разбиение и деревья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DF100-7FBA-45CF-BB1D-01B33839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4DF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4DFEA"/>
                </a:solidFill>
                <a:latin typeface="Arial"/>
                <a:ea typeface="Arial"/>
                <a:cs typeface="Arial"/>
              </a:rPr>
              <a:t>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714151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3C7AA-E357-41D1-A312-F05CCC96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68D6A-1104-4B40-A73C-2DAAD30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Результаты обучения и чтение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0AB8C-DC8B-4FCB-AD6C-312CB597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У каждого состояния есть точный смысл.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E344C-A4DE-40CB-BC08-39A0DEB9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Переход учитывает все допустимые последние решения.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7F664-A09E-48FB-BD2D-0BB7414E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Порядок вычисления обеспечивает готовность зависимостей.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EF07D-0750-4296-9737-C45B2B2D8448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Что читать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CLRS §14.2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Цепочки матриц, с. 373–381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CLRS §14.3–14.4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Основы DP и НОП, с. 382–399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CLRS, задача 14-6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Праздник компании, с. 411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4845B-676F-4103-8D88-C7111AF8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C933-86C3-4D4B-900F-68B7837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02 / 34</a:t>
            </a:r>
          </a:p>
        </p:txBody>
      </p:sp>
    </p:spTree>
    <p:extLst>
      <p:ext uri="{BB962C8B-B14F-4D97-AF65-F5344CB8AC3E}">
        <p14:creationId xmlns:p14="http://schemas.microsoft.com/office/powerpoint/2010/main" val="536976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EE0B6-F159-4A66-B2D2-EB1A71D6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D023F-F6E5-4F17-9DAD-CA3ED5B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Зачем сохранять ответы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53D00-23FA-4078-ADC1-96EFCA6C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Оптимальная подструктура: меньшие оптимальные ответы дают больший.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7AF61-E1F8-46AA-8539-28F91585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Перекрытие: разные решения обращаются к одной подзадаче.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7FCEA-E63E-4D79-BCA3-2C3B1DB8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Состояние сохраняет всю информацию для следующих решений.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C1456-0A74-4912-B40B-247B5F41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CBE09-730C-4759-A77B-D85C1E8A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03 / 34</a:t>
            </a:r>
          </a:p>
        </p:txBody>
      </p:sp>
    </p:spTree>
    <p:extLst>
      <p:ext uri="{BB962C8B-B14F-4D97-AF65-F5344CB8AC3E}">
        <p14:creationId xmlns:p14="http://schemas.microsoft.com/office/powerpoint/2010/main" val="290162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1EFCF-3F98-425B-B306-1FB0CB4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A6D08-2337-4175-A3AB-2FF346C0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Fibonacci: повторяющиеся подзадачи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1AE7D-0164-4126-94DE-100454EC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F(5) запрашивает F(4) и F(3).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6A8F9-4B9B-45F8-B163-8DBAFB08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F(4) снова запрашивает F(3).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E3CBA-2584-4641-B6B6-96104AFF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F(k) = F(k−1) + F(k−2), база: F(0) = 0, F(1) = 1.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83C4B-A968-495C-8424-B06630F64802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7543"/>
                <a:gridCol w="1567543"/>
                <a:gridCol w="1567543"/>
                <a:gridCol w="1567543"/>
                <a:gridCol w="1567543"/>
                <a:gridCol w="1567543"/>
                <a:gridCol w="1567543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F(k)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6F3B2-3FD0-4B03-98E0-E1243136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F8675-88A5-48A3-AC16-CE4DFB48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04 / 34</a:t>
            </a:r>
          </a:p>
        </p:txBody>
      </p:sp>
    </p:spTree>
    <p:extLst>
      <p:ext uri="{BB962C8B-B14F-4D97-AF65-F5344CB8AC3E}">
        <p14:creationId xmlns:p14="http://schemas.microsoft.com/office/powerpoint/2010/main" val="408998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70BD0-C37B-4F1E-9357-FEDB02AF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16CB0-42AE-43AA-93EF-4B09D3A8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Мемоизация и табуляция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BA458-AD75-4364-B8AA-27AF7885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Мемоизация считает состояния по запросу рекурсии.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5F0E5-6E38-4E4E-ACA4-ED867AD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Табуляция следует явному порядку зависимостей.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D061B-1BAB-4098-9635-AA29412B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Быстродействие зависит от посещённых состояний и реализации.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8977D-819D-4CC0-825A-6986EF084891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137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095750"/>
                <a:gridCol w="3067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Вычисление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Что учесть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Мемоизация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 запросу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Метка посещения и глубина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Табуляция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В выбранном порядке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Зависимости и лишние состояния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BB20C-3DAD-4FA3-9C1F-9E9E8735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A5AC6-9C44-4976-8FFF-B3769EB9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05 / 34</a:t>
            </a:r>
          </a:p>
        </p:txBody>
      </p:sp>
    </p:spTree>
    <p:extLst>
      <p:ext uri="{BB962C8B-B14F-4D97-AF65-F5344CB8AC3E}">
        <p14:creationId xmlns:p14="http://schemas.microsoft.com/office/powerpoint/2010/main" val="1809646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175E1-05C7-4CB0-A351-0552E68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5003B-AA50-4975-BD73-B400EC6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Полное описание DP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4BEF2-F51D-48A5-A09B-E6743C34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Состояние / переход / базовые случаи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02D49-AE0D-4475-9A05-753170D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Порядок / итоговый ответ / восстановление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86F20-6669-4FD8-9F17-BA027FC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Корректность / время / память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49811-238F-4100-9461-A5B2BD77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C2D96-6D39-4F26-8D4C-4680F94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06 / 34</a:t>
            </a:r>
          </a:p>
        </p:txBody>
      </p:sp>
    </p:spTree>
    <p:extLst>
      <p:ext uri="{BB962C8B-B14F-4D97-AF65-F5344CB8AC3E}">
        <p14:creationId xmlns:p14="http://schemas.microsoft.com/office/powerpoint/2010/main" val="1898045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A9C45-FE3D-49CF-AD61-DDC3058A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3435C-D8ED-4A10-9968-64A0F3DB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Три формы подзадач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FF22B-F528-48D8-8622-DC006498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Состояние последовательности задаёт позицию или префиксы.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B7558-25A1-419C-99F3-57F9858C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Интервальное состояние задаёт непрерывный диапазон.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C2678-59AF-449F-881D-BB8C353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Состояние дерева задаёт поддерево и решение на его границе.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522F4-5A8B-4FBF-AE60-329987BDA383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095750"/>
                <a:gridCol w="3067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Паттерн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Состояние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Порядок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Подпоследовательность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Конечный индекс / пара префиксов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Рост индексов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Разбиение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Интервал [i, j]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Рост длины интервала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Дерево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Поддерево + выбор корня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Дети раньше родителя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F518E-27A5-450F-A89A-626C4A7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7E860-B576-4371-86D2-5657D59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07 / 34</a:t>
            </a:r>
          </a:p>
        </p:txBody>
      </p:sp>
    </p:spTree>
    <p:extLst>
      <p:ext uri="{BB962C8B-B14F-4D97-AF65-F5344CB8AC3E}">
        <p14:creationId xmlns:p14="http://schemas.microsoft.com/office/powerpoint/2010/main" val="453829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E8BC7-802E-46E2-9D08-3AC6841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46563-A849-4A6D-B0B4-E3DF945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Подпоследовательность и подстрока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A8C1D-570A-4C5B-9154-3086C93A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Подпоследовательность сохраняет порядок, пропуски допустимы.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8629F-4C49-42F5-B26B-026A75CB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Подстрока занимает последовательные позиции.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FDF68-E088-4E85-9292-C73EBE57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В ABCDE строка ACE является подпоследовательностью.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C7009-9C07-44D5-B182-067ED92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ABCDE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ACE: позиции 1, 3, 5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CD: позиции 3,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A2875-8C75-4FE9-B576-B34D4089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B37CD-0FCA-4AC0-814C-E3CE1C6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08 / 34</a:t>
            </a:r>
          </a:p>
        </p:txBody>
      </p:sp>
    </p:spTree>
    <p:extLst>
      <p:ext uri="{BB962C8B-B14F-4D97-AF65-F5344CB8AC3E}">
        <p14:creationId xmlns:p14="http://schemas.microsoft.com/office/powerpoint/2010/main" val="17690019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83BB6-F774-4AC1-8453-A84AB9D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E4F83-0644-4F84-B5EF-841FB16B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Наибольшая возрастающая подпоследовательность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C445C-0FCB-4369-B7C0-14AB6E1E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dp[i] — длина НВП, заканчивающейся именно в 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DCCD1-1F12-4CFA-BA72-77C74CA2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Предшественник j удовлетворяет j &lt; i и a[j] &lt; a[i].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B00EB-7502-4409-8E05-43C05722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Каждый элемент начинает подпоследовательность длины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414B9-7909-4A48-A70D-0E60A2C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dp[i] = max({1} ∪ {dp[j] + 1 : j &lt; i, a[j] &lt; a[i]})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D718E-8167-4332-B635-2ABB3574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E8B1-3E18-46E6-871D-113A73BC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09 / 34</a:t>
            </a:r>
          </a:p>
        </p:txBody>
      </p:sp>
    </p:spTree>
    <p:extLst>
      <p:ext uri="{BB962C8B-B14F-4D97-AF65-F5344CB8AC3E}">
        <p14:creationId xmlns:p14="http://schemas.microsoft.com/office/powerpoint/2010/main" val="1509987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A1C31-0DBD-4885-909C-762115B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73F8C-4C0F-4E09-85F4-7AA44385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НВП: полный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3C30B-960D-4986-A28C-9EDBA59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У значения 2 продолжаем подпоследовательность [1].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1AAA3-EE55-4938-B1E4-DA15D07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У значения 4 продолжаем [1, 2].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E4AD2-FC54-4A45-AA3D-C1CF271F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Длина 3: [1, 2, 5] или [1, 2, 4].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99F49-3C34-42CD-9B57-807215E51B30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a[i]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dp[i]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parent[i]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395B0-F06B-4A86-B352-997CA233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28EEE-9631-48CE-8BCE-DAE7EE6C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10 / 34</a:t>
            </a:r>
          </a:p>
        </p:txBody>
      </p:sp>
    </p:spTree>
    <p:extLst>
      <p:ext uri="{BB962C8B-B14F-4D97-AF65-F5344CB8AC3E}">
        <p14:creationId xmlns:p14="http://schemas.microsoft.com/office/powerpoint/2010/main" val="9267410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094AF-C546-4DDD-8975-A0B96DF6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D2BB-BD62-4009-A162-9A4EE41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Восстановление НВП на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97537-0F03-4A18-8F32-085A191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Индекс parent хранит выбор, улучшивший dp[i].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21940-FAB5-4732-AEFC-65FF78F7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Начинаем с индекса максимального dp.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F617B-43D5-4BB9-9F0D-87D68650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Идём по parent и разворачиваем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5274C-04C5-42FD-910D-4AFD2DE3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Arrays.fill(dp, 1);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Arrays.fill(parent, -1);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for (int i = 0; i &lt; n; i++)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for (int j = 0; j &lt; i; j++)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if (a[j] &lt; a[i] &amp;&amp; dp[j] + 1 &gt; dp[i]) {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  dp[i] = dp[j] + 1;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  parent[i] = j;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84649-1706-4140-8015-3E477427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63F78-085F-497B-886B-F989512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11 / 34</a:t>
            </a:r>
          </a:p>
        </p:txBody>
      </p:sp>
    </p:spTree>
    <p:extLst>
      <p:ext uri="{BB962C8B-B14F-4D97-AF65-F5344CB8AC3E}">
        <p14:creationId xmlns:p14="http://schemas.microsoft.com/office/powerpoint/2010/main" val="4072688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DD811-DA6C-4187-9D9D-FC86B07A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E928A-D983-4E17-A3AD-0CB92A5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НОП: состояние из двух префиксов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7DD04-E0F1-4A70-B6A2-C6B32F5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A = ABCDE, B = 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A829E-4D5D-4532-9C0D-39DC4D43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L[i][j] — длина НОП префиксов A[0..i) и B[0..j).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CAB01-8DB1-4C80-B1BD-D9E2A17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Префикс длины 0 пуст.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2038A-80EB-4965-A886-95E464D7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L[0][j] = 0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L[i][0] = 0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Ответ = L[n][m]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0F2F7-67F7-4ECD-8342-C1BB07CB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C5D0E-EF96-4604-A1DA-E3C654C4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12 / 34</a:t>
            </a:r>
          </a:p>
        </p:txBody>
      </p:sp>
    </p:spTree>
    <p:extLst>
      <p:ext uri="{BB962C8B-B14F-4D97-AF65-F5344CB8AC3E}">
        <p14:creationId xmlns:p14="http://schemas.microsoft.com/office/powerpoint/2010/main" val="316204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4C424-4F96-45CA-91EE-C1BDADD0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D77EF-4F0B-4464-ABDA-F6875E3D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Переход для НОП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F9FE0-A652-42E5-ADE6-5C4ADA1C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Совпавшие последние символы продолжают меньшую НОП.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47BC6-5F73-465E-8282-C0FFEE3C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При несовпадении пропускаем символ одной из строк.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090EB-E9DA-4ECE-800C-6607BE8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Каждая зависимость использует более короткий префикс.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9235F-872E-4F69-83AE-A880C554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A[i−1] = B[j−1]:  L[i][j] = 1 + L[i−1][j−1]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Иначе:  L[i][j] = max(L[i−1][j], L[i][j−1])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7FB87-312E-4D97-8DEE-7EBEA5D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22CD1-07A1-4A0B-9604-A99E702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13 / 34</a:t>
            </a:r>
          </a:p>
        </p:txBody>
      </p:sp>
    </p:spTree>
    <p:extLst>
      <p:ext uri="{BB962C8B-B14F-4D97-AF65-F5344CB8AC3E}">
        <p14:creationId xmlns:p14="http://schemas.microsoft.com/office/powerpoint/2010/main" val="20386915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BA0FE-7EF6-472E-951A-B109FE7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1CB72-C538-44CC-9B58-C26D0796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Таблица НОП для ABCDE и 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2135C-12DE-4B23-AFDF-8FA410E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Строки — префиксы ABCDE.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B3464-12E1-4BED-AC6D-ACBE14E1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Столбцы — префиксы 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7E261-CC0D-4B2E-AF79-013B2537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В клетке (C, C) диагональное значение 1 превращается в 2.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B48F7-1BC2-4EA4-9B1E-40BCBA4C6205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2182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A \ 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63BB2-9E19-4FB6-BEBD-D79D4278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49E50-B522-42A4-8D1F-6273C009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14 / 34</a:t>
            </a:r>
          </a:p>
        </p:txBody>
      </p:sp>
    </p:spTree>
    <p:extLst>
      <p:ext uri="{BB962C8B-B14F-4D97-AF65-F5344CB8AC3E}">
        <p14:creationId xmlns:p14="http://schemas.microsoft.com/office/powerpoint/2010/main" val="12880295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54246-DD17-4953-80EC-C52DA7A3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F6B9D-5688-482A-8976-114BF67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Обратный проход по НОП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5FE52-C5E3-464A-ABA1-35BC022A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Совпадение даёт диагональный шаг и символ ответа.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CF5AE-A953-457A-BDB2-0CF1C4F2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При несовпадении выбираем соседа с оптимальным значением.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6500A-1B2B-4314-8439-78826ECF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При равенстве возможны разные правильные НОП.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C080B-6909-445E-96DA-CB5AB1A1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(5, 3): E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(3, 2): C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(1, 1): A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Разворот ECA = 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CA55A-A513-4E84-BD33-DDDAE726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BEC25-7749-41C4-89CC-33275FEC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15 / 34</a:t>
            </a:r>
          </a:p>
        </p:txBody>
      </p:sp>
    </p:spTree>
    <p:extLst>
      <p:ext uri="{BB962C8B-B14F-4D97-AF65-F5344CB8AC3E}">
        <p14:creationId xmlns:p14="http://schemas.microsoft.com/office/powerpoint/2010/main" val="17380433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2F8CD-3471-4B5D-AB0B-6734B489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5DB79-050C-451D-98C7-E5ECFA24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Реализация НОП на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9168-56B4-4740-BA42-2FCC3AEB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int[][] L содержит (n + 1) × (m + 1) ячеек.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5F79B-8059-4155-B646-64CF0D48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Java заполняет нулём базовую строку и столбец.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CD396-3C8A-4627-B148-7FA2EAAE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Время O(nm), память таблицы O(nm).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B4B31-BB2E-463D-AEF5-DA0E7182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int[][] L = new int[n + 1][m + 1];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for (int i = 1; i &lt;= n; i++)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for (int j = 1; j &lt;= m; j++)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L[i][j] = A.charAt(i - 1) == B.charAt(j - 1)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  ? 1 + L[i - 1][j - 1]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  : Math.max(L[i - 1][j], L[i][j - 1]);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return L[n][m];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3700B-2F97-45E4-9A7D-12D618D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917BB-D572-4BF0-B1A7-B220E1A0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16 / 34</a:t>
            </a:r>
          </a:p>
        </p:txBody>
      </p:sp>
    </p:spTree>
    <p:extLst>
      <p:ext uri="{BB962C8B-B14F-4D97-AF65-F5344CB8AC3E}">
        <p14:creationId xmlns:p14="http://schemas.microsoft.com/office/powerpoint/2010/main" val="6429655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D1948-AEB9-4F75-87BA-5EA8A926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F4EC1-2A3A-472A-BF6C-F8472B64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Родственные задачи на последовательности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21092-D377-4949-9276-28006AF7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Редакционное расстояние минимизирует вставки, удаления и замены.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B914D-157B-486A-972D-AB58AB9B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Палиндромная подпоследовательность сравнивает края интервала.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6A046-ADDA-4D32-B427-EB381FA2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Похожие таблицы могут иметь разные базовые случаи.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0561A-8100-471C-A1D8-2E9518C7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Редакционное расстояние: D[i][0] = i, D[0][j] = j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Палиндром: P[i][i] = 1, P[i][j] = 0 при i &gt; 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8179E-BA9A-440C-B250-20564147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7F60B-C7C4-4ED7-B6D7-C80EB48E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17 / 34</a:t>
            </a:r>
          </a:p>
        </p:txBody>
      </p:sp>
    </p:spTree>
    <p:extLst>
      <p:ext uri="{BB962C8B-B14F-4D97-AF65-F5344CB8AC3E}">
        <p14:creationId xmlns:p14="http://schemas.microsoft.com/office/powerpoint/2010/main" val="20197945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5A787-1F34-46E1-BFE5-5A40F38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241B0-0E93-4C0E-8910-13FA6B7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Рюкзак 0/1 как связующий пример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DFA9A-17AD-4262-B9CE-93DAA84C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Каждый предмет можно взять не более одного раза.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91811-2D56-405B-A04C-B2525AC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K[i][c] использует первые i предметов и вместимость не более 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F6B18-C53C-4AF3-8021-DCCD08F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Пропускаем предмет или берём его из предыдущей строки.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C432E-1775-434F-BEA1-341794C4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K[i][c] = max(K[i−1][c], v[i−1] + K[i−1][c−w[i−1]])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Вариант take допустим только при w[i−1] ≤ 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DA67B-6120-43A4-824B-98AF98AC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15074-4A1F-47CA-9BBE-29695780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18 / 34</a:t>
            </a:r>
          </a:p>
        </p:txBody>
      </p:sp>
    </p:spTree>
    <p:extLst>
      <p:ext uri="{BB962C8B-B14F-4D97-AF65-F5344CB8AC3E}">
        <p14:creationId xmlns:p14="http://schemas.microsoft.com/office/powerpoint/2010/main" val="11178616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B669E-4856-431A-8245-B87ED8E8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066D-D9DF-4726-8D52-B0C64DC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Почему цикл рюкзака идёт вниз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40B3F-F0E5-4BB7-B61C-91D45F74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Одна строка хранит лучший ответ для каждой вместимости.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DA2BF-ACE4-48CF-8321-06FEC6F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Убывание c сохраняет ответы до текущего предмета.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CF28-137F-45C1-BF97-24946689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Возрастание c позволяет повторно взять тот же предмет.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4E54-57EF-495E-A710-90CA1C5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for (int i = 0; i &lt; n; i++)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for (int c = W; c &gt;= weight[i]; c--)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best[c] = Math.max(best[c],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  value[i] + best[c - weight[i]]);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CE28-418F-493B-9408-10577068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C7414-F6B6-497A-8647-E09FF0F1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19 / 34</a:t>
            </a:r>
          </a:p>
        </p:txBody>
      </p:sp>
    </p:spTree>
    <p:extLst>
      <p:ext uri="{BB962C8B-B14F-4D97-AF65-F5344CB8AC3E}">
        <p14:creationId xmlns:p14="http://schemas.microsoft.com/office/powerpoint/2010/main" val="5363822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5A6CA-AB3D-46EE-817D-FD4D3FD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296F7-F002-4716-8F1E-E897E34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Разбиение цепочки матриц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AC587-693E-432A-9948-B29529FF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Порядок матриц фиксирован.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972DE-A15A-41BD-AA88-94D81EE8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Скобки меняют объём вычислений.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01D96-D511-4432-AB5B-B3425D4C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Произведение матриц p × q и q × r стоит pqr скалярных умножений.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E622F-1BBF-40B4-B170-C564F89E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A: 10 × 30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B: 30 × 5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C: 5 ×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72B16-AB0E-42D2-8724-8D873E78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07BA8-89B5-4255-A883-CDC6D0BB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20 / 34</a:t>
            </a:r>
          </a:p>
        </p:txBody>
      </p:sp>
    </p:spTree>
    <p:extLst>
      <p:ext uri="{BB962C8B-B14F-4D97-AF65-F5344CB8AC3E}">
        <p14:creationId xmlns:p14="http://schemas.microsoft.com/office/powerpoint/2010/main" val="4386192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06FF9-6DE0-4D90-9D62-6EDFE7BE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4CF2C-F95E-4FB3-8FD5-161762E6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Два порядка вычислений, две стоимости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8E4DF-FB26-4DBA-BD7B-06EE23F7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(AB)C сначала создаёт матрицу 10 × 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3895-4167-4188-91CC-9011730B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A(BC) сначала создаёт матрицу 30 × 60.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169A8-62C6-45B5-B9BF-B79ACA7C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Оба варианта дают результат 10 × 60.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A19ED-B4E9-4669-9063-606E2A0BF005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137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Выражение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Первое произведение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Последнее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(AB)C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1 500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4 500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A(BC)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9 000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18 000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27 000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698A7-1389-4D64-ABD2-192A65C8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67E33-2E57-4A9B-99D8-F44183D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21 / 34</a:t>
            </a:r>
          </a:p>
        </p:txBody>
      </p:sp>
    </p:spTree>
    <p:extLst>
      <p:ext uri="{BB962C8B-B14F-4D97-AF65-F5344CB8AC3E}">
        <p14:creationId xmlns:p14="http://schemas.microsoft.com/office/powerpoint/2010/main" val="1278957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19B06-5D8A-4687-BE00-7C82965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2AB61-ACA0-4A17-9212-F1DE2765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Интервальный переход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C73DE-B118-472A-8714-3245A0F4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M[i][j] — минимум для матриц от i до j.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8A0D4-8A5B-4982-B8AB-4A50F011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Последнее умножение разделяет цепочку после 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C3C2A-D69A-400D-A78F-986E953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Одна матрица не требует умножений.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26FAF-1795-4F2A-B162-B5F526C9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M[i][i] = 0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M[i][j] = минимум по i ≤ k &lt; j: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M[i][k] + M[k+1][j] + p[i−1]·p[k]·p[j]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A27D3-6323-472E-A406-9CDCDA20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259FD-5102-4D50-82DD-9BBAC790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22 / 34</a:t>
            </a:r>
          </a:p>
        </p:txBody>
      </p:sp>
    </p:spTree>
    <p:extLst>
      <p:ext uri="{BB962C8B-B14F-4D97-AF65-F5344CB8AC3E}">
        <p14:creationId xmlns:p14="http://schemas.microsoft.com/office/powerpoint/2010/main" val="19998285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FA059-ED8D-4C15-BDCF-9947BBD1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FE23C-D080-4F7F-959B-EE3F7A19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Пример из лекции: стоимость 26 000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272F9-DBA1-4681-93A9-E96D07F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Размеры: [40, 20, 30, 10, 30]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B52F4-27E9-44B3-BD4F-6E471744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Лучшее последнее разбиение — после матрицы 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B93C9-A460-4587-A90C-47EC5276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Оптимальный вариант: ((A1(A2A3))A4).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C52D1-2390-46AB-BF70-169393E58D53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095750"/>
                <a:gridCol w="3067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Интервал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Минимум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Лучший 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[1,2] / [2,3] / [3,4]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24 000 / 6 000 / 9 000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 / 2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[1,3]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14 000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[2,4]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12 000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[1,4]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26 000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6D5FF-BF05-49D3-A494-E39986F6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88B36-9B32-451E-822E-418A6DA7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23 / 34</a:t>
            </a:r>
          </a:p>
        </p:txBody>
      </p:sp>
    </p:spTree>
    <p:extLst>
      <p:ext uri="{BB962C8B-B14F-4D97-AF65-F5344CB8AC3E}">
        <p14:creationId xmlns:p14="http://schemas.microsoft.com/office/powerpoint/2010/main" val="3618092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9BF63-A037-4BD1-8F84-DAFAC2D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4CC3C-7F97-4167-9636-91C0CE7A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Циклы матричной цепочки на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AABBD-550F-4F55-80D6-00BAE523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len растёт от 2 до 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AE518-DAAE-4A83-BE17-9653675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Каждый кандидат использует два меньших интервала.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6FEE6-02C5-4D2C-AF42-E534DB5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1L переводит произведение размеров в 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07955-71F6-40AA-86C7-06E9429A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for (int len = 2; len &lt;= n; len++)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for (int i = 1; i + len - 1 &lt;= n; i++) {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int j = i + len - 1;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M[i][j] = Long.MAX_VALUE;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for (int k = i; k &lt; j; k++)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  M[i][j] = Math.min(M[i][j],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    M[i][k] + M[k+1][j] + 1L*p[i-1]*p[k]*p[j]);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C418E-224A-4D95-934A-2FF04F72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38E60-7CEC-4135-A85A-F8D9398B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24 / 34</a:t>
            </a:r>
          </a:p>
        </p:txBody>
      </p:sp>
    </p:spTree>
    <p:extLst>
      <p:ext uri="{BB962C8B-B14F-4D97-AF65-F5344CB8AC3E}">
        <p14:creationId xmlns:p14="http://schemas.microsoft.com/office/powerpoint/2010/main" val="14824794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F32D2-36A6-4C55-A3C7-13B24CB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B17F3-6E9F-48A1-A4EE-72A59911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Другая интервальная задача: разрезание палки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3F5E5-4B78-4AB6-8939-82C6212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Разрез стоит длину текущего отрезка.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F9DE7-C6DB-41B6-8276-5A5919F8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Добавляем концы и сортируем позиции разрезов.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6D480-6185-4064-9EE0-6B7C598B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Интервал без внутренних разрезов имеет стоимость 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83A56-FC0D-4A16-8DFB-0A081C1A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C[l][r] = минимум по l &lt; k &lt; r: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C[l][k] + C[k][r] + (x[r] − x[l])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База: C[l][l+1]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500EC-0B1B-4C1C-BEB0-3333F5A2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B61EA-0B68-4225-8207-EA753209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25 / 34</a:t>
            </a:r>
          </a:p>
        </p:txBody>
      </p:sp>
    </p:spTree>
    <p:extLst>
      <p:ext uri="{BB962C8B-B14F-4D97-AF65-F5344CB8AC3E}">
        <p14:creationId xmlns:p14="http://schemas.microsoft.com/office/powerpoint/2010/main" val="15278298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1E28A-C9B1-4F6F-B24B-CBED16EF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B8884-0918-4397-8EE5-CF6D1AB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DP на дереве: выбор гостей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EBCD4-9CCA-4457-AB66-BE1ABDE5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У каждой вершины есть вес.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8A360-E8CE-417F-B4F7-FFEC9DC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Выбранная вершина исключает непосредственных соседей.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E0B7B-38CF-4AD7-9F19-5C52689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Нужно максимизировать сумму весов.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2F377-794A-4FF5-8F3D-4F3C9402B807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095750"/>
                <a:gridCol w="3067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Вершина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Вес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Дети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1, 2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3, 4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 / 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6 /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C39F8-F50C-414E-B11B-3B48119B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8ECBF-BC44-4FF2-99D7-952A5F35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26 / 34</a:t>
            </a:r>
          </a:p>
        </p:txBody>
      </p:sp>
    </p:spTree>
    <p:extLst>
      <p:ext uri="{BB962C8B-B14F-4D97-AF65-F5344CB8AC3E}">
        <p14:creationId xmlns:p14="http://schemas.microsoft.com/office/powerpoint/2010/main" val="13447883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37959-C7A6-4751-8BD6-26DB345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7D0A1-717E-41A0-BC25-D69C88F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Два состояния на вершину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1752B-8E43-47F0-9171-046EC9EF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take[u] включает u и исключает каждого ребёнка.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38B5E-737A-4A76-9E20-BD004D0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skip[u] исключает u и разрешает выбор каждому ребёнку.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78CFD-9E99-4079-8BC4-7E81AC37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Детей вычисляем раньше родителя.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6AACC-EF57-4984-9E24-0A17FA4D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take[u] = w[u] + Σ skip[v]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skip[u] = Σ max(take[v], skip[v])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v — ребёнок вершины 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4166F-DBE8-44CB-84A6-9B2D811E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6151D-106D-411D-9578-93E6EA57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27 / 34</a:t>
            </a:r>
          </a:p>
        </p:txBody>
      </p:sp>
    </p:spTree>
    <p:extLst>
      <p:ext uri="{BB962C8B-B14F-4D97-AF65-F5344CB8AC3E}">
        <p14:creationId xmlns:p14="http://schemas.microsoft.com/office/powerpoint/2010/main" val="8428609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75FB7-DA35-494B-A685-0229345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190F4-F9A8-4EA1-BB9C-A1494BE1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DP на дереве: полный расчёт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41A0A-3135-45A1-9229-96350BCA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Вершина 1: take = 3, skip = 6 + 1 = 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08923-E26A-4CF3-8973-0DB9070B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Корень 0: take = 5 + 7 + 0 = 12.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BBC31-0FD8-4799-855D-CCE014D5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Корень 0: skip = 7 + 4 = 11.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42AD3-1168-40AD-9599-876BD9D0524E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095750"/>
                <a:gridCol w="3067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take[u]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skip[u]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82940-DFA9-4134-9365-EBA13F63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67F13-7E02-47E0-B823-CB99392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28 / 34</a:t>
            </a:r>
          </a:p>
        </p:txBody>
      </p:sp>
    </p:spTree>
    <p:extLst>
      <p:ext uri="{BB962C8B-B14F-4D97-AF65-F5344CB8AC3E}">
        <p14:creationId xmlns:p14="http://schemas.microsoft.com/office/powerpoint/2010/main" val="613851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0CB21-CED0-4AAF-890C-07DF008F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4D106-57D0-4ACF-90EA-E1321977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Восстановление выбранных вершин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A168-77D7-4E30-BFC5-AF3272B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Если родитель выбран, текущую вершину пропускаем.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CA591-871E-4D46-9CFB-615F1E9A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Иначе выбираем лучшее состояние текущей вершины.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5E698-AEA9-4AEB-A943-7EDE7EA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Проверяем каждое ребро и сумму выбранных весов.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7AF9C-E0CB-4312-A381-83851757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Выбранные вершины: {0, 3, 4}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Сумма: 5 + 6 + 1 = 12</a:t>
            </a:r>
          </a:p>
          <a:p xmlns:a="http://schemas.openxmlformats.org/drawingml/2006/main">
            <a:pPr>
              <a:defRPr sz="2325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Ни одно ребро не соединяет две выбранные вершины.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522B3-D8C4-4363-8E7E-0314E42F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88C95-E7F4-491A-9924-F1CC311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29 / 34</a:t>
            </a:r>
          </a:p>
        </p:txBody>
      </p:sp>
    </p:spTree>
    <p:extLst>
      <p:ext uri="{BB962C8B-B14F-4D97-AF65-F5344CB8AC3E}">
        <p14:creationId xmlns:p14="http://schemas.microsoft.com/office/powerpoint/2010/main" val="9385244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022D7-347D-4133-B98E-9818B3A8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2CAFC-85F7-44A3-8ABE-919069A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DP на дереве в обратном порядке обхода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4F564-E8B4-402F-885A-330B57E3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Сначала строим parent[] и порядок обхода.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74DB1-195E-4C96-B12B-395D56EF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Обратный порядок ставит каждого ребёнка раньше родителя.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671E5-F035-4ECA-9E38-076F1B91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Итеративный обход избегает глубокого стека вызовов.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B5019-3DB5-41AB-8FB0-6E24234E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for (int t = order.size() - 1; t &gt;= 0; t--) {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int u = order.get(t);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take[u] = weight[u];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skip[u] = 0;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for (int v : graph[u]) if (parent[v] == u) {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take[u] += skip[v];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  skip[u] += Math.max(take[v], skip[v]);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>
              <a:def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62D42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CD9EC-13AF-400A-8346-0BA5E54B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E5544-C486-43B5-9F60-F7BFA4F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30 / 34</a:t>
            </a:r>
          </a:p>
        </p:txBody>
      </p:sp>
    </p:spTree>
    <p:extLst>
      <p:ext uri="{BB962C8B-B14F-4D97-AF65-F5344CB8AC3E}">
        <p14:creationId xmlns:p14="http://schemas.microsoft.com/office/powerpoint/2010/main" val="6784979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F2A87-A874-4FC8-B5BE-4311559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5B450-931B-4FA4-B57C-0D18376E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Корректность и сложность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25377-BE64-4313-9745-FEEC337C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Переход должен охватывать все допустимые решения.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F6E5E-6099-485D-B0D0-616673F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Индукция следует порядку зависимостей.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4E07A-8CD2-4AC1-9FBF-3FCF452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Отдельно считаем состояния и работу переходов.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4BC76-5B8E-4FEF-B4BB-1DADEC44F75F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095750"/>
                <a:gridCol w="3067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Время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Рабочая память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НВП, базовый DP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O(n²)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НОП, полная таблица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O(nm)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O(nm)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Цепочка матриц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O(n³)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O(n²)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Независимое множество дерева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O(n)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7FC7F-A77B-45AD-8391-6BF0329F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D04A5-C67D-443C-B202-50D24FE6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31 / 34</a:t>
            </a:r>
          </a:p>
        </p:txBody>
      </p:sp>
    </p:spTree>
    <p:extLst>
      <p:ext uri="{BB962C8B-B14F-4D97-AF65-F5344CB8AC3E}">
        <p14:creationId xmlns:p14="http://schemas.microsoft.com/office/powerpoint/2010/main" val="10688115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908D6-0452-4C34-B32D-9642E46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E2997-050C-45B4-B577-D22F55F4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Малые тесты обнаруживают ошибки состояния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0C30A-4BA0-4B55-9592-7F7A9FD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НВП: пустой ввод, равные значения, убывание.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72CDF-59CF-436D-855A-4FAE8019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НОП: пустые префиксы, нет совпадений, повтор символов.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960FE-57CC-46E4-8265-C6F4871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Интервалы: одна матрица. Деревья: одна вершина и отрицательные веса.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776C0-0399-498C-B841-B0F967D0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294C3-8FE2-439F-ACDC-B4DCF5B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32 / 34</a:t>
            </a:r>
          </a:p>
        </p:txBody>
      </p:sp>
    </p:spTree>
    <p:extLst>
      <p:ext uri="{BB962C8B-B14F-4D97-AF65-F5344CB8AC3E}">
        <p14:creationId xmlns:p14="http://schemas.microsoft.com/office/powerpoint/2010/main" val="4692326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EBC1F-74E8-4F35-ABF1-EF42212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15FB1-8C7E-4FAC-8F36-14E885A7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Вопросы по динамическому программированию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DCEBB-3309-46D7-AA33-50E5D858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Какую информацию хранит состояние?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12365-B520-40F7-88C0-C7F03D3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Какие решения перебирает переход?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00854-940C-48AE-B18E-0A0094F5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Как восстановить оптимальное решение?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E2346-8CBB-46EC-B748-42D731FD466B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Вопрос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НВП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Почему ответ равен max(dp)?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НОП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Почему при несовпадении берём max соседей?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Цепочка матриц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Почему короткие интервалы идут первыми?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DP дерева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Зачем вершине take и skip?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D9BB0-E8CB-44BF-A884-E0FC8C3D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849A7-7B43-453C-83FF-9C5009E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33 / 34</a:t>
            </a:r>
          </a:p>
        </p:txBody>
      </p:sp>
    </p:spTree>
    <p:extLst>
      <p:ext uri="{BB962C8B-B14F-4D97-AF65-F5344CB8AC3E}">
        <p14:creationId xmlns:p14="http://schemas.microsoft.com/office/powerpoint/2010/main" val="1531776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53F11-9A4F-4C6C-A676-E7B4B136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НЕДЕЛЯ 8  /  ДИНАМИЧЕСКОЕ ПРОГРАММИРОВАНИЕ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EC433-F1B1-4D0F-A46A-64D6C1F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42"/>
                </a:solidFill>
                <a:latin typeface="Arial"/>
                <a:ea typeface="Arial"/>
                <a:cs typeface="Arial"/>
              </a:rPr>
              <a:t>Литература и повторение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3FEC7-990A-4C79-8F4B-B94507C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CLRS, глава 14: динамическое программирование.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91250-2DF0-4F18-A5D3-F5DA7AC4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НОП/НВП, цепочки матриц и независимые множества.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5F1AC-06FE-40FF-AF32-D649864D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42"/>
                </a:solidFill>
                <a:latin typeface="Arial"/>
                <a:ea typeface="Arial"/>
                <a:cs typeface="Arial"/>
              </a:rPr>
              <a:t>Повторение: состояние, переход, база и порядок.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64BAC-C80D-47EC-A25D-8E668D61D925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Язык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Прямая ссылка YouTube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5E6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EN · MIT LCS/LIS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cc6065df69047eb"/>
                        </a:rPr>
                        <a:t>youtube.com/watch?v=KLBCUx1is2c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EN · Цепочки матриц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fe49e00036e4632"/>
                        </a:rPr>
                        <a:t>youtube.com/watch?v=_WncuhSJZyA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RU · НОП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eb07863acf79418d"/>
                        </a:rPr>
                        <a:t>youtube.com/watch?v=-yiKNcjcK0Y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</a:rPr>
                        <a:t>RU · Независимое множество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D42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72f0516053aa479d"/>
                        </a:rPr>
                        <a:t>youtube.com/watch?v=bKrRqJID_Dw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E33A4-D412-4077-BC33-640EF6D1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D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D7D"/>
                </a:solidFill>
                <a:latin typeface="Arial"/>
                <a:ea typeface="Arial"/>
                <a:cs typeface="Arial"/>
              </a:rPr>
              <a:t>Состояние, переход, база, порядок, 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2074B-B27A-42E9-9D3E-BD3488B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442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4270"/>
                </a:solidFill>
                <a:latin typeface="Arial"/>
                <a:ea typeface="Arial"/>
                <a:cs typeface="Arial"/>
              </a:rPr>
              <a:t>34 / 34</a:t>
            </a:r>
          </a:p>
        </p:txBody>
      </p:sp>
    </p:spTree>
    <p:extLst>
      <p:ext uri="{BB962C8B-B14F-4D97-AF65-F5344CB8AC3E}">
        <p14:creationId xmlns:p14="http://schemas.microsoft.com/office/powerpoint/2010/main" val="1716064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Zhaniya Rakhymbayeva</dc:creator>
  <ns0:lastModifiedBy>Zhaniya Rakhymbayeva</ns0:lastModifiedBy>
  <dc:title>Presentation</dc:title>
  <ns2:created xsi:type="dcterms:W3CDTF">2026-10-28T19:40:30.9500000Z</ns2:created>
  <ns2:modified xsi:type="dcterms:W3CDTF">2026-10-28T19:40:30.9500000Z</ns2:modified>
</ns0:coreProperties>
</file>